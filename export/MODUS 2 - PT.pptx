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15000" r="10000" t="0" b="0"/>
          <a:stretch/>
        </p:blipFill>
        <p:spPr>
          <a:xfrm>
            <a:off x="304800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191500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100000"/>
                </a:srgbClr>
              </a:gs>
              <a:gs pos="42000">
                <a:srgbClr val="000000">
                  <a:alpha val="10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Shape 1"/>
          <p:cNvSpPr/>
          <p:nvPr/>
        </p:nvSpPr>
        <p:spPr>
          <a:xfrm>
            <a:off x="904875" y="1232446"/>
            <a:ext cx="30480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Text 2"/>
          <p:cNvSpPr/>
          <p:nvPr/>
        </p:nvSpPr>
        <p:spPr>
          <a:xfrm>
            <a:off x="1343025" y="1162050"/>
            <a:ext cx="21658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CIRURGIA CRANIOMAXILOFACIAL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904875" y="1504950"/>
            <a:ext cx="6705600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605"/>
              </a:lnSpc>
              <a:buNone/>
            </a:pPr>
            <a:r>
              <a:rPr lang="en-US" sz="7200" spc="-72" kern="0" dirty="0">
                <a:solidFill>
                  <a:srgbClr val="FFFFFF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MODUS 2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904875" y="2857500"/>
            <a:ext cx="5494020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 sistema. Três indicações. Terço médio da face, mandíbula e ortognática.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904875" y="4095750"/>
            <a:ext cx="5334000" cy="952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904875" y="4343400"/>
            <a:ext cx="5494020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00"/>
              </a:lnSpc>
              <a:buNone/>
            </a:pPr>
            <a:r>
              <a:rPr lang="en-US" sz="1575" dirty="0">
                <a:solidFill>
                  <a:srgbClr val="FFFFFF">
                    <a:alpha val="6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Treinamento de produto — cirurgiões, distribuidores e força de vendas</a:t>
            </a:r>
            <a:endParaRPr lang="en-US" sz="1575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1742048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Agenda</a:t>
            </a:r>
            <a:endParaRPr lang="en-US" sz="3825" dirty="0"/>
          </a:p>
        </p:txBody>
      </p:sp>
      <p:sp>
        <p:nvSpPr>
          <p:cNvPr id="3" name="Shape 1"/>
          <p:cNvSpPr/>
          <p:nvPr/>
        </p:nvSpPr>
        <p:spPr>
          <a:xfrm>
            <a:off x="1714500" y="2028825"/>
            <a:ext cx="90487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4" name="Text 2"/>
          <p:cNvSpPr/>
          <p:nvPr/>
        </p:nvSpPr>
        <p:spPr>
          <a:xfrm>
            <a:off x="1676400" y="1428750"/>
            <a:ext cx="619125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4237"/>
              </a:lnSpc>
              <a:buNone/>
            </a:pPr>
            <a:r>
              <a:rPr lang="en-US" sz="3600" dirty="0">
                <a:solidFill>
                  <a:srgbClr val="BBD7F3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609850" y="1617315"/>
            <a:ext cx="510159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onde vem o MODUS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66838" y="1617315"/>
            <a:ext cx="3296412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1997 → 2025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14500" y="2638425"/>
            <a:ext cx="90487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8" name="Text 6"/>
          <p:cNvSpPr/>
          <p:nvPr/>
        </p:nvSpPr>
        <p:spPr>
          <a:xfrm>
            <a:off x="1676400" y="2038350"/>
            <a:ext cx="619125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4237"/>
              </a:lnSpc>
              <a:buNone/>
            </a:pPr>
            <a:r>
              <a:rPr lang="en-US" sz="3600" dirty="0">
                <a:solidFill>
                  <a:srgbClr val="BBD7F3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09850" y="2226915"/>
            <a:ext cx="510159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que mudou no MODUS 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66838" y="2226915"/>
            <a:ext cx="3296412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Conceito e tecnologias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714500" y="3248025"/>
            <a:ext cx="90487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12" name="Text 10"/>
          <p:cNvSpPr/>
          <p:nvPr/>
        </p:nvSpPr>
        <p:spPr>
          <a:xfrm>
            <a:off x="1676400" y="2647950"/>
            <a:ext cx="619125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4237"/>
              </a:lnSpc>
              <a:buNone/>
            </a:pPr>
            <a:r>
              <a:rPr lang="en-US" sz="3600" dirty="0">
                <a:solidFill>
                  <a:srgbClr val="BBD7F3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609850" y="2836515"/>
            <a:ext cx="510159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Midface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66838" y="2836515"/>
            <a:ext cx="3296412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Placas, malhas e parafusos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714500" y="3857625"/>
            <a:ext cx="90487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16" name="Text 14"/>
          <p:cNvSpPr/>
          <p:nvPr/>
        </p:nvSpPr>
        <p:spPr>
          <a:xfrm>
            <a:off x="1676400" y="3257550"/>
            <a:ext cx="619125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4237"/>
              </a:lnSpc>
              <a:buNone/>
            </a:pPr>
            <a:r>
              <a:rPr lang="en-US" sz="3600" dirty="0">
                <a:solidFill>
                  <a:srgbClr val="BBD7F3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2609850" y="3446115"/>
            <a:ext cx="510159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Mandible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466838" y="3446115"/>
            <a:ext cx="3296412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TriLock por indicação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714500" y="4467225"/>
            <a:ext cx="90487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20" name="Text 18"/>
          <p:cNvSpPr/>
          <p:nvPr/>
        </p:nvSpPr>
        <p:spPr>
          <a:xfrm>
            <a:off x="1676400" y="3867150"/>
            <a:ext cx="619125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4237"/>
              </a:lnSpc>
              <a:buNone/>
            </a:pPr>
            <a:r>
              <a:rPr lang="en-US" sz="3600" dirty="0">
                <a:solidFill>
                  <a:srgbClr val="BBD7F3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5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2609850" y="4055715"/>
            <a:ext cx="510159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Ortognática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66838" y="4055715"/>
            <a:ext cx="3296412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Placas L e Z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714500" y="5076825"/>
            <a:ext cx="90487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24" name="Text 22"/>
          <p:cNvSpPr/>
          <p:nvPr/>
        </p:nvSpPr>
        <p:spPr>
          <a:xfrm>
            <a:off x="1676400" y="4476750"/>
            <a:ext cx="619125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4237"/>
              </a:lnSpc>
              <a:buNone/>
            </a:pPr>
            <a:r>
              <a:rPr lang="en-US" sz="3600" dirty="0">
                <a:solidFill>
                  <a:srgbClr val="BBD7F3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6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2609850" y="4665315"/>
            <a:ext cx="510159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Sistemas complementares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66838" y="4665315"/>
            <a:ext cx="3296412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Chave 90° e transbucal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53901" y="6305550"/>
            <a:ext cx="2228404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Treinamento de produto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853565" y="6286500"/>
            <a:ext cx="160734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5593675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Linha do tempo MODUS</a:t>
            </a:r>
            <a:endParaRPr lang="en-US" sz="3825" dirty="0"/>
          </a:p>
        </p:txBody>
      </p:sp>
      <p:sp>
        <p:nvSpPr>
          <p:cNvPr id="3" name="Text 1"/>
          <p:cNvSpPr/>
          <p:nvPr/>
        </p:nvSpPr>
        <p:spPr>
          <a:xfrm>
            <a:off x="253901" y="914400"/>
            <a:ext cx="6082665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00"/>
              </a:lnSpc>
              <a:buNone/>
            </a:pPr>
            <a:r>
              <a:rPr lang="en-US" sz="157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Vinte e oito anos de osteossíntese craniomaxilofacial em titânio. Cada geração resolveu um problema de sala cirúrgica.</a:t>
            </a:r>
            <a:endParaRPr lang="en-US" sz="157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77" r="-77" t="0" b="0"/>
          <a:stretch/>
        </p:blipFill>
        <p:spPr>
          <a:xfrm>
            <a:off x="8699599" y="1428750"/>
            <a:ext cx="3238500" cy="4381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3901" y="1809750"/>
            <a:ext cx="762000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6" name="Shape 3"/>
          <p:cNvSpPr/>
          <p:nvPr/>
        </p:nvSpPr>
        <p:spPr>
          <a:xfrm>
            <a:off x="253901" y="2793504"/>
            <a:ext cx="76200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7" name="Text 4"/>
          <p:cNvSpPr/>
          <p:nvPr/>
        </p:nvSpPr>
        <p:spPr>
          <a:xfrm>
            <a:off x="253901" y="2171700"/>
            <a:ext cx="1123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952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1997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530251" y="2171700"/>
            <a:ext cx="6533960" cy="526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22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Fundação da Medartis AG por Thomas Straumann, Willi Miesch e Jürg Eichenberger. Compra dos direitos do sistema MODUS da Elekta.</a:t>
            </a:r>
            <a:endParaRPr lang="en-US" sz="1425" dirty="0"/>
          </a:p>
        </p:txBody>
      </p:sp>
      <p:sp>
        <p:nvSpPr>
          <p:cNvPr id="9" name="Shape 6"/>
          <p:cNvSpPr/>
          <p:nvPr/>
        </p:nvSpPr>
        <p:spPr>
          <a:xfrm>
            <a:off x="253901" y="3393579"/>
            <a:ext cx="76200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0" name="Text 7"/>
          <p:cNvSpPr/>
          <p:nvPr/>
        </p:nvSpPr>
        <p:spPr>
          <a:xfrm>
            <a:off x="253901" y="2936379"/>
            <a:ext cx="1123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952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1998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1530251" y="2936379"/>
            <a:ext cx="6978015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22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Início das operações e contratação dos primeiros funcionários.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253901" y="4158258"/>
            <a:ext cx="76200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3" name="Text 10"/>
          <p:cNvSpPr/>
          <p:nvPr/>
        </p:nvSpPr>
        <p:spPr>
          <a:xfrm>
            <a:off x="253901" y="3536454"/>
            <a:ext cx="1123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952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2001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1530251" y="3536454"/>
            <a:ext cx="6533960" cy="526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22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Lançamento do sistema MODUS em quatro versões, com implantes de titânio para cirurgia CMF.</a:t>
            </a:r>
            <a:endParaRPr lang="en-US" sz="1425" dirty="0"/>
          </a:p>
        </p:txBody>
      </p:sp>
      <p:sp>
        <p:nvSpPr>
          <p:cNvPr id="15" name="Shape 12"/>
          <p:cNvSpPr/>
          <p:nvPr/>
        </p:nvSpPr>
        <p:spPr>
          <a:xfrm>
            <a:off x="253901" y="4758333"/>
            <a:ext cx="76200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6" name="Text 13"/>
          <p:cNvSpPr/>
          <p:nvPr/>
        </p:nvSpPr>
        <p:spPr>
          <a:xfrm>
            <a:off x="253901" y="4301133"/>
            <a:ext cx="1123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952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2002</a:t>
            </a:r>
            <a:endParaRPr lang="en-US" sz="2550" dirty="0"/>
          </a:p>
        </p:txBody>
      </p:sp>
      <p:sp>
        <p:nvSpPr>
          <p:cNvPr id="17" name="Text 14"/>
          <p:cNvSpPr/>
          <p:nvPr/>
        </p:nvSpPr>
        <p:spPr>
          <a:xfrm>
            <a:off x="1530251" y="4301133"/>
            <a:ext cx="6978015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22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Primeiro congresso com a linha MODUS apresentada ao público cirúrgico.</a:t>
            </a:r>
            <a:endParaRPr lang="en-US" sz="1425" dirty="0"/>
          </a:p>
        </p:txBody>
      </p:sp>
      <p:sp>
        <p:nvSpPr>
          <p:cNvPr id="18" name="Shape 15"/>
          <p:cNvSpPr/>
          <p:nvPr/>
        </p:nvSpPr>
        <p:spPr>
          <a:xfrm>
            <a:off x="253901" y="5523012"/>
            <a:ext cx="76200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9" name="Text 16"/>
          <p:cNvSpPr/>
          <p:nvPr/>
        </p:nvSpPr>
        <p:spPr>
          <a:xfrm>
            <a:off x="253901" y="4901208"/>
            <a:ext cx="1123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952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2004</a:t>
            </a:r>
            <a:endParaRPr lang="en-US" sz="2550" dirty="0"/>
          </a:p>
        </p:txBody>
      </p:sp>
      <p:sp>
        <p:nvSpPr>
          <p:cNvPr id="20" name="Text 17"/>
          <p:cNvSpPr/>
          <p:nvPr/>
        </p:nvSpPr>
        <p:spPr>
          <a:xfrm>
            <a:off x="1530251" y="4901208"/>
            <a:ext cx="6533960" cy="526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22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Sistema RECO: o primeiro com bloqueio angular — a inovação que definiu o portfólio inicial.</a:t>
            </a:r>
            <a:endParaRPr lang="en-US" sz="1425" dirty="0"/>
          </a:p>
        </p:txBody>
      </p:sp>
      <p:sp>
        <p:nvSpPr>
          <p:cNvPr id="21" name="Shape 18"/>
          <p:cNvSpPr/>
          <p:nvPr/>
        </p:nvSpPr>
        <p:spPr>
          <a:xfrm>
            <a:off x="253901" y="6123087"/>
            <a:ext cx="76200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22" name="Text 19"/>
          <p:cNvSpPr/>
          <p:nvPr/>
        </p:nvSpPr>
        <p:spPr>
          <a:xfrm>
            <a:off x="253901" y="5665887"/>
            <a:ext cx="1123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952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2020</a:t>
            </a:r>
            <a:endParaRPr lang="en-US" sz="2550" dirty="0"/>
          </a:p>
        </p:txBody>
      </p:sp>
      <p:sp>
        <p:nvSpPr>
          <p:cNvPr id="23" name="Text 20"/>
          <p:cNvSpPr/>
          <p:nvPr/>
        </p:nvSpPr>
        <p:spPr>
          <a:xfrm>
            <a:off x="1530251" y="5665887"/>
            <a:ext cx="6978015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22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Desenvolvimento do bloqueio TriLock.</a:t>
            </a:r>
            <a:endParaRPr lang="en-US" sz="1425" dirty="0"/>
          </a:p>
        </p:txBody>
      </p:sp>
      <p:sp>
        <p:nvSpPr>
          <p:cNvPr id="24" name="Shape 21"/>
          <p:cNvSpPr/>
          <p:nvPr/>
        </p:nvSpPr>
        <p:spPr>
          <a:xfrm>
            <a:off x="253901" y="6723162"/>
            <a:ext cx="762000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25" name="Text 22"/>
          <p:cNvSpPr/>
          <p:nvPr/>
        </p:nvSpPr>
        <p:spPr>
          <a:xfrm>
            <a:off x="253901" y="6265962"/>
            <a:ext cx="1123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952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2025</a:t>
            </a:r>
            <a:endParaRPr lang="en-US" sz="2550" dirty="0"/>
          </a:p>
        </p:txBody>
      </p:sp>
      <p:sp>
        <p:nvSpPr>
          <p:cNvPr id="26" name="Text 23"/>
          <p:cNvSpPr/>
          <p:nvPr/>
        </p:nvSpPr>
        <p:spPr>
          <a:xfrm>
            <a:off x="1530251" y="6265962"/>
            <a:ext cx="6978015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22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2. Um conceito de cores, três indicações, tecnologias comprovadas.</a:t>
            </a:r>
            <a:endParaRPr lang="en-US" sz="1425" dirty="0"/>
          </a:p>
        </p:txBody>
      </p:sp>
      <p:sp>
        <p:nvSpPr>
          <p:cNvPr id="27" name="Text 24"/>
          <p:cNvSpPr/>
          <p:nvPr/>
        </p:nvSpPr>
        <p:spPr>
          <a:xfrm>
            <a:off x="253901" y="6305550"/>
            <a:ext cx="2189559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De onde vem o MODUS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1853565" y="6286500"/>
            <a:ext cx="160734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2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25035" r="16690" t="0" b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953500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100000"/>
                </a:srgbClr>
              </a:gs>
              <a:gs pos="58000">
                <a:srgbClr val="000000">
                  <a:alpha val="10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Shape 1"/>
          <p:cNvSpPr/>
          <p:nvPr/>
        </p:nvSpPr>
        <p:spPr>
          <a:xfrm>
            <a:off x="828675" y="718096"/>
            <a:ext cx="30480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Text 2"/>
          <p:cNvSpPr/>
          <p:nvPr/>
        </p:nvSpPr>
        <p:spPr>
          <a:xfrm>
            <a:off x="1266825" y="647700"/>
            <a:ext cx="9060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CAPÍTULO 02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8675" y="1009650"/>
            <a:ext cx="670560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911"/>
              </a:lnSpc>
              <a:buNone/>
            </a:pPr>
            <a:r>
              <a:rPr lang="en-US" sz="4800" spc="-48" kern="0" dirty="0">
                <a:solidFill>
                  <a:srgbClr val="FFFFFF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O que mudou?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28675" y="2381250"/>
            <a:ext cx="5494020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62"/>
              </a:lnSpc>
              <a:buNone/>
            </a:pPr>
            <a:r>
              <a:rPr lang="en-US" sz="1800" dirty="0">
                <a:solidFill>
                  <a:srgbClr val="FFFFFF">
                    <a:alpha val="7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1 resolvia por sistema. MODUS 2 resolve por indicação — com o mesmo código de cores em todas as bandejas.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853565" y="6286500"/>
            <a:ext cx="160734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5588273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MODUS 1 → MODUS 2</a:t>
            </a:r>
            <a:endParaRPr lang="en-US" sz="3825" dirty="0"/>
          </a:p>
        </p:txBody>
      </p:sp>
      <p:sp>
        <p:nvSpPr>
          <p:cNvPr id="3" name="Shape 1"/>
          <p:cNvSpPr/>
          <p:nvPr/>
        </p:nvSpPr>
        <p:spPr>
          <a:xfrm>
            <a:off x="253901" y="1238250"/>
            <a:ext cx="116776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4" name="Text 2"/>
          <p:cNvSpPr/>
          <p:nvPr/>
        </p:nvSpPr>
        <p:spPr>
          <a:xfrm>
            <a:off x="253901" y="1524000"/>
            <a:ext cx="5817775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3901" y="1903065"/>
            <a:ext cx="5648325" cy="2857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" name="Text 4"/>
          <p:cNvSpPr/>
          <p:nvPr/>
        </p:nvSpPr>
        <p:spPr>
          <a:xfrm>
            <a:off x="253901" y="4951065"/>
            <a:ext cx="176957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00"/>
              </a:lnSpc>
              <a:buNone/>
            </a:pPr>
            <a:r>
              <a:rPr lang="en-US" sz="157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520601" y="4960590"/>
            <a:ext cx="452980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4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Sistemas independentes, cada um com sua lógica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253901" y="5411539"/>
            <a:ext cx="176957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00"/>
              </a:lnSpc>
              <a:buNone/>
            </a:pPr>
            <a:r>
              <a:rPr lang="en-US" sz="157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20601" y="5421064"/>
            <a:ext cx="301818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4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Códigos de cor distintos por linha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6283226" y="1524000"/>
            <a:ext cx="5817775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83226" y="1903065"/>
            <a:ext cx="5648325" cy="2857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2" name="Text 10"/>
          <p:cNvSpPr/>
          <p:nvPr/>
        </p:nvSpPr>
        <p:spPr>
          <a:xfrm>
            <a:off x="6283226" y="4951065"/>
            <a:ext cx="176957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00"/>
              </a:lnSpc>
              <a:buNone/>
            </a:pPr>
            <a:r>
              <a:rPr lang="en-US" sz="157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6549926" y="4960590"/>
            <a:ext cx="413615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4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 conceito de cores para todos os sistemas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6283226" y="5411539"/>
            <a:ext cx="176957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00"/>
              </a:lnSpc>
              <a:buNone/>
            </a:pPr>
            <a:r>
              <a:rPr lang="en-US" sz="157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6549926" y="5421064"/>
            <a:ext cx="444457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4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Implantes novos sobre tecnologias comprovadas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253901" y="6305550"/>
            <a:ext cx="1607195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O que mudou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853565" y="6286500"/>
            <a:ext cx="160734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2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9429750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Um sistema para três indicações</a:t>
            </a:r>
            <a:endParaRPr lang="en-US" sz="3825" dirty="0"/>
          </a:p>
        </p:txBody>
      </p:sp>
      <p:sp>
        <p:nvSpPr>
          <p:cNvPr id="3" name="Shape 1"/>
          <p:cNvSpPr/>
          <p:nvPr/>
        </p:nvSpPr>
        <p:spPr>
          <a:xfrm>
            <a:off x="253901" y="1200150"/>
            <a:ext cx="116776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4" name="Text 2"/>
          <p:cNvSpPr/>
          <p:nvPr/>
        </p:nvSpPr>
        <p:spPr>
          <a:xfrm>
            <a:off x="253901" y="1524000"/>
            <a:ext cx="186630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539651" y="1533525"/>
            <a:ext cx="5439448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Conceito de cores uniforme e fácil de usar em todos os sistemas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253901" y="2363093"/>
            <a:ext cx="186630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539651" y="2372618"/>
            <a:ext cx="5442820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Cobertura ampla de indicações do terço médio da face, mandíbula e ortognática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253901" y="3202186"/>
            <a:ext cx="186630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539651" y="3211711"/>
            <a:ext cx="5543687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Recipientes estéreis ou implantes avulsos — a seleção é do cirurgião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253901" y="4041279"/>
            <a:ext cx="186630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539651" y="4050804"/>
            <a:ext cx="5002716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Implantes e instrumentos novos sobre tecnologias comprovadas da Medartis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6324600" y="1524000"/>
            <a:ext cx="1771650" cy="2857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3" name="Text 11"/>
          <p:cNvSpPr/>
          <p:nvPr/>
        </p:nvSpPr>
        <p:spPr>
          <a:xfrm>
            <a:off x="6324600" y="4495800"/>
            <a:ext cx="1847850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MIDFACE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48650" y="1524000"/>
            <a:ext cx="1771650" cy="2857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5" name="Text 13"/>
          <p:cNvSpPr/>
          <p:nvPr/>
        </p:nvSpPr>
        <p:spPr>
          <a:xfrm>
            <a:off x="8248650" y="4495800"/>
            <a:ext cx="1847850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MANDIBLE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172700" y="1524000"/>
            <a:ext cx="1771650" cy="2857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7" name="Text 15"/>
          <p:cNvSpPr/>
          <p:nvPr/>
        </p:nvSpPr>
        <p:spPr>
          <a:xfrm>
            <a:off x="10172700" y="4495800"/>
            <a:ext cx="1847850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ORTHOGNATHICS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3901" y="6305550"/>
            <a:ext cx="2019746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Conceito do sistema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853565" y="6286500"/>
            <a:ext cx="160734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2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3699867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Três tecnologias</a:t>
            </a:r>
            <a:endParaRPr lang="en-US" sz="3825" dirty="0"/>
          </a:p>
        </p:txBody>
      </p:sp>
      <p:sp>
        <p:nvSpPr>
          <p:cNvPr id="3" name="Text 1"/>
          <p:cNvSpPr/>
          <p:nvPr/>
        </p:nvSpPr>
        <p:spPr>
          <a:xfrm>
            <a:off x="253901" y="876300"/>
            <a:ext cx="7456170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00"/>
              </a:lnSpc>
              <a:buNone/>
            </a:pPr>
            <a:r>
              <a:rPr lang="en-US" sz="157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Transmissão de torque, corte ósseo e bloqueio angular. Comprovadas em campo, herdadas pelo MODUS 2.</a:t>
            </a:r>
            <a:endParaRPr lang="en-US" sz="1575" dirty="0"/>
          </a:p>
        </p:txBody>
      </p:sp>
      <p:sp>
        <p:nvSpPr>
          <p:cNvPr id="4" name="Shape 2"/>
          <p:cNvSpPr/>
          <p:nvPr/>
        </p:nvSpPr>
        <p:spPr>
          <a:xfrm>
            <a:off x="253901" y="1619250"/>
            <a:ext cx="116776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Text 3"/>
          <p:cNvSpPr/>
          <p:nvPr/>
        </p:nvSpPr>
        <p:spPr>
          <a:xfrm>
            <a:off x="253901" y="1905000"/>
            <a:ext cx="40582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HexaDrive</a:t>
            </a:r>
            <a:pPr algn="l" indent="0" marL="0">
              <a:lnSpc>
                <a:spcPct val="80000"/>
              </a:lnSpc>
              <a:buNone/>
            </a:pPr>
            <a:r>
              <a:rPr lang="en-US" sz="1050" baseline="3000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®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53901" y="2362200"/>
            <a:ext cx="3689300" cy="23812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7" name="Text 5"/>
          <p:cNvSpPr/>
          <p:nvPr/>
        </p:nvSpPr>
        <p:spPr>
          <a:xfrm>
            <a:off x="253901" y="4895850"/>
            <a:ext cx="171450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22"/>
              </a:lnSpc>
              <a:buNone/>
            </a:pPr>
            <a:r>
              <a:rPr lang="en-US" sz="14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501551" y="4905375"/>
            <a:ext cx="3447252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522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Superfície azul transmite torque; vermelha retém o parafuso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253901" y="5555754"/>
            <a:ext cx="171450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22"/>
              </a:lnSpc>
              <a:buNone/>
            </a:pPr>
            <a:r>
              <a:rPr lang="en-US" sz="14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501551" y="5565279"/>
            <a:ext cx="295993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522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Auto-fixação entre parafuso e chave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253901" y="5971431"/>
            <a:ext cx="171450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22"/>
              </a:lnSpc>
              <a:buNone/>
            </a:pPr>
            <a:r>
              <a:rPr lang="en-US" sz="14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501551" y="5980956"/>
            <a:ext cx="236681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522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Maior transmissão de torque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4248001" y="1905000"/>
            <a:ext cx="40582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SpeedTip</a:t>
            </a:r>
            <a:pPr algn="l" indent="0" marL="0">
              <a:lnSpc>
                <a:spcPct val="80000"/>
              </a:lnSpc>
              <a:buNone/>
            </a:pPr>
            <a:r>
              <a:rPr lang="en-US" sz="1050" baseline="3000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®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248001" y="2362200"/>
            <a:ext cx="3689300" cy="23812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5" name="Text 13"/>
          <p:cNvSpPr/>
          <p:nvPr/>
        </p:nvSpPr>
        <p:spPr>
          <a:xfrm>
            <a:off x="4248001" y="4895850"/>
            <a:ext cx="171450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22"/>
              </a:lnSpc>
              <a:buNone/>
            </a:pPr>
            <a:r>
              <a:rPr lang="en-US" sz="14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4495651" y="4905375"/>
            <a:ext cx="191973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522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Corte imediato do osso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4248001" y="5311527"/>
            <a:ext cx="171450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22"/>
              </a:lnSpc>
              <a:buNone/>
            </a:pPr>
            <a:r>
              <a:rPr lang="en-US" sz="14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4495651" y="5321052"/>
            <a:ext cx="348726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522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Ponta poligonal reduz o torque de inserção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4248001" y="5727204"/>
            <a:ext cx="171450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22"/>
              </a:lnSpc>
              <a:buNone/>
            </a:pPr>
            <a:r>
              <a:rPr lang="en-US" sz="14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4495651" y="5736729"/>
            <a:ext cx="2406700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522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Rosca precisa e afiada, ponta autoperfurante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8242102" y="1905000"/>
            <a:ext cx="405839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TriLock</a:t>
            </a:r>
            <a:pPr algn="l" indent="0" marL="0">
              <a:lnSpc>
                <a:spcPct val="80000"/>
              </a:lnSpc>
              <a:buNone/>
            </a:pPr>
            <a:r>
              <a:rPr lang="en-US" sz="1050" baseline="3000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®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8242102" y="2362200"/>
            <a:ext cx="3689449" cy="23812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3" name="Text 21"/>
          <p:cNvSpPr/>
          <p:nvPr/>
        </p:nvSpPr>
        <p:spPr>
          <a:xfrm>
            <a:off x="8242102" y="4895850"/>
            <a:ext cx="171450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22"/>
              </a:lnSpc>
              <a:buNone/>
            </a:pPr>
            <a:r>
              <a:rPr lang="en-US" sz="14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8489752" y="4905375"/>
            <a:ext cx="19710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522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Ângulo variável de ± 15°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8242102" y="5311527"/>
            <a:ext cx="171450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22"/>
              </a:lnSpc>
              <a:buNone/>
            </a:pPr>
            <a:r>
              <a:rPr lang="en-US" sz="14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8489752" y="5321052"/>
            <a:ext cx="15993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522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 zona de carga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8242102" y="5727204"/>
            <a:ext cx="171450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22"/>
              </a:lnSpc>
              <a:buNone/>
            </a:pPr>
            <a:r>
              <a:rPr lang="en-US" sz="14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8489752" y="5736729"/>
            <a:ext cx="273765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522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Eixo cônico e geometria poligonal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253901" y="6305550"/>
            <a:ext cx="1528018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Tecnologias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853565" y="6286500"/>
            <a:ext cx="160734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20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18977" b="18977"/>
          <a:stretch/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763000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100000"/>
                </a:srgbClr>
              </a:gs>
              <a:gs pos="56000">
                <a:srgbClr val="000000">
                  <a:alpha val="10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Shape 1"/>
          <p:cNvSpPr/>
          <p:nvPr/>
        </p:nvSpPr>
        <p:spPr>
          <a:xfrm>
            <a:off x="828675" y="718096"/>
            <a:ext cx="30480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Text 2"/>
          <p:cNvSpPr/>
          <p:nvPr/>
        </p:nvSpPr>
        <p:spPr>
          <a:xfrm>
            <a:off x="1266825" y="647700"/>
            <a:ext cx="9060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CAPÍTULO 03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8675" y="1009650"/>
            <a:ext cx="628650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911"/>
              </a:lnSpc>
              <a:buNone/>
            </a:pPr>
            <a:r>
              <a:rPr lang="en-US" sz="4800" spc="-48" kern="0" dirty="0">
                <a:solidFill>
                  <a:srgbClr val="FFFFFF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Midface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28675" y="2381250"/>
            <a:ext cx="5297805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62"/>
              </a:lnSpc>
              <a:buNone/>
            </a:pPr>
            <a:r>
              <a:rPr lang="en-US" sz="1800" dirty="0">
                <a:solidFill>
                  <a:srgbClr val="FFFFFF">
                    <a:alpha val="7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Perfil baixo onde a cobertura de partes moles é mínima. Placas, malhas e assoalho orbital em três espessuras.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853565" y="6286500"/>
            <a:ext cx="160734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7364537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Implantes do terço médio da face</a:t>
            </a:r>
            <a:endParaRPr lang="en-US" sz="3825" dirty="0"/>
          </a:p>
        </p:txBody>
      </p:sp>
      <p:sp>
        <p:nvSpPr>
          <p:cNvPr id="3" name="Text 1"/>
          <p:cNvSpPr/>
          <p:nvPr/>
        </p:nvSpPr>
        <p:spPr>
          <a:xfrm>
            <a:off x="253901" y="876300"/>
            <a:ext cx="9429750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00"/>
              </a:lnSpc>
              <a:buNone/>
            </a:pPr>
            <a:r>
              <a:rPr lang="en-US" sz="157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Titânio ASTM F67, semi-rígido, dobrável e cortável em toda a linha. A escolha é a espessura.</a:t>
            </a:r>
            <a:endParaRPr lang="en-US" sz="1575" dirty="0"/>
          </a:p>
        </p:txBody>
      </p:sp>
      <p:sp>
        <p:nvSpPr>
          <p:cNvPr id="4" name="Shape 2"/>
          <p:cNvSpPr/>
          <p:nvPr/>
        </p:nvSpPr>
        <p:spPr>
          <a:xfrm>
            <a:off x="253901" y="2267843"/>
            <a:ext cx="11677650" cy="95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253901" y="1619250"/>
            <a:ext cx="2115145" cy="572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50"/>
              </a:lnSpc>
              <a:buNone/>
            </a:pPr>
            <a:r>
              <a:rPr lang="en-US" sz="1275" spc="51" kern="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ESPESSURA DA PLACA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2292846" y="1619250"/>
            <a:ext cx="1744414" cy="572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50"/>
              </a:lnSpc>
              <a:buNone/>
            </a:pPr>
            <a:r>
              <a:rPr lang="en-US" sz="1275" spc="51" kern="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DISTÂNCIA DOS ORIFÍCIOS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3961061" y="1619250"/>
            <a:ext cx="1744414" cy="572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50"/>
              </a:lnSpc>
              <a:buNone/>
            </a:pPr>
            <a:r>
              <a:rPr lang="en-US" sz="1275" spc="51" kern="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MATERIAL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5629275" y="1619250"/>
            <a:ext cx="1559123" cy="572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50"/>
              </a:lnSpc>
              <a:buNone/>
            </a:pPr>
            <a:r>
              <a:rPr lang="en-US" sz="1275" spc="51" kern="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RIGIDEZ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7112198" y="1619250"/>
            <a:ext cx="1373684" cy="572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50"/>
              </a:lnSpc>
              <a:buNone/>
            </a:pPr>
            <a:r>
              <a:rPr lang="en-US" sz="1275" spc="51" kern="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DOBRÁVEL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8409682" y="1619250"/>
            <a:ext cx="1373684" cy="572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50"/>
              </a:lnSpc>
              <a:buNone/>
            </a:pPr>
            <a:r>
              <a:rPr lang="en-US" sz="1275" spc="51" kern="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CORTÁVEL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9707166" y="1619250"/>
            <a:ext cx="2300436" cy="572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50"/>
              </a:lnSpc>
              <a:buNone/>
            </a:pPr>
            <a:r>
              <a:rPr lang="en-US" sz="1275" spc="51" kern="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DIÂMETROS DOS PARAFUSOS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253901" y="2972693"/>
            <a:ext cx="1167765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3" name="Text 11"/>
          <p:cNvSpPr/>
          <p:nvPr/>
        </p:nvSpPr>
        <p:spPr>
          <a:xfrm>
            <a:off x="253901" y="2459980"/>
            <a:ext cx="2115145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0,25 mm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2292846" y="2459980"/>
            <a:ext cx="1744414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mm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3961061" y="2295079"/>
            <a:ext cx="1744414" cy="698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Titânio (ASTM F67)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5629275" y="2459980"/>
            <a:ext cx="1559123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Semi-rígida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7112198" y="2459980"/>
            <a:ext cx="1373684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8409682" y="2459980"/>
            <a:ext cx="1373684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9707166" y="2459980"/>
            <a:ext cx="2300436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1,2 / 1,5 / 1,8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253901" y="3677543"/>
            <a:ext cx="1167765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21" name="Text 19"/>
          <p:cNvSpPr/>
          <p:nvPr/>
        </p:nvSpPr>
        <p:spPr>
          <a:xfrm>
            <a:off x="253901" y="3164830"/>
            <a:ext cx="2115145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0,40 mm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2292846" y="3164830"/>
            <a:ext cx="1744414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mm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3961061" y="2999929"/>
            <a:ext cx="1744414" cy="698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Titânio (ASTM F67)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5629275" y="3164830"/>
            <a:ext cx="1559123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Semi-rígida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7112198" y="3164830"/>
            <a:ext cx="1373684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8409682" y="3164830"/>
            <a:ext cx="1373684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9707166" y="3164830"/>
            <a:ext cx="2300436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1,2 / 1,5 / 1,8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253901" y="4382393"/>
            <a:ext cx="1167765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29" name="Text 27"/>
          <p:cNvSpPr/>
          <p:nvPr/>
        </p:nvSpPr>
        <p:spPr>
          <a:xfrm>
            <a:off x="253901" y="3869680"/>
            <a:ext cx="2115145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0,60 mm</a:t>
            </a:r>
            <a:endParaRPr lang="en-US" sz="1575" dirty="0"/>
          </a:p>
        </p:txBody>
      </p:sp>
      <p:sp>
        <p:nvSpPr>
          <p:cNvPr id="30" name="Text 28"/>
          <p:cNvSpPr/>
          <p:nvPr/>
        </p:nvSpPr>
        <p:spPr>
          <a:xfrm>
            <a:off x="2292846" y="3869680"/>
            <a:ext cx="1744414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mm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3961061" y="3704779"/>
            <a:ext cx="1744414" cy="698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Titânio (ASTM F67)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5629275" y="3869680"/>
            <a:ext cx="1559123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Semi-rígida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7112198" y="3869680"/>
            <a:ext cx="1373684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8409682" y="3869680"/>
            <a:ext cx="1373684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</a:t>
            </a:r>
            <a:endParaRPr lang="en-US" sz="1575" dirty="0"/>
          </a:p>
        </p:txBody>
      </p:sp>
      <p:sp>
        <p:nvSpPr>
          <p:cNvPr id="35" name="Text 33"/>
          <p:cNvSpPr/>
          <p:nvPr/>
        </p:nvSpPr>
        <p:spPr>
          <a:xfrm>
            <a:off x="9707166" y="3869680"/>
            <a:ext cx="2300436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1,2 / 1,5 / 1,8</a:t>
            </a:r>
            <a:endParaRPr lang="en-US" sz="1575" dirty="0"/>
          </a:p>
        </p:txBody>
      </p:sp>
      <p:sp>
        <p:nvSpPr>
          <p:cNvPr id="36" name="Shape 34"/>
          <p:cNvSpPr/>
          <p:nvPr/>
        </p:nvSpPr>
        <p:spPr>
          <a:xfrm>
            <a:off x="253901" y="4476750"/>
            <a:ext cx="3765500" cy="14287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7" name="Shape 35"/>
          <p:cNvSpPr/>
          <p:nvPr/>
        </p:nvSpPr>
        <p:spPr>
          <a:xfrm>
            <a:off x="4209901" y="4476750"/>
            <a:ext cx="3765500" cy="14287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8" name="Shape 36"/>
          <p:cNvSpPr/>
          <p:nvPr/>
        </p:nvSpPr>
        <p:spPr>
          <a:xfrm>
            <a:off x="8165902" y="4476750"/>
            <a:ext cx="3765649" cy="14287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9" name="Text 37"/>
          <p:cNvSpPr/>
          <p:nvPr/>
        </p:nvSpPr>
        <p:spPr>
          <a:xfrm>
            <a:off x="253901" y="6305550"/>
            <a:ext cx="1993553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Midface / Implantes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1853565" y="6286500"/>
            <a:ext cx="160734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120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7630567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Visão geral do sistema — Midface</a:t>
            </a:r>
            <a:endParaRPr lang="en-US" sz="3825" dirty="0"/>
          </a:p>
        </p:txBody>
      </p:sp>
      <p:sp>
        <p:nvSpPr>
          <p:cNvPr id="3" name="Shape 1"/>
          <p:cNvSpPr/>
          <p:nvPr/>
        </p:nvSpPr>
        <p:spPr>
          <a:xfrm>
            <a:off x="253901" y="1047750"/>
            <a:ext cx="116776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4" name="Text 2"/>
          <p:cNvSpPr/>
          <p:nvPr/>
        </p:nvSpPr>
        <p:spPr>
          <a:xfrm>
            <a:off x="253901" y="1333500"/>
            <a:ext cx="7456170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PLACAS — ESPESSURA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3901" y="1693515"/>
            <a:ext cx="2311301" cy="20002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" name="Text 4"/>
          <p:cNvSpPr/>
          <p:nvPr/>
        </p:nvSpPr>
        <p:spPr>
          <a:xfrm>
            <a:off x="253901" y="3789015"/>
            <a:ext cx="2387501" cy="336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304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 = 0,5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2717602" y="1693515"/>
            <a:ext cx="2311450" cy="20002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Text 6"/>
          <p:cNvSpPr/>
          <p:nvPr/>
        </p:nvSpPr>
        <p:spPr>
          <a:xfrm>
            <a:off x="2717602" y="3789015"/>
            <a:ext cx="2387650" cy="336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304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 = 0,6 / 0,7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5181451" y="1693515"/>
            <a:ext cx="2311450" cy="20002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0" name="Text 8"/>
          <p:cNvSpPr/>
          <p:nvPr/>
        </p:nvSpPr>
        <p:spPr>
          <a:xfrm>
            <a:off x="5181451" y="3789015"/>
            <a:ext cx="2387650" cy="336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304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 = 1,0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253901" y="4335214"/>
            <a:ext cx="7456170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MALHA E PLACAS DO ASSOALHO ORBITAL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3901" y="4657130"/>
            <a:ext cx="2286000" cy="14287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3" name="Shape 11"/>
          <p:cNvSpPr/>
          <p:nvPr/>
        </p:nvSpPr>
        <p:spPr>
          <a:xfrm>
            <a:off x="2692301" y="4657130"/>
            <a:ext cx="2286000" cy="14287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0" y="1333500"/>
            <a:ext cx="4051840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PARAFUSOS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001000" y="2611041"/>
            <a:ext cx="3933825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6" name="Shape 14"/>
          <p:cNvSpPr/>
          <p:nvPr/>
        </p:nvSpPr>
        <p:spPr>
          <a:xfrm>
            <a:off x="8001000" y="1912590"/>
            <a:ext cx="114300" cy="114300"/>
          </a:xfrm>
          <a:prstGeom prst="rect">
            <a:avLst/>
          </a:prstGeom>
          <a:solidFill>
            <a:srgbClr val="BD1041"/>
          </a:solidFill>
          <a:ln/>
        </p:spPr>
      </p:sp>
      <p:sp>
        <p:nvSpPr>
          <p:cNvPr id="17" name="Text 15"/>
          <p:cNvSpPr/>
          <p:nvPr/>
        </p:nvSpPr>
        <p:spPr>
          <a:xfrm>
            <a:off x="8286750" y="1845915"/>
            <a:ext cx="3757517" cy="6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HD4 Padrão Ø 1,2 mm </a:t>
            </a:r>
            <a:pPr algn="l" indent="0" marL="0">
              <a:lnSpc>
                <a:spcPct val="138947"/>
              </a:lnSpc>
              <a:buNone/>
            </a:pPr>
            <a:r>
              <a:rPr lang="en-US" sz="135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 4, 5, 6, 7, 8, 9, 11 mm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01000" y="3538091"/>
            <a:ext cx="3933825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9" name="Shape 17"/>
          <p:cNvSpPr/>
          <p:nvPr/>
        </p:nvSpPr>
        <p:spPr>
          <a:xfrm>
            <a:off x="8001000" y="2839641"/>
            <a:ext cx="114300" cy="114300"/>
          </a:xfrm>
          <a:prstGeom prst="rect">
            <a:avLst/>
          </a:prstGeom>
          <a:solidFill>
            <a:srgbClr val="4EA72E"/>
          </a:solidFill>
          <a:ln/>
        </p:spPr>
      </p:sp>
      <p:sp>
        <p:nvSpPr>
          <p:cNvPr id="20" name="Text 18"/>
          <p:cNvSpPr/>
          <p:nvPr/>
        </p:nvSpPr>
        <p:spPr>
          <a:xfrm>
            <a:off x="8286750" y="2772966"/>
            <a:ext cx="3757517" cy="6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HD4 Padrão Ø 1,5 mm </a:t>
            </a:r>
            <a:pPr algn="l" indent="0" marL="0">
              <a:lnSpc>
                <a:spcPct val="138947"/>
              </a:lnSpc>
              <a:buNone/>
            </a:pPr>
            <a:r>
              <a:rPr lang="en-US" sz="135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 4, 5, 6, 7, 8, 9, 11 mm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01000" y="4465141"/>
            <a:ext cx="3933825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22" name="Shape 20"/>
          <p:cNvSpPr/>
          <p:nvPr/>
        </p:nvSpPr>
        <p:spPr>
          <a:xfrm>
            <a:off x="8001000" y="3766691"/>
            <a:ext cx="114300" cy="114300"/>
          </a:xfrm>
          <a:prstGeom prst="rect">
            <a:avLst/>
          </a:prstGeom>
          <a:solidFill>
            <a:srgbClr val="DEBE5C"/>
          </a:solidFill>
          <a:ln/>
        </p:spPr>
      </p:sp>
      <p:sp>
        <p:nvSpPr>
          <p:cNvPr id="23" name="Text 21"/>
          <p:cNvSpPr/>
          <p:nvPr/>
        </p:nvSpPr>
        <p:spPr>
          <a:xfrm>
            <a:off x="8286750" y="3700016"/>
            <a:ext cx="3757517" cy="6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HD4 Padrão Ø 1,8 mm </a:t>
            </a:r>
            <a:pPr algn="l" indent="0" marL="0">
              <a:lnSpc>
                <a:spcPct val="138947"/>
              </a:lnSpc>
              <a:buNone/>
            </a:pPr>
            <a:r>
              <a:rPr lang="en-US" sz="135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 4, 5, 6, 7, 8, 9, 11 mm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01000" y="5392192"/>
            <a:ext cx="3933825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25" name="Shape 23"/>
          <p:cNvSpPr/>
          <p:nvPr/>
        </p:nvSpPr>
        <p:spPr>
          <a:xfrm>
            <a:off x="8001000" y="4693741"/>
            <a:ext cx="114300" cy="114300"/>
          </a:xfrm>
          <a:prstGeom prst="rect">
            <a:avLst/>
          </a:prstGeom>
          <a:solidFill>
            <a:srgbClr val="4EA72E"/>
          </a:solidFill>
          <a:ln/>
        </p:spPr>
      </p:sp>
      <p:sp>
        <p:nvSpPr>
          <p:cNvPr id="26" name="Text 24"/>
          <p:cNvSpPr/>
          <p:nvPr/>
        </p:nvSpPr>
        <p:spPr>
          <a:xfrm>
            <a:off x="8286750" y="4627066"/>
            <a:ext cx="3757517" cy="6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SpeedTip HD4 Ø 1,5 mm </a:t>
            </a:r>
            <a:pPr algn="l" indent="0" marL="0">
              <a:lnSpc>
                <a:spcPct val="138947"/>
              </a:lnSpc>
              <a:buNone/>
            </a:pPr>
            <a:r>
              <a:rPr lang="en-US" sz="135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4, 5, 6, 7, 8, 9 mm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01000" y="5697141"/>
            <a:ext cx="95250" cy="95250"/>
          </a:xfrm>
          <a:prstGeom prst="rect">
            <a:avLst/>
          </a:prstGeom>
          <a:solidFill>
            <a:srgbClr val="BD1041"/>
          </a:solidFill>
          <a:ln/>
        </p:spPr>
      </p:sp>
      <p:sp>
        <p:nvSpPr>
          <p:cNvPr id="28" name="Text 26"/>
          <p:cNvSpPr/>
          <p:nvPr/>
        </p:nvSpPr>
        <p:spPr>
          <a:xfrm>
            <a:off x="8172450" y="5649367"/>
            <a:ext cx="286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250"/>
              </a:lnSpc>
              <a:buNone/>
            </a:pPr>
            <a:r>
              <a:rPr lang="en-US" sz="127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1,2</a:t>
            </a:r>
            <a:endParaRPr lang="en-US" sz="1275" dirty="0"/>
          </a:p>
        </p:txBody>
      </p:sp>
      <p:sp>
        <p:nvSpPr>
          <p:cNvPr id="29" name="Shape 27"/>
          <p:cNvSpPr/>
          <p:nvPr/>
        </p:nvSpPr>
        <p:spPr>
          <a:xfrm>
            <a:off x="8573542" y="5697141"/>
            <a:ext cx="95250" cy="95250"/>
          </a:xfrm>
          <a:prstGeom prst="rect">
            <a:avLst/>
          </a:prstGeom>
          <a:solidFill>
            <a:srgbClr val="4EA72E"/>
          </a:solidFill>
          <a:ln/>
        </p:spPr>
      </p:sp>
      <p:sp>
        <p:nvSpPr>
          <p:cNvPr id="30" name="Text 28"/>
          <p:cNvSpPr/>
          <p:nvPr/>
        </p:nvSpPr>
        <p:spPr>
          <a:xfrm>
            <a:off x="8744992" y="5649367"/>
            <a:ext cx="286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250"/>
              </a:lnSpc>
              <a:buNone/>
            </a:pPr>
            <a:r>
              <a:rPr lang="en-US" sz="127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1,5</a:t>
            </a:r>
            <a:endParaRPr lang="en-US" sz="1275" dirty="0"/>
          </a:p>
        </p:txBody>
      </p:sp>
      <p:sp>
        <p:nvSpPr>
          <p:cNvPr id="31" name="Shape 29"/>
          <p:cNvSpPr/>
          <p:nvPr/>
        </p:nvSpPr>
        <p:spPr>
          <a:xfrm>
            <a:off x="9146084" y="5697141"/>
            <a:ext cx="95250" cy="95250"/>
          </a:xfrm>
          <a:prstGeom prst="rect">
            <a:avLst/>
          </a:prstGeom>
          <a:solidFill>
            <a:srgbClr val="DEBE5C"/>
          </a:solidFill>
          <a:ln/>
        </p:spPr>
      </p:sp>
      <p:sp>
        <p:nvSpPr>
          <p:cNvPr id="32" name="Text 30"/>
          <p:cNvSpPr/>
          <p:nvPr/>
        </p:nvSpPr>
        <p:spPr>
          <a:xfrm>
            <a:off x="9317534" y="5649367"/>
            <a:ext cx="286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250"/>
              </a:lnSpc>
              <a:buNone/>
            </a:pPr>
            <a:r>
              <a:rPr lang="en-US" sz="127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1,8</a:t>
            </a:r>
            <a:endParaRPr lang="en-US" sz="1275" dirty="0"/>
          </a:p>
        </p:txBody>
      </p:sp>
      <p:sp>
        <p:nvSpPr>
          <p:cNvPr id="33" name="Shape 31"/>
          <p:cNvSpPr/>
          <p:nvPr/>
        </p:nvSpPr>
        <p:spPr>
          <a:xfrm>
            <a:off x="8001000" y="6068913"/>
            <a:ext cx="3933825" cy="14287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4" name="Text 32"/>
          <p:cNvSpPr/>
          <p:nvPr/>
        </p:nvSpPr>
        <p:spPr>
          <a:xfrm>
            <a:off x="253901" y="6305550"/>
            <a:ext cx="2058144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Midface / Visão geral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endParaRPr lang="en-US" sz="12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7281208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Características gerais das placas</a:t>
            </a:r>
            <a:endParaRPr lang="en-US" sz="3825" dirty="0"/>
          </a:p>
        </p:txBody>
      </p:sp>
      <p:sp>
        <p:nvSpPr>
          <p:cNvPr id="3" name="Text 1"/>
          <p:cNvSpPr/>
          <p:nvPr/>
        </p:nvSpPr>
        <p:spPr>
          <a:xfrm>
            <a:off x="253901" y="914400"/>
            <a:ext cx="6867525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00"/>
              </a:lnSpc>
              <a:buNone/>
            </a:pPr>
            <a:r>
              <a:rPr lang="en-US" sz="157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Desenhadas para acompanhar cada região anatômica do terço médio da face — espessura óssea, cobertura de partes moles e estabilidade.</a:t>
            </a:r>
            <a:endParaRPr lang="en-US" sz="1575" dirty="0"/>
          </a:p>
        </p:txBody>
      </p:sp>
      <p:sp>
        <p:nvSpPr>
          <p:cNvPr id="4" name="Shape 2"/>
          <p:cNvSpPr/>
          <p:nvPr/>
        </p:nvSpPr>
        <p:spPr>
          <a:xfrm>
            <a:off x="253901" y="1809750"/>
            <a:ext cx="571500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Text 3"/>
          <p:cNvSpPr/>
          <p:nvPr/>
        </p:nvSpPr>
        <p:spPr>
          <a:xfrm>
            <a:off x="253901" y="2095500"/>
            <a:ext cx="186630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539651" y="2105025"/>
            <a:ext cx="43254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Perfil baixo a partir de 0,5 mm de espessura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253901" y="2657921"/>
            <a:ext cx="186630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539651" y="2667446"/>
            <a:ext cx="5401891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Bordas arredondadas e superfície lisa para proteger os tecidos moles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253901" y="3516064"/>
            <a:ext cx="186630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539651" y="3525589"/>
            <a:ext cx="50192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Barras nas áreas de ponte em placas selecionadas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253901" y="4305300"/>
            <a:ext cx="571500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12" name="Shape 10"/>
          <p:cNvSpPr/>
          <p:nvPr/>
        </p:nvSpPr>
        <p:spPr>
          <a:xfrm>
            <a:off x="6324600" y="1809750"/>
            <a:ext cx="2728913" cy="20002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3" name="Shape 11"/>
          <p:cNvSpPr/>
          <p:nvPr/>
        </p:nvSpPr>
        <p:spPr>
          <a:xfrm>
            <a:off x="9205913" y="1809750"/>
            <a:ext cx="2728913" cy="20002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4" name="Shape 12"/>
          <p:cNvSpPr/>
          <p:nvPr/>
        </p:nvSpPr>
        <p:spPr>
          <a:xfrm>
            <a:off x="6324600" y="3962400"/>
            <a:ext cx="5610225" cy="20002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5" name="Text 13"/>
          <p:cNvSpPr/>
          <p:nvPr/>
        </p:nvSpPr>
        <p:spPr>
          <a:xfrm>
            <a:off x="253901" y="6305550"/>
            <a:ext cx="1801862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Midface / Placas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</a:t>
            </a:r>
            <a:endParaRPr lang="en-US" sz="12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7033186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Características gerais da malha</a:t>
            </a:r>
            <a:endParaRPr lang="en-US" sz="3825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8974" b="8974"/>
          <a:stretch/>
        </p:blipFill>
        <p:spPr>
          <a:xfrm>
            <a:off x="253901" y="1428750"/>
            <a:ext cx="5715000" cy="4572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24600" y="1428750"/>
            <a:ext cx="5610225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Text 2"/>
          <p:cNvSpPr/>
          <p:nvPr/>
        </p:nvSpPr>
        <p:spPr>
          <a:xfrm>
            <a:off x="6324600" y="1771650"/>
            <a:ext cx="186630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725" dirty="0"/>
          </a:p>
        </p:txBody>
      </p:sp>
      <p:sp>
        <p:nvSpPr>
          <p:cNvPr id="6" name="Text 3"/>
          <p:cNvSpPr/>
          <p:nvPr/>
        </p:nvSpPr>
        <p:spPr>
          <a:xfrm>
            <a:off x="6610350" y="1781175"/>
            <a:ext cx="20063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de malha 3D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6324600" y="2315021"/>
            <a:ext cx="186630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725" dirty="0"/>
          </a:p>
        </p:txBody>
      </p:sp>
      <p:sp>
        <p:nvSpPr>
          <p:cNvPr id="8" name="Text 5"/>
          <p:cNvSpPr/>
          <p:nvPr/>
        </p:nvSpPr>
        <p:spPr>
          <a:xfrm>
            <a:off x="6610350" y="2324546"/>
            <a:ext cx="396093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Perfil baixo: 0,25 mm / 0,4 mm / 0,6 mm</a:t>
            </a:r>
            <a:endParaRPr lang="en-US" sz="1725" dirty="0"/>
          </a:p>
        </p:txBody>
      </p:sp>
      <p:sp>
        <p:nvSpPr>
          <p:cNvPr id="9" name="Text 6"/>
          <p:cNvSpPr/>
          <p:nvPr/>
        </p:nvSpPr>
        <p:spPr>
          <a:xfrm>
            <a:off x="6324600" y="2858393"/>
            <a:ext cx="186630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725" dirty="0"/>
          </a:p>
        </p:txBody>
      </p:sp>
      <p:sp>
        <p:nvSpPr>
          <p:cNvPr id="10" name="Text 7"/>
          <p:cNvSpPr/>
          <p:nvPr/>
        </p:nvSpPr>
        <p:spPr>
          <a:xfrm>
            <a:off x="6610350" y="2867918"/>
            <a:ext cx="53560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Dois tamanhos de placa, cada um em três espessuras</a:t>
            </a:r>
            <a:endParaRPr lang="en-US" sz="1725" dirty="0"/>
          </a:p>
        </p:txBody>
      </p:sp>
      <p:sp>
        <p:nvSpPr>
          <p:cNvPr id="11" name="Text 8"/>
          <p:cNvSpPr/>
          <p:nvPr/>
        </p:nvSpPr>
        <p:spPr>
          <a:xfrm>
            <a:off x="6324600" y="3401764"/>
            <a:ext cx="186630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725" dirty="0"/>
          </a:p>
        </p:txBody>
      </p:sp>
      <p:sp>
        <p:nvSpPr>
          <p:cNvPr id="12" name="Text 9"/>
          <p:cNvSpPr/>
          <p:nvPr/>
        </p:nvSpPr>
        <p:spPr>
          <a:xfrm>
            <a:off x="6610350" y="3411289"/>
            <a:ext cx="5477618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Dois cantos arredondados adjacentes no tamanho 50 × 50 mm</a:t>
            </a:r>
            <a:endParaRPr lang="en-US" sz="1725" dirty="0"/>
          </a:p>
        </p:txBody>
      </p:sp>
      <p:sp>
        <p:nvSpPr>
          <p:cNvPr id="13" name="Text 10"/>
          <p:cNvSpPr/>
          <p:nvPr/>
        </p:nvSpPr>
        <p:spPr>
          <a:xfrm>
            <a:off x="6324600" y="4240857"/>
            <a:ext cx="186630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725" dirty="0"/>
          </a:p>
        </p:txBody>
      </p:sp>
      <p:sp>
        <p:nvSpPr>
          <p:cNvPr id="14" name="Text 11"/>
          <p:cNvSpPr/>
          <p:nvPr/>
        </p:nvSpPr>
        <p:spPr>
          <a:xfrm>
            <a:off x="6610350" y="4250382"/>
            <a:ext cx="4845437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desenho permite o rebaixamento da cabeça do parafuso</a:t>
            </a:r>
            <a:endParaRPr lang="en-US" sz="1725" dirty="0"/>
          </a:p>
        </p:txBody>
      </p:sp>
      <p:sp>
        <p:nvSpPr>
          <p:cNvPr id="15" name="Text 12"/>
          <p:cNvSpPr/>
          <p:nvPr/>
        </p:nvSpPr>
        <p:spPr>
          <a:xfrm>
            <a:off x="6324600" y="5079950"/>
            <a:ext cx="186630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725" dirty="0"/>
          </a:p>
        </p:txBody>
      </p:sp>
      <p:sp>
        <p:nvSpPr>
          <p:cNvPr id="16" name="Text 13"/>
          <p:cNvSpPr/>
          <p:nvPr/>
        </p:nvSpPr>
        <p:spPr>
          <a:xfrm>
            <a:off x="6610350" y="5089475"/>
            <a:ext cx="37179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Bordas arredondadas e superfície lisa</a:t>
            </a:r>
            <a:endParaRPr lang="en-US" sz="1725" dirty="0"/>
          </a:p>
        </p:txBody>
      </p:sp>
      <p:sp>
        <p:nvSpPr>
          <p:cNvPr id="17" name="Shape 14"/>
          <p:cNvSpPr/>
          <p:nvPr/>
        </p:nvSpPr>
        <p:spPr>
          <a:xfrm>
            <a:off x="6324600" y="6000750"/>
            <a:ext cx="5610225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18" name="Text 15"/>
          <p:cNvSpPr/>
          <p:nvPr/>
        </p:nvSpPr>
        <p:spPr>
          <a:xfrm>
            <a:off x="253901" y="6305550"/>
            <a:ext cx="1772245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Midface / Malha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</a:t>
            </a:r>
            <a:endParaRPr lang="en-US" sz="12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10477500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Placas do assoalho orbital</a:t>
            </a:r>
            <a:endParaRPr lang="en-US" sz="3825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4545" r="4545" t="0" b="0"/>
          <a:stretch/>
        </p:blipFill>
        <p:spPr>
          <a:xfrm>
            <a:off x="253901" y="1428750"/>
            <a:ext cx="5715000" cy="4572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24600" y="1428750"/>
            <a:ext cx="5610225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Text 2"/>
          <p:cNvSpPr/>
          <p:nvPr/>
        </p:nvSpPr>
        <p:spPr>
          <a:xfrm>
            <a:off x="6324600" y="1771650"/>
            <a:ext cx="186630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725" dirty="0"/>
          </a:p>
        </p:txBody>
      </p:sp>
      <p:sp>
        <p:nvSpPr>
          <p:cNvPr id="6" name="Text 3"/>
          <p:cNvSpPr/>
          <p:nvPr/>
        </p:nvSpPr>
        <p:spPr>
          <a:xfrm>
            <a:off x="6610350" y="1781175"/>
            <a:ext cx="3064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Quatro geometrias de implante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6324600" y="2315021"/>
            <a:ext cx="186630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725" dirty="0"/>
          </a:p>
        </p:txBody>
      </p:sp>
      <p:sp>
        <p:nvSpPr>
          <p:cNvPr id="8" name="Text 5"/>
          <p:cNvSpPr/>
          <p:nvPr/>
        </p:nvSpPr>
        <p:spPr>
          <a:xfrm>
            <a:off x="6610350" y="2324546"/>
            <a:ext cx="30134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Perfil baixo: 0,35 mm / 0,4 mm</a:t>
            </a:r>
            <a:endParaRPr lang="en-US" sz="1725" dirty="0"/>
          </a:p>
        </p:txBody>
      </p:sp>
      <p:sp>
        <p:nvSpPr>
          <p:cNvPr id="9" name="Text 6"/>
          <p:cNvSpPr/>
          <p:nvPr/>
        </p:nvSpPr>
        <p:spPr>
          <a:xfrm>
            <a:off x="6324600" y="2858393"/>
            <a:ext cx="186630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725" dirty="0"/>
          </a:p>
        </p:txBody>
      </p:sp>
      <p:sp>
        <p:nvSpPr>
          <p:cNvPr id="10" name="Text 7"/>
          <p:cNvSpPr/>
          <p:nvPr/>
        </p:nvSpPr>
        <p:spPr>
          <a:xfrm>
            <a:off x="6610350" y="2867918"/>
            <a:ext cx="47320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de malha 3D com barras estabilizadoras</a:t>
            </a:r>
            <a:endParaRPr lang="en-US" sz="1725" dirty="0"/>
          </a:p>
        </p:txBody>
      </p:sp>
      <p:sp>
        <p:nvSpPr>
          <p:cNvPr id="11" name="Text 8"/>
          <p:cNvSpPr/>
          <p:nvPr/>
        </p:nvSpPr>
        <p:spPr>
          <a:xfrm>
            <a:off x="6324600" y="3401764"/>
            <a:ext cx="186630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725" dirty="0"/>
          </a:p>
        </p:txBody>
      </p:sp>
      <p:sp>
        <p:nvSpPr>
          <p:cNvPr id="12" name="Text 9"/>
          <p:cNvSpPr/>
          <p:nvPr/>
        </p:nvSpPr>
        <p:spPr>
          <a:xfrm>
            <a:off x="6610350" y="3411289"/>
            <a:ext cx="5270979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Linhas de corte pré-posicionadas permitem cortar ao longo da barra, sem rebarba</a:t>
            </a:r>
            <a:endParaRPr lang="en-US" sz="1725" dirty="0"/>
          </a:p>
        </p:txBody>
      </p:sp>
      <p:sp>
        <p:nvSpPr>
          <p:cNvPr id="13" name="Shape 10"/>
          <p:cNvSpPr/>
          <p:nvPr/>
        </p:nvSpPr>
        <p:spPr>
          <a:xfrm>
            <a:off x="6324600" y="6000750"/>
            <a:ext cx="5610225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14" name="Text 11"/>
          <p:cNvSpPr/>
          <p:nvPr/>
        </p:nvSpPr>
        <p:spPr>
          <a:xfrm>
            <a:off x="253901" y="6305550"/>
            <a:ext cx="2353270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Midface / Assoalho orbital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</a:t>
            </a:r>
            <a:endParaRPr lang="en-US" sz="1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5761479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Visão geral dos parafusos</a:t>
            </a:r>
            <a:endParaRPr lang="en-US" sz="3825" dirty="0"/>
          </a:p>
        </p:txBody>
      </p:sp>
      <p:sp>
        <p:nvSpPr>
          <p:cNvPr id="3" name="Text 1"/>
          <p:cNvSpPr/>
          <p:nvPr/>
        </p:nvSpPr>
        <p:spPr>
          <a:xfrm>
            <a:off x="253901" y="876300"/>
            <a:ext cx="8591550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00"/>
              </a:lnSpc>
              <a:buNone/>
            </a:pPr>
            <a:r>
              <a:rPr lang="en-US" sz="157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Interface HexaDrive 4 em toda a linha Midface. A cor identifica o diâmetro.</a:t>
            </a:r>
            <a:endParaRPr lang="en-US" sz="1575" dirty="0"/>
          </a:p>
        </p:txBody>
      </p:sp>
      <p:sp>
        <p:nvSpPr>
          <p:cNvPr id="4" name="Shape 2"/>
          <p:cNvSpPr/>
          <p:nvPr/>
        </p:nvSpPr>
        <p:spPr>
          <a:xfrm>
            <a:off x="253901" y="1905446"/>
            <a:ext cx="7239000" cy="95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406301" y="1524000"/>
            <a:ext cx="3096518" cy="305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50"/>
              </a:lnSpc>
              <a:buNone/>
            </a:pPr>
            <a:r>
              <a:rPr lang="en-US" sz="1275" spc="51" kern="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PARAFUSO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3412629" y="1524000"/>
            <a:ext cx="2223641" cy="305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50"/>
              </a:lnSpc>
              <a:buNone/>
            </a:pPr>
            <a:r>
              <a:rPr lang="en-US" sz="1275" spc="51" kern="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DIÂMETRO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5560070" y="1524000"/>
            <a:ext cx="2008882" cy="305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50"/>
              </a:lnSpc>
              <a:buNone/>
            </a:pPr>
            <a:r>
              <a:rPr lang="en-US" sz="1275" spc="51" kern="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INTERFACE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253901" y="2648396"/>
            <a:ext cx="72390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9" name="Shape 7"/>
          <p:cNvSpPr/>
          <p:nvPr/>
        </p:nvSpPr>
        <p:spPr>
          <a:xfrm>
            <a:off x="253901" y="2224534"/>
            <a:ext cx="114300" cy="114300"/>
          </a:xfrm>
          <a:prstGeom prst="rect">
            <a:avLst/>
          </a:prstGeom>
          <a:solidFill>
            <a:srgbClr val="BD1041"/>
          </a:solidFill>
          <a:ln/>
        </p:spPr>
      </p:sp>
      <p:sp>
        <p:nvSpPr>
          <p:cNvPr id="10" name="Text 8"/>
          <p:cNvSpPr/>
          <p:nvPr/>
        </p:nvSpPr>
        <p:spPr>
          <a:xfrm>
            <a:off x="406301" y="2116634"/>
            <a:ext cx="3096518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Parafuso Cortical 1.2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3412629" y="2116634"/>
            <a:ext cx="2223641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Ø 1,2 mm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560070" y="2116634"/>
            <a:ext cx="2008882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HexaDrive 4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253901" y="3391346"/>
            <a:ext cx="72390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4" name="Shape 12"/>
          <p:cNvSpPr/>
          <p:nvPr/>
        </p:nvSpPr>
        <p:spPr>
          <a:xfrm>
            <a:off x="253901" y="2967484"/>
            <a:ext cx="114300" cy="114300"/>
          </a:xfrm>
          <a:prstGeom prst="rect">
            <a:avLst/>
          </a:prstGeom>
          <a:solidFill>
            <a:srgbClr val="4EA72E"/>
          </a:solidFill>
          <a:ln/>
        </p:spPr>
      </p:sp>
      <p:sp>
        <p:nvSpPr>
          <p:cNvPr id="15" name="Text 13"/>
          <p:cNvSpPr/>
          <p:nvPr/>
        </p:nvSpPr>
        <p:spPr>
          <a:xfrm>
            <a:off x="406301" y="2859584"/>
            <a:ext cx="3096518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Parafuso Cortical 1.5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3412629" y="2859584"/>
            <a:ext cx="2223641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Ø 1,5 mm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5560070" y="2859584"/>
            <a:ext cx="2008882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HexaDrive 4</a:t>
            </a:r>
            <a:endParaRPr lang="en-US" sz="1575" dirty="0"/>
          </a:p>
        </p:txBody>
      </p:sp>
      <p:sp>
        <p:nvSpPr>
          <p:cNvPr id="18" name="Shape 16"/>
          <p:cNvSpPr/>
          <p:nvPr/>
        </p:nvSpPr>
        <p:spPr>
          <a:xfrm>
            <a:off x="253901" y="4134296"/>
            <a:ext cx="72390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9" name="Shape 17"/>
          <p:cNvSpPr/>
          <p:nvPr/>
        </p:nvSpPr>
        <p:spPr>
          <a:xfrm>
            <a:off x="253901" y="3710434"/>
            <a:ext cx="114300" cy="114300"/>
          </a:xfrm>
          <a:prstGeom prst="rect">
            <a:avLst/>
          </a:prstGeom>
          <a:solidFill>
            <a:srgbClr val="DEBE5C"/>
          </a:solidFill>
          <a:ln/>
        </p:spPr>
      </p:sp>
      <p:sp>
        <p:nvSpPr>
          <p:cNvPr id="20" name="Text 18"/>
          <p:cNvSpPr/>
          <p:nvPr/>
        </p:nvSpPr>
        <p:spPr>
          <a:xfrm>
            <a:off x="406301" y="3602534"/>
            <a:ext cx="3096518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Parafuso Cortical 1.8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3412629" y="3602534"/>
            <a:ext cx="2223641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Ø 1,8 mm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5560070" y="3602534"/>
            <a:ext cx="2008882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HexaDrive 4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253901" y="4877246"/>
            <a:ext cx="723900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24" name="Shape 22"/>
          <p:cNvSpPr/>
          <p:nvPr/>
        </p:nvSpPr>
        <p:spPr>
          <a:xfrm>
            <a:off x="253901" y="4453384"/>
            <a:ext cx="114300" cy="114300"/>
          </a:xfrm>
          <a:prstGeom prst="rect">
            <a:avLst/>
          </a:prstGeom>
          <a:solidFill>
            <a:srgbClr val="4EA72E"/>
          </a:solidFill>
          <a:ln/>
        </p:spPr>
      </p:sp>
      <p:sp>
        <p:nvSpPr>
          <p:cNvPr id="25" name="Text 23"/>
          <p:cNvSpPr/>
          <p:nvPr/>
        </p:nvSpPr>
        <p:spPr>
          <a:xfrm>
            <a:off x="406301" y="4345484"/>
            <a:ext cx="3096518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Parafuso SpeedTip 1.5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3412629" y="4345484"/>
            <a:ext cx="2223641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Ø 1,5 mm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5560070" y="4345484"/>
            <a:ext cx="2008882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HexaDrive 4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7848600" y="1524000"/>
            <a:ext cx="4086225" cy="4381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9" name="Text 27"/>
          <p:cNvSpPr/>
          <p:nvPr/>
        </p:nvSpPr>
        <p:spPr>
          <a:xfrm>
            <a:off x="253901" y="6305550"/>
            <a:ext cx="2006947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Midface / Parafusos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</a:t>
            </a:r>
            <a:endParaRPr lang="en-US" sz="120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17943" b="17943"/>
          <a:stretch/>
        </p:blipFill>
        <p:spPr>
          <a:xfrm>
            <a:off x="6477000" y="0"/>
            <a:ext cx="5715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953500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100000"/>
                </a:srgbClr>
              </a:gs>
              <a:gs pos="56000">
                <a:srgbClr val="000000">
                  <a:alpha val="10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Shape 1"/>
          <p:cNvSpPr/>
          <p:nvPr/>
        </p:nvSpPr>
        <p:spPr>
          <a:xfrm>
            <a:off x="828675" y="718096"/>
            <a:ext cx="30480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Text 2"/>
          <p:cNvSpPr/>
          <p:nvPr/>
        </p:nvSpPr>
        <p:spPr>
          <a:xfrm>
            <a:off x="1266825" y="647700"/>
            <a:ext cx="9060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CAPÍTULO 04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8675" y="1009650"/>
            <a:ext cx="628650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911"/>
              </a:lnSpc>
              <a:buNone/>
            </a:pPr>
            <a:r>
              <a:rPr lang="en-US" sz="4800" spc="-48" kern="0" dirty="0">
                <a:solidFill>
                  <a:srgbClr val="FFFFFF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Mandible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28675" y="2381250"/>
            <a:ext cx="5297805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62"/>
              </a:lnSpc>
              <a:buNone/>
            </a:pPr>
            <a:r>
              <a:rPr lang="en-US" sz="1800" dirty="0">
                <a:solidFill>
                  <a:srgbClr val="FFFFFF">
                    <a:alpha val="7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 côndilo à reconstrução. TriLock em ambos os lados da placa, uma espessura para cada indicação.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7489612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Visão geral das placas do sistema</a:t>
            </a:r>
            <a:endParaRPr lang="en-US" sz="3825" dirty="0"/>
          </a:p>
        </p:txBody>
      </p:sp>
      <p:sp>
        <p:nvSpPr>
          <p:cNvPr id="3" name="Shape 1"/>
          <p:cNvSpPr/>
          <p:nvPr/>
        </p:nvSpPr>
        <p:spPr>
          <a:xfrm>
            <a:off x="253901" y="1047750"/>
            <a:ext cx="116776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4" name="Text 2"/>
          <p:cNvSpPr/>
          <p:nvPr/>
        </p:nvSpPr>
        <p:spPr>
          <a:xfrm>
            <a:off x="253901" y="1333500"/>
            <a:ext cx="5817775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PLACAS TRILOCK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3901" y="1655415"/>
            <a:ext cx="5817775" cy="399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536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Espessura 1,3 mm — semi-rígida*</a:t>
            </a:r>
            <a:endParaRPr lang="en-US" sz="1725" dirty="0"/>
          </a:p>
        </p:txBody>
      </p:sp>
      <p:sp>
        <p:nvSpPr>
          <p:cNvPr id="6" name="Shape 4"/>
          <p:cNvSpPr/>
          <p:nvPr/>
        </p:nvSpPr>
        <p:spPr>
          <a:xfrm>
            <a:off x="253901" y="2150120"/>
            <a:ext cx="5648325" cy="18097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7" name="Text 5"/>
          <p:cNvSpPr/>
          <p:nvPr/>
        </p:nvSpPr>
        <p:spPr>
          <a:xfrm>
            <a:off x="6283226" y="1333500"/>
            <a:ext cx="5817775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PLACAS DE FIXAÇÃO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83226" y="1655415"/>
            <a:ext cx="5817775" cy="399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536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Espessura 1,0 mm — semi-rígida* (azul) e rígida (dourada)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6283226" y="2150120"/>
            <a:ext cx="5648325" cy="18097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0" name="Shape 8"/>
          <p:cNvSpPr/>
          <p:nvPr/>
        </p:nvSpPr>
        <p:spPr>
          <a:xfrm>
            <a:off x="253901" y="4572000"/>
            <a:ext cx="11677650" cy="1143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1" name="Text 9"/>
          <p:cNvSpPr/>
          <p:nvPr/>
        </p:nvSpPr>
        <p:spPr>
          <a:xfrm>
            <a:off x="253901" y="5924550"/>
            <a:ext cx="8829675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*Material semi-rígido é mais fácil de moldar do que material rígido com a mesma geometria de placa.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3901" y="6305550"/>
            <a:ext cx="1869132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Mandible / Placas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</a:t>
            </a:r>
            <a:endParaRPr lang="en-US" sz="12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7827347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Placas TriLock: ponte e mandíbula</a:t>
            </a:r>
            <a:endParaRPr lang="en-US" sz="3825" dirty="0"/>
          </a:p>
        </p:txBody>
      </p:sp>
      <p:sp>
        <p:nvSpPr>
          <p:cNvPr id="3" name="Shape 1"/>
          <p:cNvSpPr/>
          <p:nvPr/>
        </p:nvSpPr>
        <p:spPr>
          <a:xfrm>
            <a:off x="253901" y="1047750"/>
            <a:ext cx="116776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4" name="Text 2"/>
          <p:cNvSpPr/>
          <p:nvPr/>
        </p:nvSpPr>
        <p:spPr>
          <a:xfrm>
            <a:off x="253901" y="1333500"/>
            <a:ext cx="5817775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PLACAS DA PONTE TRILOCK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3901" y="1655415"/>
            <a:ext cx="5817775" cy="399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536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Espessura 2,0 mm — semi-rígida*</a:t>
            </a:r>
            <a:endParaRPr lang="en-US" sz="1725" dirty="0"/>
          </a:p>
        </p:txBody>
      </p:sp>
      <p:sp>
        <p:nvSpPr>
          <p:cNvPr id="6" name="Shape 4"/>
          <p:cNvSpPr/>
          <p:nvPr/>
        </p:nvSpPr>
        <p:spPr>
          <a:xfrm>
            <a:off x="253901" y="2150120"/>
            <a:ext cx="5648325" cy="3810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7" name="Text 5"/>
          <p:cNvSpPr/>
          <p:nvPr/>
        </p:nvSpPr>
        <p:spPr>
          <a:xfrm>
            <a:off x="6283226" y="1333500"/>
            <a:ext cx="5817775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PLACAS DE MANDÍBULA TRILOCK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83226" y="1655415"/>
            <a:ext cx="5817775" cy="399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536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Espessura 1,5 mm — semi-rígida*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6283226" y="2150120"/>
            <a:ext cx="5648325" cy="3810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0" name="Text 8"/>
          <p:cNvSpPr/>
          <p:nvPr/>
        </p:nvSpPr>
        <p:spPr>
          <a:xfrm>
            <a:off x="253901" y="5924550"/>
            <a:ext cx="8829675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*Material semi-rígido é mais fácil de moldar do que material rígido com a mesma geometria de placa.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3901" y="6305550"/>
            <a:ext cx="1869132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Mandible / Placas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</a:t>
            </a:r>
            <a:endParaRPr lang="en-US" sz="1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85750"/>
            <a:ext cx="781496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INDICAÇÃO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53901" y="495300"/>
            <a:ext cx="4394656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Fraturas condilares</a:t>
            </a:r>
            <a:endParaRPr lang="en-US" sz="3825" dirty="0"/>
          </a:p>
        </p:txBody>
      </p:sp>
      <p:sp>
        <p:nvSpPr>
          <p:cNvPr id="4" name="Shape 2"/>
          <p:cNvSpPr/>
          <p:nvPr/>
        </p:nvSpPr>
        <p:spPr>
          <a:xfrm>
            <a:off x="253901" y="1238250"/>
            <a:ext cx="116776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Text 3"/>
          <p:cNvSpPr/>
          <p:nvPr/>
        </p:nvSpPr>
        <p:spPr>
          <a:xfrm>
            <a:off x="253901" y="1504950"/>
            <a:ext cx="258321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Placa de côndilo TriLock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038481" y="1543050"/>
            <a:ext cx="2979862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Espessura 1,3 mm — semi-rígido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253901" y="1905000"/>
            <a:ext cx="2776538" cy="1905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Text 6"/>
          <p:cNvSpPr/>
          <p:nvPr/>
        </p:nvSpPr>
        <p:spPr>
          <a:xfrm>
            <a:off x="253901" y="3905250"/>
            <a:ext cx="2859834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M2-4654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220938" y="1905000"/>
            <a:ext cx="2776538" cy="1905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0" name="Text 8"/>
          <p:cNvSpPr/>
          <p:nvPr/>
        </p:nvSpPr>
        <p:spPr>
          <a:xfrm>
            <a:off x="3220938" y="3905250"/>
            <a:ext cx="2859834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M2-4656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87976" y="1905000"/>
            <a:ext cx="2776538" cy="1905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2" name="Text 10"/>
          <p:cNvSpPr/>
          <p:nvPr/>
        </p:nvSpPr>
        <p:spPr>
          <a:xfrm>
            <a:off x="6187976" y="3905250"/>
            <a:ext cx="2859834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M2-4660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55013" y="1905000"/>
            <a:ext cx="2776538" cy="1905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4" name="Text 12"/>
          <p:cNvSpPr/>
          <p:nvPr/>
        </p:nvSpPr>
        <p:spPr>
          <a:xfrm>
            <a:off x="9155013" y="3905250"/>
            <a:ext cx="2859834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M2-4662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53901" y="4476750"/>
            <a:ext cx="258321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Placa de côndilo TriLock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038481" y="4514850"/>
            <a:ext cx="2979862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Espessura 1,5 mm — semi-rígido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253901" y="4838700"/>
            <a:ext cx="2776538" cy="952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8" name="Text 16"/>
          <p:cNvSpPr/>
          <p:nvPr/>
        </p:nvSpPr>
        <p:spPr>
          <a:xfrm>
            <a:off x="253901" y="5867400"/>
            <a:ext cx="2859834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M2-4664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220938" y="5527477"/>
            <a:ext cx="2859834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8585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M2-4658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220938" y="5867400"/>
            <a:ext cx="2859834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8585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M2-4692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53901" y="6305550"/>
            <a:ext cx="2604641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Mandible / Fraturas condilares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</a:t>
            </a:r>
            <a:endParaRPr lang="en-US" sz="12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85750"/>
            <a:ext cx="781496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INDICAÇÃO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53901" y="495300"/>
            <a:ext cx="8983638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Fraturas condilares — placas de fixação</a:t>
            </a:r>
            <a:endParaRPr lang="en-US" sz="3825" dirty="0"/>
          </a:p>
        </p:txBody>
      </p:sp>
      <p:sp>
        <p:nvSpPr>
          <p:cNvPr id="4" name="Shape 2"/>
          <p:cNvSpPr/>
          <p:nvPr/>
        </p:nvSpPr>
        <p:spPr>
          <a:xfrm>
            <a:off x="253901" y="1238250"/>
            <a:ext cx="116776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Text 3"/>
          <p:cNvSpPr/>
          <p:nvPr/>
        </p:nvSpPr>
        <p:spPr>
          <a:xfrm>
            <a:off x="253901" y="1504950"/>
            <a:ext cx="1893987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Placas condilares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038481" y="1543050"/>
            <a:ext cx="2979862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Espessura 1,0 mm — semi-rígido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253901" y="1905000"/>
            <a:ext cx="3765500" cy="2095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Text 6"/>
          <p:cNvSpPr/>
          <p:nvPr/>
        </p:nvSpPr>
        <p:spPr>
          <a:xfrm>
            <a:off x="253901" y="4095750"/>
            <a:ext cx="3878465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M2-4852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09901" y="1905000"/>
            <a:ext cx="3765500" cy="2095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0" name="Text 8"/>
          <p:cNvSpPr/>
          <p:nvPr/>
        </p:nvSpPr>
        <p:spPr>
          <a:xfrm>
            <a:off x="4209901" y="4095750"/>
            <a:ext cx="3878465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M2-4854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65902" y="1905000"/>
            <a:ext cx="3765649" cy="2095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2" name="Text 10"/>
          <p:cNvSpPr/>
          <p:nvPr/>
        </p:nvSpPr>
        <p:spPr>
          <a:xfrm>
            <a:off x="8165902" y="4095750"/>
            <a:ext cx="3878619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M2-4894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53901" y="4667250"/>
            <a:ext cx="2853549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Placas da mandíbula, retas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550003" y="4705350"/>
            <a:ext cx="2457748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Espessura 1,0 mm — rígido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253901" y="5029200"/>
            <a:ext cx="5715000" cy="762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6" name="Text 14"/>
          <p:cNvSpPr/>
          <p:nvPr/>
        </p:nvSpPr>
        <p:spPr>
          <a:xfrm>
            <a:off x="253901" y="5867400"/>
            <a:ext cx="58864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M2-4300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53901" y="6305550"/>
            <a:ext cx="2604641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Mandible / Fraturas condilares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</a:t>
            </a:r>
            <a:endParaRPr lang="en-US" sz="12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85750"/>
            <a:ext cx="781496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INDICAÇÃO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53901" y="495300"/>
            <a:ext cx="7951277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Fraturas no corpo: fraturas simples</a:t>
            </a:r>
            <a:endParaRPr lang="en-US" sz="3825" dirty="0"/>
          </a:p>
        </p:txBody>
      </p:sp>
      <p:sp>
        <p:nvSpPr>
          <p:cNvPr id="4" name="Shape 2"/>
          <p:cNvSpPr/>
          <p:nvPr/>
        </p:nvSpPr>
        <p:spPr>
          <a:xfrm>
            <a:off x="253901" y="1238250"/>
            <a:ext cx="116776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Text 3"/>
          <p:cNvSpPr/>
          <p:nvPr/>
        </p:nvSpPr>
        <p:spPr>
          <a:xfrm>
            <a:off x="253901" y="1504950"/>
            <a:ext cx="3232949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Placas de compressão de rede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038481" y="1543050"/>
            <a:ext cx="2979862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Espessura 1,0 mm — semi-rígido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253901" y="1905000"/>
            <a:ext cx="2790825" cy="1905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Text 6"/>
          <p:cNvSpPr/>
          <p:nvPr/>
        </p:nvSpPr>
        <p:spPr>
          <a:xfrm>
            <a:off x="253901" y="3905250"/>
            <a:ext cx="28745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M2-4884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216176" y="1905000"/>
            <a:ext cx="2790825" cy="1905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0" name="Text 8"/>
          <p:cNvSpPr/>
          <p:nvPr/>
        </p:nvSpPr>
        <p:spPr>
          <a:xfrm>
            <a:off x="3216176" y="3905250"/>
            <a:ext cx="28745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M2-4886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78451" y="1905000"/>
            <a:ext cx="2790825" cy="1905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2" name="Text 10"/>
          <p:cNvSpPr/>
          <p:nvPr/>
        </p:nvSpPr>
        <p:spPr>
          <a:xfrm>
            <a:off x="6178451" y="3905250"/>
            <a:ext cx="28745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M2-4882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40726" y="1905000"/>
            <a:ext cx="2790825" cy="1905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0726" y="3905250"/>
            <a:ext cx="28745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M2-4884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53901" y="4476750"/>
            <a:ext cx="2853549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Placas da mandíbula, retas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50003" y="4514850"/>
            <a:ext cx="2457748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Espessura 1,0 mm — rígido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253901" y="4838700"/>
            <a:ext cx="5753100" cy="10477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8" name="Text 16"/>
          <p:cNvSpPr/>
          <p:nvPr/>
        </p:nvSpPr>
        <p:spPr>
          <a:xfrm>
            <a:off x="253901" y="5962650"/>
            <a:ext cx="5925693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M2-4300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78451" y="4838700"/>
            <a:ext cx="5753100" cy="10477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0" name="Text 18"/>
          <p:cNvSpPr/>
          <p:nvPr/>
        </p:nvSpPr>
        <p:spPr>
          <a:xfrm>
            <a:off x="6178451" y="5962650"/>
            <a:ext cx="5925693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M2-4384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53901" y="6305550"/>
            <a:ext cx="2518023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Mandible / Fraturas do corpo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</a:t>
            </a:r>
            <a:endParaRPr lang="en-US" sz="12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85750"/>
            <a:ext cx="781496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INDICAÇÃO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53901" y="495300"/>
            <a:ext cx="6616378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Fraturas no corpo: cominutas</a:t>
            </a:r>
            <a:endParaRPr lang="en-US" sz="3825" dirty="0"/>
          </a:p>
        </p:txBody>
      </p:sp>
      <p:sp>
        <p:nvSpPr>
          <p:cNvPr id="4" name="Shape 2"/>
          <p:cNvSpPr/>
          <p:nvPr/>
        </p:nvSpPr>
        <p:spPr>
          <a:xfrm>
            <a:off x="253901" y="1238250"/>
            <a:ext cx="116776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Text 3"/>
          <p:cNvSpPr/>
          <p:nvPr/>
        </p:nvSpPr>
        <p:spPr>
          <a:xfrm>
            <a:off x="253901" y="1504950"/>
            <a:ext cx="2446734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Grade mediana TriLock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62127" y="1562100"/>
            <a:ext cx="1816298" cy="336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304"/>
              </a:lnSpc>
              <a:buNone/>
            </a:pPr>
            <a:r>
              <a:rPr lang="en-US" sz="142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1,3 mm — semi-rígida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253901" y="1996380"/>
            <a:ext cx="5648325" cy="21907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Text 6"/>
          <p:cNvSpPr/>
          <p:nvPr/>
        </p:nvSpPr>
        <p:spPr>
          <a:xfrm>
            <a:off x="253901" y="4301430"/>
            <a:ext cx="5817775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M2-4621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83226" y="1504950"/>
            <a:ext cx="1631454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Grade mediana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191452" y="1562100"/>
            <a:ext cx="1816298" cy="336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304"/>
              </a:lnSpc>
              <a:buNone/>
            </a:pPr>
            <a:r>
              <a:rPr lang="en-US" sz="142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1,0 mm — semi-rígida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6283226" y="1996380"/>
            <a:ext cx="5648325" cy="21907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2" name="Text 10"/>
          <p:cNvSpPr/>
          <p:nvPr/>
        </p:nvSpPr>
        <p:spPr>
          <a:xfrm>
            <a:off x="6283226" y="4301430"/>
            <a:ext cx="5817775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M2-4829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53901" y="4476750"/>
            <a:ext cx="2993812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Placas paramedianas, grade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120735" y="4514850"/>
            <a:ext cx="887016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M2-4613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253901" y="4838700"/>
            <a:ext cx="5715000" cy="1143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6" name="Text 14"/>
          <p:cNvSpPr/>
          <p:nvPr/>
        </p:nvSpPr>
        <p:spPr>
          <a:xfrm>
            <a:off x="253901" y="6305550"/>
            <a:ext cx="2518023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Mandible / Fraturas do corpo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</a:t>
            </a:r>
            <a:endParaRPr lang="en-US" sz="12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85750"/>
            <a:ext cx="781496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INDICAÇÃO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53901" y="495300"/>
            <a:ext cx="9264729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Fraturas cominutas — placas anatômicas</a:t>
            </a:r>
            <a:endParaRPr lang="en-US" sz="3825" dirty="0"/>
          </a:p>
        </p:txBody>
      </p:sp>
      <p:sp>
        <p:nvSpPr>
          <p:cNvPr id="4" name="Shape 2"/>
          <p:cNvSpPr/>
          <p:nvPr/>
        </p:nvSpPr>
        <p:spPr>
          <a:xfrm>
            <a:off x="253901" y="1238250"/>
            <a:ext cx="116776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Text 3"/>
          <p:cNvSpPr/>
          <p:nvPr/>
        </p:nvSpPr>
        <p:spPr>
          <a:xfrm>
            <a:off x="253901" y="1504950"/>
            <a:ext cx="2905975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Placas TriLock, anatômicas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038481" y="1543050"/>
            <a:ext cx="2979862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Espessura 1,5 mm — semi-rígido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253901" y="1962150"/>
            <a:ext cx="5695950" cy="3810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Shape 6"/>
          <p:cNvSpPr/>
          <p:nvPr/>
        </p:nvSpPr>
        <p:spPr>
          <a:xfrm>
            <a:off x="6235601" y="1962150"/>
            <a:ext cx="5695950" cy="3810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9" name="Text 7"/>
          <p:cNvSpPr/>
          <p:nvPr/>
        </p:nvSpPr>
        <p:spPr>
          <a:xfrm>
            <a:off x="253901" y="6305550"/>
            <a:ext cx="2518023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Mandible / Fraturas do corpo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85750"/>
            <a:ext cx="781496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INDICAÇÃO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53901" y="495300"/>
            <a:ext cx="8634115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Fraturas de ramo e ângulo — TriLock</a:t>
            </a:r>
            <a:endParaRPr lang="en-US" sz="3825" dirty="0"/>
          </a:p>
        </p:txBody>
      </p:sp>
      <p:sp>
        <p:nvSpPr>
          <p:cNvPr id="4" name="Shape 2"/>
          <p:cNvSpPr/>
          <p:nvPr/>
        </p:nvSpPr>
        <p:spPr>
          <a:xfrm>
            <a:off x="253901" y="1238250"/>
            <a:ext cx="116776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Text 3"/>
          <p:cNvSpPr/>
          <p:nvPr/>
        </p:nvSpPr>
        <p:spPr>
          <a:xfrm>
            <a:off x="253901" y="1504950"/>
            <a:ext cx="2905975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Placas TriLock, anatômicas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209752" y="1562100"/>
            <a:ext cx="1816298" cy="336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304"/>
              </a:lnSpc>
              <a:buNone/>
            </a:pPr>
            <a:r>
              <a:rPr lang="en-US" sz="142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1,5 mm — semi-rígida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253901" y="1996380"/>
            <a:ext cx="5695950" cy="23812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Text 6"/>
          <p:cNvSpPr/>
          <p:nvPr/>
        </p:nvSpPr>
        <p:spPr>
          <a:xfrm>
            <a:off x="253901" y="4491930"/>
            <a:ext cx="5866829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M2-4638 (direita) / M2-4637 (esquerda)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35601" y="1504950"/>
            <a:ext cx="3789862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Ângulo da mandíbula TriLock, grade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191452" y="1562100"/>
            <a:ext cx="1816298" cy="336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304"/>
              </a:lnSpc>
              <a:buNone/>
            </a:pPr>
            <a:r>
              <a:rPr lang="en-US" sz="142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1,3 mm — semi-rígida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6235601" y="1996380"/>
            <a:ext cx="5695950" cy="23812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2" name="Text 10"/>
          <p:cNvSpPr/>
          <p:nvPr/>
        </p:nvSpPr>
        <p:spPr>
          <a:xfrm>
            <a:off x="6235601" y="4491930"/>
            <a:ext cx="5866829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M2-4652 (direita) / M2-4651 (esquerda)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53901" y="4953000"/>
            <a:ext cx="5715000" cy="952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4" name="Text 12"/>
          <p:cNvSpPr/>
          <p:nvPr/>
        </p:nvSpPr>
        <p:spPr>
          <a:xfrm>
            <a:off x="253901" y="5981700"/>
            <a:ext cx="58864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M2-4618 (direita) / M2-4617 (esquerda)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53901" y="6305550"/>
            <a:ext cx="2360116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Mandible / Ramo e ângulo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</a:t>
            </a:r>
            <a:endParaRPr lang="en-US" sz="12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85750"/>
            <a:ext cx="781496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INDICAÇÃO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53901" y="495300"/>
            <a:ext cx="8379872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Fraturas de ramo e ângulo — fixação</a:t>
            </a:r>
            <a:endParaRPr lang="en-US" sz="3825" dirty="0"/>
          </a:p>
        </p:txBody>
      </p:sp>
      <p:sp>
        <p:nvSpPr>
          <p:cNvPr id="4" name="Shape 2"/>
          <p:cNvSpPr/>
          <p:nvPr/>
        </p:nvSpPr>
        <p:spPr>
          <a:xfrm>
            <a:off x="253901" y="1238250"/>
            <a:ext cx="116776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Text 3"/>
          <p:cNvSpPr/>
          <p:nvPr/>
        </p:nvSpPr>
        <p:spPr>
          <a:xfrm>
            <a:off x="253901" y="1504950"/>
            <a:ext cx="295012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Ângulo da mandíbula, grade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206329" y="1562100"/>
            <a:ext cx="1819721" cy="336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304"/>
              </a:lnSpc>
              <a:buNone/>
            </a:pPr>
            <a:r>
              <a:rPr lang="en-US" sz="142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1,0 mm — semi-rígido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253901" y="1996380"/>
            <a:ext cx="5695950" cy="23812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Text 6"/>
          <p:cNvSpPr/>
          <p:nvPr/>
        </p:nvSpPr>
        <p:spPr>
          <a:xfrm>
            <a:off x="253901" y="4491930"/>
            <a:ext cx="5866829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M2-4856 (direita) / M2-4843 (esquerda)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35601" y="1504950"/>
            <a:ext cx="295012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Ângulo da mandíbula, grade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188029" y="1562100"/>
            <a:ext cx="1819721" cy="336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304"/>
              </a:lnSpc>
              <a:buNone/>
            </a:pPr>
            <a:r>
              <a:rPr lang="en-US" sz="142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1,0 mm — semi-rígido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6235601" y="1996380"/>
            <a:ext cx="5695950" cy="23812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2" name="Text 10"/>
          <p:cNvSpPr/>
          <p:nvPr/>
        </p:nvSpPr>
        <p:spPr>
          <a:xfrm>
            <a:off x="6235601" y="4491930"/>
            <a:ext cx="5866829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M2-4848 (direita) / M2-4847 (esquerda)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53901" y="4953000"/>
            <a:ext cx="4604154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Placas da mandíbula, retas — 1,0 mm rígido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29143" y="5029200"/>
            <a:ext cx="1478607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8585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M2-4324 / M2-4384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53901" y="5314950"/>
            <a:ext cx="5715000" cy="762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6" name="Text 14"/>
          <p:cNvSpPr/>
          <p:nvPr/>
        </p:nvSpPr>
        <p:spPr>
          <a:xfrm>
            <a:off x="253901" y="6305550"/>
            <a:ext cx="2360116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Mandible / Ramo e ângulo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</a:t>
            </a:r>
            <a:endParaRPr lang="en-US" sz="12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85750"/>
            <a:ext cx="781496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INDICAÇÃO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53901" y="495300"/>
            <a:ext cx="7209502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Fraturas atróficas da mandíbula</a:t>
            </a:r>
            <a:endParaRPr lang="en-US" sz="3825" dirty="0"/>
          </a:p>
        </p:txBody>
      </p:sp>
      <p:sp>
        <p:nvSpPr>
          <p:cNvPr id="4" name="Shape 2"/>
          <p:cNvSpPr/>
          <p:nvPr/>
        </p:nvSpPr>
        <p:spPr>
          <a:xfrm>
            <a:off x="253901" y="1238250"/>
            <a:ext cx="116776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Text 3"/>
          <p:cNvSpPr/>
          <p:nvPr/>
        </p:nvSpPr>
        <p:spPr>
          <a:xfrm>
            <a:off x="253901" y="1504950"/>
            <a:ext cx="2905975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Placas TriLock, anatômicas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206329" y="1562100"/>
            <a:ext cx="1819721" cy="336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304"/>
              </a:lnSpc>
              <a:buNone/>
            </a:pPr>
            <a:r>
              <a:rPr lang="en-US" sz="142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1,5 mm — semi-rígido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253901" y="1996380"/>
            <a:ext cx="5695950" cy="3619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Text 6"/>
          <p:cNvSpPr/>
          <p:nvPr/>
        </p:nvSpPr>
        <p:spPr>
          <a:xfrm>
            <a:off x="6235601" y="1504950"/>
            <a:ext cx="349232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Placas TriLock Pencilbone, grade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188029" y="1562100"/>
            <a:ext cx="1819721" cy="336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304"/>
              </a:lnSpc>
              <a:buNone/>
            </a:pPr>
            <a:r>
              <a:rPr lang="en-US" sz="142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1,3 mm — semi-rígido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6235601" y="1996380"/>
            <a:ext cx="5695950" cy="3619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1" name="Text 9"/>
          <p:cNvSpPr/>
          <p:nvPr/>
        </p:nvSpPr>
        <p:spPr>
          <a:xfrm>
            <a:off x="253901" y="6305550"/>
            <a:ext cx="2569369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Mandible / Mandíbula atrófica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</a:t>
            </a:r>
            <a:endParaRPr lang="en-US" sz="1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85750"/>
            <a:ext cx="781496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INDICAÇÃO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53901" y="495300"/>
            <a:ext cx="3036347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Reconstrução</a:t>
            </a:r>
            <a:endParaRPr lang="en-US" sz="3825" dirty="0"/>
          </a:p>
        </p:txBody>
      </p:sp>
      <p:sp>
        <p:nvSpPr>
          <p:cNvPr id="4" name="Shape 2"/>
          <p:cNvSpPr/>
          <p:nvPr/>
        </p:nvSpPr>
        <p:spPr>
          <a:xfrm>
            <a:off x="253901" y="1238250"/>
            <a:ext cx="116776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Text 3"/>
          <p:cNvSpPr/>
          <p:nvPr/>
        </p:nvSpPr>
        <p:spPr>
          <a:xfrm>
            <a:off x="253901" y="1504950"/>
            <a:ext cx="2905975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Placas TriLock, anatômicas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038481" y="1543050"/>
            <a:ext cx="2979862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Espessura 1,5 mm — semi-rígido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253901" y="1962150"/>
            <a:ext cx="11677650" cy="3810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Text 6"/>
          <p:cNvSpPr/>
          <p:nvPr/>
        </p:nvSpPr>
        <p:spPr>
          <a:xfrm>
            <a:off x="253901" y="6305550"/>
            <a:ext cx="2294483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Mandible / Reconstrução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85750"/>
            <a:ext cx="781496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INDICAÇÃO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53901" y="495300"/>
            <a:ext cx="8299653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Reconstrução — grade e placas retas</a:t>
            </a:r>
            <a:endParaRPr lang="en-US" sz="3825" dirty="0"/>
          </a:p>
        </p:txBody>
      </p:sp>
      <p:sp>
        <p:nvSpPr>
          <p:cNvPr id="4" name="Shape 2"/>
          <p:cNvSpPr/>
          <p:nvPr/>
        </p:nvSpPr>
        <p:spPr>
          <a:xfrm>
            <a:off x="253901" y="1238250"/>
            <a:ext cx="116776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Text 3"/>
          <p:cNvSpPr/>
          <p:nvPr/>
        </p:nvSpPr>
        <p:spPr>
          <a:xfrm>
            <a:off x="253901" y="1504950"/>
            <a:ext cx="2272159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Placas TriLock, grade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206329" y="1562100"/>
            <a:ext cx="1819721" cy="336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304"/>
              </a:lnSpc>
              <a:buNone/>
            </a:pPr>
            <a:r>
              <a:rPr lang="en-US" sz="142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1,3 mm — semi-rígido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253901" y="1996380"/>
            <a:ext cx="5695950" cy="3619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Text 6"/>
          <p:cNvSpPr/>
          <p:nvPr/>
        </p:nvSpPr>
        <p:spPr>
          <a:xfrm>
            <a:off x="6235601" y="1504950"/>
            <a:ext cx="2853549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Placas da mandíbula, retas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50736" y="1562100"/>
            <a:ext cx="1357015" cy="336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304"/>
              </a:lnSpc>
              <a:buNone/>
            </a:pPr>
            <a:r>
              <a:rPr lang="en-US" sz="142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1,0 mm — rígido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6235601" y="1996380"/>
            <a:ext cx="5695950" cy="3619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1" name="Text 9"/>
          <p:cNvSpPr/>
          <p:nvPr/>
        </p:nvSpPr>
        <p:spPr>
          <a:xfrm>
            <a:off x="253901" y="6305550"/>
            <a:ext cx="2294483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Mandible / Reconstrução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</a:t>
            </a:r>
            <a:endParaRPr lang="en-US" sz="1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85750"/>
            <a:ext cx="781496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INDICAÇÃO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53901" y="495300"/>
            <a:ext cx="5804208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Ponte de um defeito ósseo</a:t>
            </a:r>
            <a:endParaRPr lang="en-US" sz="3825" dirty="0"/>
          </a:p>
        </p:txBody>
      </p:sp>
      <p:sp>
        <p:nvSpPr>
          <p:cNvPr id="4" name="Shape 2"/>
          <p:cNvSpPr/>
          <p:nvPr/>
        </p:nvSpPr>
        <p:spPr>
          <a:xfrm>
            <a:off x="253901" y="1238250"/>
            <a:ext cx="116776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Text 3"/>
          <p:cNvSpPr/>
          <p:nvPr/>
        </p:nvSpPr>
        <p:spPr>
          <a:xfrm>
            <a:off x="253901" y="1504950"/>
            <a:ext cx="2540794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Placas da ponte TriLock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038481" y="1543050"/>
            <a:ext cx="2979862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Espessura 2,0 mm — semi-rígido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253901" y="1962150"/>
            <a:ext cx="5695950" cy="3810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Shape 6"/>
          <p:cNvSpPr/>
          <p:nvPr/>
        </p:nvSpPr>
        <p:spPr>
          <a:xfrm>
            <a:off x="6235601" y="1962150"/>
            <a:ext cx="5695950" cy="3810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9" name="Text 7"/>
          <p:cNvSpPr/>
          <p:nvPr/>
        </p:nvSpPr>
        <p:spPr>
          <a:xfrm>
            <a:off x="253901" y="6305550"/>
            <a:ext cx="2200870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Mandible / Ponte óssea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5511329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Placas da ponte TriLock</a:t>
            </a:r>
            <a:endParaRPr lang="en-US" sz="3825" dirty="0"/>
          </a:p>
        </p:txBody>
      </p:sp>
      <p:sp>
        <p:nvSpPr>
          <p:cNvPr id="3" name="Shape 1"/>
          <p:cNvSpPr/>
          <p:nvPr/>
        </p:nvSpPr>
        <p:spPr>
          <a:xfrm>
            <a:off x="253901" y="1047750"/>
            <a:ext cx="116776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4" name="Shape 2"/>
          <p:cNvSpPr/>
          <p:nvPr/>
        </p:nvSpPr>
        <p:spPr>
          <a:xfrm>
            <a:off x="253901" y="1333500"/>
            <a:ext cx="2776538" cy="3048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253901" y="4495800"/>
            <a:ext cx="285983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Defeitos centrais e duplamente laterais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20938" y="1333500"/>
            <a:ext cx="2776538" cy="3048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7" name="Text 5"/>
          <p:cNvSpPr/>
          <p:nvPr/>
        </p:nvSpPr>
        <p:spPr>
          <a:xfrm>
            <a:off x="3220938" y="4495800"/>
            <a:ext cx="285983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Defeitos laterais / hemimandibulares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87976" y="1333500"/>
            <a:ext cx="2776538" cy="3048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9" name="Text 7"/>
          <p:cNvSpPr/>
          <p:nvPr/>
        </p:nvSpPr>
        <p:spPr>
          <a:xfrm>
            <a:off x="6187976" y="4495800"/>
            <a:ext cx="285983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Prótese temporomandibular temporária com elemento transportador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55013" y="1333500"/>
            <a:ext cx="2776538" cy="3048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1" name="Text 9"/>
          <p:cNvSpPr/>
          <p:nvPr/>
        </p:nvSpPr>
        <p:spPr>
          <a:xfrm>
            <a:off x="9155013" y="4495800"/>
            <a:ext cx="285983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Adaptador C para placas de ponte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3901" y="6305550"/>
            <a:ext cx="2414141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Mandible / Placas da ponte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</a:t>
            </a:r>
            <a:endParaRPr lang="en-US" sz="12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7259762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Portfólio de placas de mandíbula</a:t>
            </a:r>
            <a:endParaRPr lang="en-US" sz="3825" dirty="0"/>
          </a:p>
        </p:txBody>
      </p:sp>
      <p:sp>
        <p:nvSpPr>
          <p:cNvPr id="3" name="Text 1"/>
          <p:cNvSpPr/>
          <p:nvPr/>
        </p:nvSpPr>
        <p:spPr>
          <a:xfrm>
            <a:off x="253901" y="876300"/>
            <a:ext cx="9429750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00"/>
              </a:lnSpc>
              <a:buNone/>
            </a:pPr>
            <a:r>
              <a:rPr lang="en-US" sz="157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Cinco famílias cobrem a mandíbula inteira — do côndilo à grade de compressão.</a:t>
            </a:r>
            <a:endParaRPr lang="en-US" sz="1575" dirty="0"/>
          </a:p>
        </p:txBody>
      </p:sp>
      <p:sp>
        <p:nvSpPr>
          <p:cNvPr id="4" name="Shape 2"/>
          <p:cNvSpPr/>
          <p:nvPr/>
        </p:nvSpPr>
        <p:spPr>
          <a:xfrm>
            <a:off x="253901" y="1524000"/>
            <a:ext cx="116776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Shape 3"/>
          <p:cNvSpPr/>
          <p:nvPr/>
        </p:nvSpPr>
        <p:spPr>
          <a:xfrm>
            <a:off x="253901" y="1809750"/>
            <a:ext cx="2198340" cy="2667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" name="Text 4"/>
          <p:cNvSpPr/>
          <p:nvPr/>
        </p:nvSpPr>
        <p:spPr>
          <a:xfrm>
            <a:off x="253901" y="4591050"/>
            <a:ext cx="241817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Placas de côndilo TriLock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623691" y="1809750"/>
            <a:ext cx="2198340" cy="2667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Text 6"/>
          <p:cNvSpPr/>
          <p:nvPr/>
        </p:nvSpPr>
        <p:spPr>
          <a:xfrm>
            <a:off x="2623691" y="4591050"/>
            <a:ext cx="241817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TriLock, anatômicas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993481" y="1809750"/>
            <a:ext cx="2198340" cy="2667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0" name="Text 8"/>
          <p:cNvSpPr/>
          <p:nvPr/>
        </p:nvSpPr>
        <p:spPr>
          <a:xfrm>
            <a:off x="4993481" y="4591050"/>
            <a:ext cx="227454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Ângulo de mandíbula TriLock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63271" y="1809750"/>
            <a:ext cx="2198340" cy="2667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2" name="Text 10"/>
          <p:cNvSpPr/>
          <p:nvPr/>
        </p:nvSpPr>
        <p:spPr>
          <a:xfrm>
            <a:off x="7363271" y="4591050"/>
            <a:ext cx="241817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Placas de grade TriLock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733062" y="1809750"/>
            <a:ext cx="2198489" cy="2667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4" name="Text 12"/>
          <p:cNvSpPr/>
          <p:nvPr/>
        </p:nvSpPr>
        <p:spPr>
          <a:xfrm>
            <a:off x="9733062" y="4591050"/>
            <a:ext cx="24183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Placas retas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3901" y="6305550"/>
            <a:ext cx="1973759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Mandible / Portfólio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</a:t>
            </a:r>
            <a:endParaRPr lang="en-US" sz="12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5322243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Características da placa</a:t>
            </a:r>
            <a:endParaRPr lang="en-US" sz="3825" dirty="0"/>
          </a:p>
        </p:txBody>
      </p:sp>
      <p:sp>
        <p:nvSpPr>
          <p:cNvPr id="3" name="Shape 1"/>
          <p:cNvSpPr/>
          <p:nvPr/>
        </p:nvSpPr>
        <p:spPr>
          <a:xfrm>
            <a:off x="253901" y="1047750"/>
            <a:ext cx="571500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4" name="Text 2"/>
          <p:cNvSpPr/>
          <p:nvPr/>
        </p:nvSpPr>
        <p:spPr>
          <a:xfrm>
            <a:off x="253901" y="1333500"/>
            <a:ext cx="186630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539651" y="1343025"/>
            <a:ext cx="344740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Furos TriLock em ambos os lados*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253901" y="1914971"/>
            <a:ext cx="186630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539651" y="1924496"/>
            <a:ext cx="17609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Ajuste anatômico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253901" y="2496443"/>
            <a:ext cx="186630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539651" y="2505968"/>
            <a:ext cx="2835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Adaptável na região do ramo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253901" y="3077914"/>
            <a:ext cx="186630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539651" y="3087439"/>
            <a:ext cx="19234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Estrutura em grade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253901" y="3810000"/>
            <a:ext cx="571500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13" name="Text 11"/>
          <p:cNvSpPr/>
          <p:nvPr/>
        </p:nvSpPr>
        <p:spPr>
          <a:xfrm>
            <a:off x="253901" y="4038600"/>
            <a:ext cx="588645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*Comparado a placas com furos TriLock em um só lado.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24600" y="1333500"/>
            <a:ext cx="2709863" cy="21907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5" name="Shape 13"/>
          <p:cNvSpPr/>
          <p:nvPr/>
        </p:nvSpPr>
        <p:spPr>
          <a:xfrm>
            <a:off x="9224963" y="1333500"/>
            <a:ext cx="2709863" cy="21907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6" name="Text 14"/>
          <p:cNvSpPr/>
          <p:nvPr/>
        </p:nvSpPr>
        <p:spPr>
          <a:xfrm>
            <a:off x="253901" y="6305550"/>
            <a:ext cx="2355800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Mandible / Características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</a:t>
            </a:r>
            <a:endParaRPr lang="en-US" sz="12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10477500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Mais estável, com perfil menor</a:t>
            </a:r>
            <a:endParaRPr lang="en-US" sz="3825" dirty="0"/>
          </a:p>
        </p:txBody>
      </p:sp>
      <p:sp>
        <p:nvSpPr>
          <p:cNvPr id="3" name="Text 1"/>
          <p:cNvSpPr/>
          <p:nvPr/>
        </p:nvSpPr>
        <p:spPr>
          <a:xfrm>
            <a:off x="253901" y="914400"/>
            <a:ext cx="8829675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00"/>
              </a:lnSpc>
              <a:buNone/>
            </a:pPr>
            <a:r>
              <a:rPr lang="en-US" sz="157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Teste cíclico com força crescente até a falha. Novas placas de ponte comparadas ao MODUS 2.5 Reco.</a:t>
            </a:r>
            <a:endParaRPr lang="en-US" sz="1575" dirty="0"/>
          </a:p>
        </p:txBody>
      </p:sp>
      <p:sp>
        <p:nvSpPr>
          <p:cNvPr id="4" name="Shape 2"/>
          <p:cNvSpPr/>
          <p:nvPr/>
        </p:nvSpPr>
        <p:spPr>
          <a:xfrm>
            <a:off x="253901" y="1619250"/>
            <a:ext cx="116776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Text 3"/>
          <p:cNvSpPr/>
          <p:nvPr/>
        </p:nvSpPr>
        <p:spPr>
          <a:xfrm>
            <a:off x="253901" y="1905000"/>
            <a:ext cx="5817775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2.5 RECO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3901" y="2226915"/>
            <a:ext cx="5648325" cy="23812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7" name="Text 5"/>
          <p:cNvSpPr/>
          <p:nvPr/>
        </p:nvSpPr>
        <p:spPr>
          <a:xfrm>
            <a:off x="253901" y="4741515"/>
            <a:ext cx="173353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481"/>
              </a:lnSpc>
              <a:buNone/>
            </a:pPr>
            <a:r>
              <a:rPr lang="en-US" sz="330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128.589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253901" y="5160615"/>
            <a:ext cx="1652141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ciclos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210842" y="4741515"/>
            <a:ext cx="124554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481"/>
              </a:lnSpc>
              <a:buNone/>
            </a:pPr>
            <a:r>
              <a:rPr lang="en-US" sz="330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323 N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210842" y="5160615"/>
            <a:ext cx="1245543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 máx.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83226" y="1905000"/>
            <a:ext cx="5817775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NOVA PLACA DE PONTE MODUS 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83226" y="2226915"/>
            <a:ext cx="5648325" cy="23812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3" name="Text 11"/>
          <p:cNvSpPr/>
          <p:nvPr/>
        </p:nvSpPr>
        <p:spPr>
          <a:xfrm>
            <a:off x="6283226" y="4741515"/>
            <a:ext cx="173353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481"/>
              </a:lnSpc>
              <a:buNone/>
            </a:pPr>
            <a:r>
              <a:rPr lang="en-US" sz="330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176.407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6283226" y="5160615"/>
            <a:ext cx="1652141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ciclos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40167" y="4741515"/>
            <a:ext cx="124554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481"/>
              </a:lnSpc>
              <a:buNone/>
            </a:pPr>
            <a:r>
              <a:rPr lang="en-US" sz="330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649 N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8240167" y="5160615"/>
            <a:ext cx="1245543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 máx.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53901" y="5905500"/>
            <a:ext cx="10477500" cy="26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Melhor resistência à fadiga com perfil de placa menor. E mais fácil de moldar.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53901" y="6305550"/>
            <a:ext cx="2186583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Mandible / Estabilidade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32</a:t>
            </a:r>
            <a:endParaRPr lang="en-US" sz="12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10791825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Placas de ponte TriLock: características e benefícios</a:t>
            </a:r>
            <a:endParaRPr lang="en-US" sz="3825" dirty="0"/>
          </a:p>
        </p:txBody>
      </p:sp>
      <p:sp>
        <p:nvSpPr>
          <p:cNvPr id="3" name="Shape 1"/>
          <p:cNvSpPr/>
          <p:nvPr/>
        </p:nvSpPr>
        <p:spPr>
          <a:xfrm>
            <a:off x="253901" y="1486346"/>
            <a:ext cx="7429500" cy="95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673001" y="1123950"/>
            <a:ext cx="3610356" cy="305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50"/>
              </a:lnSpc>
              <a:buNone/>
            </a:pPr>
            <a:r>
              <a:rPr lang="en-US" sz="1275" spc="51" kern="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CARACTERÍSTICAS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4178201" y="1123950"/>
            <a:ext cx="3610356" cy="305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50"/>
              </a:lnSpc>
              <a:buNone/>
            </a:pPr>
            <a:r>
              <a:rPr lang="en-US" sz="1275" spc="51" kern="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BENEFÍCIOS</a:t>
            </a:r>
            <a:endParaRPr lang="en-US" sz="1275" dirty="0"/>
          </a:p>
        </p:txBody>
      </p:sp>
      <p:sp>
        <p:nvSpPr>
          <p:cNvPr id="6" name="Shape 4"/>
          <p:cNvSpPr/>
          <p:nvPr/>
        </p:nvSpPr>
        <p:spPr>
          <a:xfrm>
            <a:off x="253901" y="2162621"/>
            <a:ext cx="74295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7" name="Text 5"/>
          <p:cNvSpPr/>
          <p:nvPr/>
        </p:nvSpPr>
        <p:spPr>
          <a:xfrm>
            <a:off x="253901" y="1686371"/>
            <a:ext cx="4953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2250" dirty="0">
                <a:solidFill>
                  <a:srgbClr val="BBD7F3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73001" y="1686371"/>
            <a:ext cx="38557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TriLock em ambos os lados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78201" y="1686371"/>
            <a:ext cx="38557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Menos dobramento da placa*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53901" y="2838896"/>
            <a:ext cx="74295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1" name="Text 9"/>
          <p:cNvSpPr/>
          <p:nvPr/>
        </p:nvSpPr>
        <p:spPr>
          <a:xfrm>
            <a:off x="253901" y="2362646"/>
            <a:ext cx="4953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2250" dirty="0">
                <a:solidFill>
                  <a:srgbClr val="BBD7F3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73001" y="2362646"/>
            <a:ext cx="38557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Ajuste anatômico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78201" y="2362646"/>
            <a:ext cx="38557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Menos dobramento da placa*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53901" y="3515171"/>
            <a:ext cx="74295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5" name="Text 13"/>
          <p:cNvSpPr/>
          <p:nvPr/>
        </p:nvSpPr>
        <p:spPr>
          <a:xfrm>
            <a:off x="253901" y="3038921"/>
            <a:ext cx="4953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2250" dirty="0">
                <a:solidFill>
                  <a:srgbClr val="BBD7F3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3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73001" y="3038921"/>
            <a:ext cx="38557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Seção do ramo adaptável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78201" y="3038921"/>
            <a:ext cx="38557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Menos dobramento da placa*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53901" y="4648646"/>
            <a:ext cx="742950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19" name="Text 17"/>
          <p:cNvSpPr/>
          <p:nvPr/>
        </p:nvSpPr>
        <p:spPr>
          <a:xfrm>
            <a:off x="253901" y="3715196"/>
            <a:ext cx="4953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2250" dirty="0">
                <a:solidFill>
                  <a:srgbClr val="BBD7F3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4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673001" y="3715196"/>
            <a:ext cx="38557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Estrutura em grade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178201" y="3715196"/>
            <a:ext cx="361035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Menos tensão que a placa convencional; mais estabilidade apesar do perfil mais baixo*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53901" y="4791521"/>
            <a:ext cx="7652385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*Comparado à placa de reconstrução convencional.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01000" y="1123950"/>
            <a:ext cx="3933825" cy="21907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4" name="Shape 22"/>
          <p:cNvSpPr/>
          <p:nvPr/>
        </p:nvSpPr>
        <p:spPr>
          <a:xfrm>
            <a:off x="8001000" y="3467100"/>
            <a:ext cx="3933825" cy="21907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5" name="Text 23"/>
          <p:cNvSpPr/>
          <p:nvPr/>
        </p:nvSpPr>
        <p:spPr>
          <a:xfrm>
            <a:off x="253901" y="6305550"/>
            <a:ext cx="2411016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Mandible / Placas de ponte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33</a:t>
            </a:r>
            <a:endParaRPr lang="en-US" sz="12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477116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Placas condilares: com e sem bloqueio</a:t>
            </a:r>
            <a:endParaRPr lang="en-US" sz="3825" dirty="0"/>
          </a:p>
        </p:txBody>
      </p:sp>
      <p:sp>
        <p:nvSpPr>
          <p:cNvPr id="3" name="Shape 1"/>
          <p:cNvSpPr/>
          <p:nvPr/>
        </p:nvSpPr>
        <p:spPr>
          <a:xfrm>
            <a:off x="253901" y="1047750"/>
            <a:ext cx="116776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4" name="Shape 2"/>
          <p:cNvSpPr/>
          <p:nvPr/>
        </p:nvSpPr>
        <p:spPr>
          <a:xfrm>
            <a:off x="253901" y="1428750"/>
            <a:ext cx="11677650" cy="3619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Shape 3"/>
          <p:cNvSpPr/>
          <p:nvPr/>
        </p:nvSpPr>
        <p:spPr>
          <a:xfrm>
            <a:off x="253901" y="5334000"/>
            <a:ext cx="5648325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6" name="Text 4"/>
          <p:cNvSpPr/>
          <p:nvPr/>
        </p:nvSpPr>
        <p:spPr>
          <a:xfrm>
            <a:off x="253901" y="5476875"/>
            <a:ext cx="5817775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Bloqueada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53901" y="5911155"/>
            <a:ext cx="58177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Estabilidade angular pelo furo TriLock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83226" y="5334000"/>
            <a:ext cx="5648325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9" name="Text 7"/>
          <p:cNvSpPr/>
          <p:nvPr/>
        </p:nvSpPr>
        <p:spPr>
          <a:xfrm>
            <a:off x="6283226" y="5476875"/>
            <a:ext cx="5817775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 bloqueio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83226" y="5911155"/>
            <a:ext cx="58177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Compressão convencional da placa contra o osso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3901" y="6305550"/>
            <a:ext cx="2505968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Mandible / Placas condilares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</a:t>
            </a:r>
            <a:endParaRPr lang="en-US" sz="1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623474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Visão geral dos parafusos — Mandible</a:t>
            </a:r>
            <a:endParaRPr lang="en-US" sz="3825" dirty="0"/>
          </a:p>
        </p:txBody>
      </p:sp>
      <p:sp>
        <p:nvSpPr>
          <p:cNvPr id="3" name="Text 1"/>
          <p:cNvSpPr/>
          <p:nvPr/>
        </p:nvSpPr>
        <p:spPr>
          <a:xfrm>
            <a:off x="253901" y="876300"/>
            <a:ext cx="8591550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00"/>
              </a:lnSpc>
              <a:buNone/>
            </a:pPr>
            <a:r>
              <a:rPr lang="en-US" sz="157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Interface HexaDrive 6 em toda a linha. Corticais, SpeedTip e TriLock.</a:t>
            </a:r>
            <a:endParaRPr lang="en-US" sz="1575" dirty="0"/>
          </a:p>
        </p:txBody>
      </p:sp>
      <p:sp>
        <p:nvSpPr>
          <p:cNvPr id="4" name="Shape 2"/>
          <p:cNvSpPr/>
          <p:nvPr/>
        </p:nvSpPr>
        <p:spPr>
          <a:xfrm>
            <a:off x="253901" y="1905446"/>
            <a:ext cx="7239000" cy="95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253901" y="1524000"/>
            <a:ext cx="3408469" cy="305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50"/>
              </a:lnSpc>
              <a:buNone/>
            </a:pPr>
            <a:r>
              <a:rPr lang="en-US" sz="1275" spc="51" kern="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PARAFUSO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3563094" y="1524000"/>
            <a:ext cx="2144464" cy="305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50"/>
              </a:lnSpc>
              <a:buNone/>
            </a:pPr>
            <a:r>
              <a:rPr lang="en-US" sz="1275" spc="51" kern="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DIÂMETRO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5631359" y="1524000"/>
            <a:ext cx="1937593" cy="305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50"/>
              </a:lnSpc>
              <a:buNone/>
            </a:pPr>
            <a:r>
              <a:rPr lang="en-US" sz="1275" spc="51" kern="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INTERFACE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253901" y="2515046"/>
            <a:ext cx="72390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9" name="Text 7"/>
          <p:cNvSpPr/>
          <p:nvPr/>
        </p:nvSpPr>
        <p:spPr>
          <a:xfrm>
            <a:off x="253901" y="2049959"/>
            <a:ext cx="3408469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Parafuso Cortical 2.0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3563094" y="2049959"/>
            <a:ext cx="2144464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Ø 2,0 mm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5631359" y="2049959"/>
            <a:ext cx="1937593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HexaDrive 6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253901" y="3124646"/>
            <a:ext cx="72390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3" name="Text 11"/>
          <p:cNvSpPr/>
          <p:nvPr/>
        </p:nvSpPr>
        <p:spPr>
          <a:xfrm>
            <a:off x="253901" y="2659559"/>
            <a:ext cx="3408469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Parafuso Cortical 2.3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3563094" y="2659559"/>
            <a:ext cx="2144464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Ø 2,3 mm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5631359" y="2659559"/>
            <a:ext cx="1937593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HexaDrive 6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253901" y="3734246"/>
            <a:ext cx="72390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7" name="Text 15"/>
          <p:cNvSpPr/>
          <p:nvPr/>
        </p:nvSpPr>
        <p:spPr>
          <a:xfrm>
            <a:off x="253901" y="3269159"/>
            <a:ext cx="3408469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Parafuso SpeedTip 2.0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3563094" y="3269159"/>
            <a:ext cx="2144464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Ø 2,0 mm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5631359" y="3269159"/>
            <a:ext cx="1937593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HexaDrive 6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253901" y="4343846"/>
            <a:ext cx="72390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21" name="Text 19"/>
          <p:cNvSpPr/>
          <p:nvPr/>
        </p:nvSpPr>
        <p:spPr>
          <a:xfrm>
            <a:off x="253901" y="3878759"/>
            <a:ext cx="3408469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Parafuso TriLock 2.0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3563094" y="3878759"/>
            <a:ext cx="2144464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Ø 2,0 mm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5631359" y="3878759"/>
            <a:ext cx="1937593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HexaDrive 6</a:t>
            </a:r>
            <a:endParaRPr lang="en-US" sz="1575" dirty="0"/>
          </a:p>
        </p:txBody>
      </p:sp>
      <p:sp>
        <p:nvSpPr>
          <p:cNvPr id="24" name="Shape 22"/>
          <p:cNvSpPr/>
          <p:nvPr/>
        </p:nvSpPr>
        <p:spPr>
          <a:xfrm>
            <a:off x="253901" y="4953446"/>
            <a:ext cx="72390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25" name="Text 23"/>
          <p:cNvSpPr/>
          <p:nvPr/>
        </p:nvSpPr>
        <p:spPr>
          <a:xfrm>
            <a:off x="253901" y="4488359"/>
            <a:ext cx="3408469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Parafuso TriLock 2.3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3563094" y="4488359"/>
            <a:ext cx="2144464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Ø 2,3 mm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5631359" y="4488359"/>
            <a:ext cx="1937593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HexaDrive 6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253901" y="5563046"/>
            <a:ext cx="72390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29" name="Text 27"/>
          <p:cNvSpPr/>
          <p:nvPr/>
        </p:nvSpPr>
        <p:spPr>
          <a:xfrm>
            <a:off x="253901" y="5097959"/>
            <a:ext cx="3408469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Parafuso TriLock 2.5</a:t>
            </a:r>
            <a:endParaRPr lang="en-US" sz="1575" dirty="0"/>
          </a:p>
        </p:txBody>
      </p:sp>
      <p:sp>
        <p:nvSpPr>
          <p:cNvPr id="30" name="Text 28"/>
          <p:cNvSpPr/>
          <p:nvPr/>
        </p:nvSpPr>
        <p:spPr>
          <a:xfrm>
            <a:off x="3563094" y="5097959"/>
            <a:ext cx="2144464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Ø 2,5 mm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5631359" y="5097959"/>
            <a:ext cx="1937593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HexaDrive 6</a:t>
            </a:r>
            <a:endParaRPr lang="en-US" sz="1575" dirty="0"/>
          </a:p>
        </p:txBody>
      </p:sp>
      <p:sp>
        <p:nvSpPr>
          <p:cNvPr id="32" name="Shape 30"/>
          <p:cNvSpPr/>
          <p:nvPr/>
        </p:nvSpPr>
        <p:spPr>
          <a:xfrm>
            <a:off x="253901" y="6172646"/>
            <a:ext cx="723900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33" name="Text 31"/>
          <p:cNvSpPr/>
          <p:nvPr/>
        </p:nvSpPr>
        <p:spPr>
          <a:xfrm>
            <a:off x="253901" y="5707559"/>
            <a:ext cx="3408469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Parafuso TriLock SpeedTip 2.0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3563094" y="5707559"/>
            <a:ext cx="2144464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Ø 2,0 mm</a:t>
            </a:r>
            <a:endParaRPr lang="en-US" sz="1575" dirty="0"/>
          </a:p>
        </p:txBody>
      </p:sp>
      <p:sp>
        <p:nvSpPr>
          <p:cNvPr id="35" name="Text 33"/>
          <p:cNvSpPr/>
          <p:nvPr/>
        </p:nvSpPr>
        <p:spPr>
          <a:xfrm>
            <a:off x="5631359" y="5707559"/>
            <a:ext cx="1937593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HexaDrive 6</a:t>
            </a:r>
            <a:endParaRPr lang="en-US" sz="1575" dirty="0"/>
          </a:p>
        </p:txBody>
      </p:sp>
      <p:sp>
        <p:nvSpPr>
          <p:cNvPr id="36" name="Shape 34"/>
          <p:cNvSpPr/>
          <p:nvPr/>
        </p:nvSpPr>
        <p:spPr>
          <a:xfrm>
            <a:off x="7848600" y="1524000"/>
            <a:ext cx="4086225" cy="2095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7" name="Shape 35"/>
          <p:cNvSpPr/>
          <p:nvPr/>
        </p:nvSpPr>
        <p:spPr>
          <a:xfrm>
            <a:off x="7848600" y="3771900"/>
            <a:ext cx="4086225" cy="2095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8" name="Text 36"/>
          <p:cNvSpPr/>
          <p:nvPr/>
        </p:nvSpPr>
        <p:spPr>
          <a:xfrm>
            <a:off x="253901" y="6305550"/>
            <a:ext cx="2074218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Mandible / Parafusos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</a:t>
            </a:r>
            <a:endParaRPr lang="en-US" sz="1200" dirty="0"/>
          </a:p>
        </p:txBody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8675" y="762000"/>
            <a:ext cx="6082665" cy="1135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911"/>
              </a:lnSpc>
              <a:buNone/>
            </a:pPr>
            <a:r>
              <a:rPr lang="en-US" sz="4800" spc="-48" kern="0" dirty="0">
                <a:solidFill>
                  <a:srgbClr val="FFFFFF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Três tecnologias em um parafuso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828675" y="2667000"/>
            <a:ext cx="4953000" cy="952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8675" y="2952750"/>
            <a:ext cx="191393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1800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4425" y="2962275"/>
            <a:ext cx="337995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1800" dirty="0">
                <a:solidFill>
                  <a:srgbClr val="FFFFFF">
                    <a:alpha val="8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TriLock — bloqueio angular ± 15°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8675" y="3470821"/>
            <a:ext cx="191393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1800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4425" y="3480346"/>
            <a:ext cx="36466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1800" dirty="0">
                <a:solidFill>
                  <a:srgbClr val="FFFFFF">
                    <a:alpha val="8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SpeedTip — corte imediato do osso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8675" y="3988891"/>
            <a:ext cx="191393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1800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14425" y="3998416"/>
            <a:ext cx="414212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1800" dirty="0">
                <a:solidFill>
                  <a:srgbClr val="FFFFFF">
                    <a:alpha val="86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HexaDrive — auto-fixação e mais torque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5449" b="-15449"/>
          <a:stretch/>
        </p:blipFill>
        <p:spPr>
          <a:xfrm>
            <a:off x="6667500" y="1047750"/>
            <a:ext cx="4953000" cy="47625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36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22161" b="22161"/>
          <a:stretch/>
        </p:blipFill>
        <p:spPr>
          <a:xfrm>
            <a:off x="6477000" y="0"/>
            <a:ext cx="5715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953500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100000"/>
                </a:srgbClr>
              </a:gs>
              <a:gs pos="56000">
                <a:srgbClr val="000000">
                  <a:alpha val="10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Shape 1"/>
          <p:cNvSpPr/>
          <p:nvPr/>
        </p:nvSpPr>
        <p:spPr>
          <a:xfrm>
            <a:off x="828675" y="718096"/>
            <a:ext cx="30480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Text 2"/>
          <p:cNvSpPr/>
          <p:nvPr/>
        </p:nvSpPr>
        <p:spPr>
          <a:xfrm>
            <a:off x="1266825" y="647700"/>
            <a:ext cx="9060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CAPÍTULO 05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8675" y="1009650"/>
            <a:ext cx="628650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911"/>
              </a:lnSpc>
              <a:buNone/>
            </a:pPr>
            <a:r>
              <a:rPr lang="en-US" sz="4800" spc="-48" kern="0" dirty="0">
                <a:solidFill>
                  <a:srgbClr val="FFFFFF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Ortognática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28675" y="2381250"/>
            <a:ext cx="5297805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62"/>
              </a:lnSpc>
              <a:buNone/>
            </a:pPr>
            <a:r>
              <a:rPr lang="en-US" sz="1800" dirty="0">
                <a:solidFill>
                  <a:srgbClr val="FFFFFF">
                    <a:alpha val="7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Placas L e Z desenhadas a partir de dados de TC clínica. Menos moldagem na mesa, mais previsibilidade.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5860852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Histórico das placas L e Z</a:t>
            </a:r>
            <a:endParaRPr lang="en-US" sz="3825" dirty="0"/>
          </a:p>
        </p:txBody>
      </p:sp>
      <p:sp>
        <p:nvSpPr>
          <p:cNvPr id="3" name="Text 1"/>
          <p:cNvSpPr/>
          <p:nvPr/>
        </p:nvSpPr>
        <p:spPr>
          <a:xfrm>
            <a:off x="253901" y="914400"/>
            <a:ext cx="8382000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desenho das placas L e Z foi desenvolvido com base em dados de TC clínica.</a:t>
            </a:r>
            <a:endParaRPr lang="en-US" sz="1725" dirty="0"/>
          </a:p>
        </p:txBody>
      </p:sp>
      <p:sp>
        <p:nvSpPr>
          <p:cNvPr id="4" name="Shape 2"/>
          <p:cNvSpPr/>
          <p:nvPr/>
        </p:nvSpPr>
        <p:spPr>
          <a:xfrm>
            <a:off x="253901" y="1619250"/>
            <a:ext cx="116776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Shape 3"/>
          <p:cNvSpPr/>
          <p:nvPr/>
        </p:nvSpPr>
        <p:spPr>
          <a:xfrm>
            <a:off x="253901" y="1905000"/>
            <a:ext cx="5695950" cy="3619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" name="Text 4"/>
          <p:cNvSpPr/>
          <p:nvPr/>
        </p:nvSpPr>
        <p:spPr>
          <a:xfrm>
            <a:off x="253901" y="5638800"/>
            <a:ext cx="586682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Reconstrução de TC — regiões de fixação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35601" y="1905000"/>
            <a:ext cx="5695950" cy="3619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Text 6"/>
          <p:cNvSpPr/>
          <p:nvPr/>
        </p:nvSpPr>
        <p:spPr>
          <a:xfrm>
            <a:off x="6235601" y="5638800"/>
            <a:ext cx="586682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Mapa de espessura óssea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3901" y="6305550"/>
            <a:ext cx="2336750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Ortognática / Placas L e Z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38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10301288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O design anatômico reduz a moldagem intraoperatória</a:t>
            </a:r>
            <a:endParaRPr lang="en-US" sz="3825" dirty="0"/>
          </a:p>
        </p:txBody>
      </p:sp>
      <p:sp>
        <p:nvSpPr>
          <p:cNvPr id="3" name="Shape 1"/>
          <p:cNvSpPr/>
          <p:nvPr/>
        </p:nvSpPr>
        <p:spPr>
          <a:xfrm>
            <a:off x="253901" y="1238250"/>
            <a:ext cx="116776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4" name="Shape 2"/>
          <p:cNvSpPr/>
          <p:nvPr/>
        </p:nvSpPr>
        <p:spPr>
          <a:xfrm>
            <a:off x="253901" y="1524000"/>
            <a:ext cx="3765500" cy="2857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Shape 3"/>
          <p:cNvSpPr/>
          <p:nvPr/>
        </p:nvSpPr>
        <p:spPr>
          <a:xfrm>
            <a:off x="4209901" y="1524000"/>
            <a:ext cx="3765500" cy="2857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" name="Shape 4"/>
          <p:cNvSpPr/>
          <p:nvPr/>
        </p:nvSpPr>
        <p:spPr>
          <a:xfrm>
            <a:off x="8165902" y="1524000"/>
            <a:ext cx="3765649" cy="2857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7" name="Shape 5"/>
          <p:cNvSpPr/>
          <p:nvPr/>
        </p:nvSpPr>
        <p:spPr>
          <a:xfrm>
            <a:off x="253901" y="4762500"/>
            <a:ext cx="116776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8" name="Text 6"/>
          <p:cNvSpPr/>
          <p:nvPr/>
        </p:nvSpPr>
        <p:spPr>
          <a:xfrm>
            <a:off x="253901" y="5048250"/>
            <a:ext cx="8829675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geometria segue a anatomia da região de osteotomia — a placa chega ao campo praticamente pronta.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253901" y="6305550"/>
            <a:ext cx="2336750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Ortognática / Placas L e Z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39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6162243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Estudo de elementos finitos</a:t>
            </a:r>
            <a:endParaRPr lang="en-US" sz="3825" dirty="0"/>
          </a:p>
        </p:txBody>
      </p:sp>
      <p:sp>
        <p:nvSpPr>
          <p:cNvPr id="3" name="Shape 1"/>
          <p:cNvSpPr/>
          <p:nvPr/>
        </p:nvSpPr>
        <p:spPr>
          <a:xfrm>
            <a:off x="253901" y="1047750"/>
            <a:ext cx="116776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4" name="Shape 2"/>
          <p:cNvSpPr/>
          <p:nvPr/>
        </p:nvSpPr>
        <p:spPr>
          <a:xfrm>
            <a:off x="253901" y="1428750"/>
            <a:ext cx="5695950" cy="3810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253901" y="5353050"/>
            <a:ext cx="586682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Modelo de carga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35601" y="1428750"/>
            <a:ext cx="5695950" cy="3810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7" name="Text 5"/>
          <p:cNvSpPr/>
          <p:nvPr/>
        </p:nvSpPr>
        <p:spPr>
          <a:xfrm>
            <a:off x="6235601" y="5353050"/>
            <a:ext cx="586682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Distribuição de tensão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53901" y="6305550"/>
            <a:ext cx="2638019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Ortognática / Elementos finitos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10477500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Furos reforçados junto à osteotomia</a:t>
            </a:r>
            <a:endParaRPr lang="en-US" sz="3825" dirty="0"/>
          </a:p>
        </p:txBody>
      </p:sp>
      <p:sp>
        <p:nvSpPr>
          <p:cNvPr id="3" name="Text 1"/>
          <p:cNvSpPr/>
          <p:nvPr/>
        </p:nvSpPr>
        <p:spPr>
          <a:xfrm>
            <a:off x="253901" y="914400"/>
            <a:ext cx="7456170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material adicional ao redor dos furos próximos à barra melhora a estabilidade da placa.</a:t>
            </a:r>
            <a:endParaRPr lang="en-US" sz="1725" dirty="0"/>
          </a:p>
        </p:txBody>
      </p:sp>
      <p:sp>
        <p:nvSpPr>
          <p:cNvPr id="4" name="Shape 2"/>
          <p:cNvSpPr/>
          <p:nvPr/>
        </p:nvSpPr>
        <p:spPr>
          <a:xfrm>
            <a:off x="253901" y="1714500"/>
            <a:ext cx="116776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Shape 3"/>
          <p:cNvSpPr/>
          <p:nvPr/>
        </p:nvSpPr>
        <p:spPr>
          <a:xfrm>
            <a:off x="253901" y="2000250"/>
            <a:ext cx="5695950" cy="3429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" name="Shape 4"/>
          <p:cNvSpPr/>
          <p:nvPr/>
        </p:nvSpPr>
        <p:spPr>
          <a:xfrm>
            <a:off x="6235601" y="2000250"/>
            <a:ext cx="5695950" cy="3429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7" name="Text 5"/>
          <p:cNvSpPr/>
          <p:nvPr/>
        </p:nvSpPr>
        <p:spPr>
          <a:xfrm>
            <a:off x="253901" y="6305550"/>
            <a:ext cx="2638019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Ortognática / Elementos finitos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41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5060469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Visão geral do sistema</a:t>
            </a:r>
            <a:endParaRPr lang="en-US" sz="3825" dirty="0"/>
          </a:p>
        </p:txBody>
      </p:sp>
      <p:sp>
        <p:nvSpPr>
          <p:cNvPr id="3" name="Text 1"/>
          <p:cNvSpPr/>
          <p:nvPr/>
        </p:nvSpPr>
        <p:spPr>
          <a:xfrm>
            <a:off x="253901" y="876300"/>
            <a:ext cx="9429750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00"/>
              </a:lnSpc>
              <a:buNone/>
            </a:pPr>
            <a:r>
              <a:rPr lang="en-US" sz="157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Placas padrão de 0,7 mm para o terço médio da face.</a:t>
            </a:r>
            <a:endParaRPr lang="en-US" sz="1575" dirty="0"/>
          </a:p>
        </p:txBody>
      </p:sp>
      <p:sp>
        <p:nvSpPr>
          <p:cNvPr id="4" name="Shape 2"/>
          <p:cNvSpPr/>
          <p:nvPr/>
        </p:nvSpPr>
        <p:spPr>
          <a:xfrm>
            <a:off x="253901" y="1524000"/>
            <a:ext cx="116776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Shape 3"/>
          <p:cNvSpPr/>
          <p:nvPr/>
        </p:nvSpPr>
        <p:spPr>
          <a:xfrm>
            <a:off x="253901" y="1809750"/>
            <a:ext cx="5724525" cy="1905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" name="Shape 4"/>
          <p:cNvSpPr/>
          <p:nvPr/>
        </p:nvSpPr>
        <p:spPr>
          <a:xfrm>
            <a:off x="6207026" y="1809750"/>
            <a:ext cx="5724525" cy="1905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7" name="Shape 5"/>
          <p:cNvSpPr/>
          <p:nvPr/>
        </p:nvSpPr>
        <p:spPr>
          <a:xfrm>
            <a:off x="253901" y="3943350"/>
            <a:ext cx="5724525" cy="1905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Shape 6"/>
          <p:cNvSpPr/>
          <p:nvPr/>
        </p:nvSpPr>
        <p:spPr>
          <a:xfrm>
            <a:off x="6207026" y="3943350"/>
            <a:ext cx="5724525" cy="1905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9" name="Text 7"/>
          <p:cNvSpPr/>
          <p:nvPr/>
        </p:nvSpPr>
        <p:spPr>
          <a:xfrm>
            <a:off x="253901" y="6305550"/>
            <a:ext cx="2273945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Ortognática / Visão geral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42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11525250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Placas L e Z: características e benefícios</a:t>
            </a:r>
            <a:endParaRPr lang="en-US" sz="3825" dirty="0"/>
          </a:p>
        </p:txBody>
      </p:sp>
      <p:sp>
        <p:nvSpPr>
          <p:cNvPr id="3" name="Shape 1"/>
          <p:cNvSpPr/>
          <p:nvPr/>
        </p:nvSpPr>
        <p:spPr>
          <a:xfrm>
            <a:off x="253901" y="1486346"/>
            <a:ext cx="7429500" cy="95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673001" y="1123950"/>
            <a:ext cx="3610356" cy="305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50"/>
              </a:lnSpc>
              <a:buNone/>
            </a:pPr>
            <a:r>
              <a:rPr lang="en-US" sz="1275" spc="51" kern="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CARACTERÍSTICAS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4178201" y="1123950"/>
            <a:ext cx="3610356" cy="305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50"/>
              </a:lnSpc>
              <a:buNone/>
            </a:pPr>
            <a:r>
              <a:rPr lang="en-US" sz="1275" spc="51" kern="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BENEFÍCIOS</a:t>
            </a:r>
            <a:endParaRPr lang="en-US" sz="1275" dirty="0"/>
          </a:p>
        </p:txBody>
      </p:sp>
      <p:sp>
        <p:nvSpPr>
          <p:cNvPr id="6" name="Shape 4"/>
          <p:cNvSpPr/>
          <p:nvPr/>
        </p:nvSpPr>
        <p:spPr>
          <a:xfrm>
            <a:off x="253901" y="2372171"/>
            <a:ext cx="74295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7" name="Text 5"/>
          <p:cNvSpPr/>
          <p:nvPr/>
        </p:nvSpPr>
        <p:spPr>
          <a:xfrm>
            <a:off x="253901" y="1686371"/>
            <a:ext cx="4953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2250" dirty="0">
                <a:solidFill>
                  <a:srgbClr val="BBD7F3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73001" y="1686371"/>
            <a:ext cx="361035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anatômico baseado em dados de TC clínica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78201" y="1686371"/>
            <a:ext cx="38557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Menos moldagem da placa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53901" y="3048446"/>
            <a:ext cx="74295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1" name="Text 9"/>
          <p:cNvSpPr/>
          <p:nvPr/>
        </p:nvSpPr>
        <p:spPr>
          <a:xfrm>
            <a:off x="253901" y="2572196"/>
            <a:ext cx="4953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2250" dirty="0">
                <a:solidFill>
                  <a:srgbClr val="BBD7F3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73001" y="2572196"/>
            <a:ext cx="38557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Marcação a laser nas barras da placa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78201" y="2572196"/>
            <a:ext cx="38557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Guia de orientação ao moldar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53901" y="3724721"/>
            <a:ext cx="74295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5" name="Text 13"/>
          <p:cNvSpPr/>
          <p:nvPr/>
        </p:nvSpPr>
        <p:spPr>
          <a:xfrm>
            <a:off x="253901" y="3248471"/>
            <a:ext cx="4953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2250" dirty="0">
                <a:solidFill>
                  <a:srgbClr val="BBD7F3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3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73001" y="3248471"/>
            <a:ext cx="38557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Incrementos pequenos entre tamanhos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78201" y="3248471"/>
            <a:ext cx="38557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Fixação mais próxima da osteotomia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53901" y="4400996"/>
            <a:ext cx="742950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19" name="Text 17"/>
          <p:cNvSpPr/>
          <p:nvPr/>
        </p:nvSpPr>
        <p:spPr>
          <a:xfrm>
            <a:off x="253901" y="3924746"/>
            <a:ext cx="4953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2250" dirty="0">
                <a:solidFill>
                  <a:srgbClr val="BBD7F3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4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673001" y="3924746"/>
            <a:ext cx="38557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Orifícios reforçados junto à barra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178201" y="3924746"/>
            <a:ext cx="38557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Melhora a estabilidade da placa*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53901" y="4543871"/>
            <a:ext cx="7652385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*Em comparação com orifícios de parafuso não reforçados.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01000" y="1123950"/>
            <a:ext cx="3933825" cy="4381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4" name="Text 22"/>
          <p:cNvSpPr/>
          <p:nvPr/>
        </p:nvSpPr>
        <p:spPr>
          <a:xfrm>
            <a:off x="253901" y="6305550"/>
            <a:ext cx="2336750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Ortognática / Placas L e Z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43</a:t>
            </a:r>
            <a:endParaRPr lang="en-US" sz="12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7364537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Placas pré-fabricadas de 0,7 mm</a:t>
            </a:r>
            <a:endParaRPr lang="en-US" sz="3825" dirty="0"/>
          </a:p>
        </p:txBody>
      </p:sp>
      <p:sp>
        <p:nvSpPr>
          <p:cNvPr id="3" name="Text 1"/>
          <p:cNvSpPr/>
          <p:nvPr/>
        </p:nvSpPr>
        <p:spPr>
          <a:xfrm>
            <a:off x="253901" y="876300"/>
            <a:ext cx="9429750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00"/>
              </a:lnSpc>
              <a:buNone/>
            </a:pPr>
            <a:r>
              <a:rPr lang="en-US" sz="157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Terço médio da face — geometrias L e Z em incrementos pequenos.</a:t>
            </a:r>
            <a:endParaRPr lang="en-US" sz="1575" dirty="0"/>
          </a:p>
        </p:txBody>
      </p:sp>
      <p:sp>
        <p:nvSpPr>
          <p:cNvPr id="4" name="Shape 2"/>
          <p:cNvSpPr/>
          <p:nvPr/>
        </p:nvSpPr>
        <p:spPr>
          <a:xfrm>
            <a:off x="253901" y="1524000"/>
            <a:ext cx="116776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Shape 3"/>
          <p:cNvSpPr/>
          <p:nvPr/>
        </p:nvSpPr>
        <p:spPr>
          <a:xfrm>
            <a:off x="253901" y="1809750"/>
            <a:ext cx="5724525" cy="1905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" name="Shape 4"/>
          <p:cNvSpPr/>
          <p:nvPr/>
        </p:nvSpPr>
        <p:spPr>
          <a:xfrm>
            <a:off x="6207026" y="1809750"/>
            <a:ext cx="5724525" cy="1905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7" name="Shape 5"/>
          <p:cNvSpPr/>
          <p:nvPr/>
        </p:nvSpPr>
        <p:spPr>
          <a:xfrm>
            <a:off x="253901" y="3943350"/>
            <a:ext cx="5724525" cy="1905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Shape 6"/>
          <p:cNvSpPr/>
          <p:nvPr/>
        </p:nvSpPr>
        <p:spPr>
          <a:xfrm>
            <a:off x="6207026" y="3943350"/>
            <a:ext cx="5724525" cy="1905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9" name="Text 7"/>
          <p:cNvSpPr/>
          <p:nvPr/>
        </p:nvSpPr>
        <p:spPr>
          <a:xfrm>
            <a:off x="253901" y="6305550"/>
            <a:ext cx="2495104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Ortognática / Pré-fabricadas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44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6327919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Placas de osteotomia sagital</a:t>
            </a:r>
            <a:endParaRPr lang="en-US" sz="3825" dirty="0"/>
          </a:p>
        </p:txBody>
      </p:sp>
      <p:sp>
        <p:nvSpPr>
          <p:cNvPr id="3" name="Text 1"/>
          <p:cNvSpPr/>
          <p:nvPr/>
        </p:nvSpPr>
        <p:spPr>
          <a:xfrm>
            <a:off x="253901" y="876300"/>
            <a:ext cx="9429750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00"/>
              </a:lnSpc>
              <a:buNone/>
            </a:pPr>
            <a:r>
              <a:rPr lang="en-US" sz="157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Quatro espessuras, de 0,7 a 1,0 mm.</a:t>
            </a:r>
            <a:endParaRPr lang="en-US" sz="1575" dirty="0"/>
          </a:p>
        </p:txBody>
      </p:sp>
      <p:sp>
        <p:nvSpPr>
          <p:cNvPr id="4" name="Shape 2"/>
          <p:cNvSpPr/>
          <p:nvPr/>
        </p:nvSpPr>
        <p:spPr>
          <a:xfrm>
            <a:off x="253901" y="1428750"/>
            <a:ext cx="2776538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Text 3"/>
          <p:cNvSpPr/>
          <p:nvPr/>
        </p:nvSpPr>
        <p:spPr>
          <a:xfrm>
            <a:off x="253901" y="1552575"/>
            <a:ext cx="2859834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0,7 mm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3901" y="2044005"/>
            <a:ext cx="2776538" cy="18097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7" name="Text 5"/>
          <p:cNvSpPr/>
          <p:nvPr/>
        </p:nvSpPr>
        <p:spPr>
          <a:xfrm>
            <a:off x="253901" y="3968055"/>
            <a:ext cx="2859834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8585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M2-4047 · M2-4048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20938" y="1428750"/>
            <a:ext cx="2776538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9" name="Text 7"/>
          <p:cNvSpPr/>
          <p:nvPr/>
        </p:nvSpPr>
        <p:spPr>
          <a:xfrm>
            <a:off x="3220938" y="1552575"/>
            <a:ext cx="2859834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0,8 mm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20938" y="2044005"/>
            <a:ext cx="2776538" cy="18097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1" name="Text 9"/>
          <p:cNvSpPr/>
          <p:nvPr/>
        </p:nvSpPr>
        <p:spPr>
          <a:xfrm>
            <a:off x="3220938" y="3968055"/>
            <a:ext cx="2859834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8585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M2-4049 · M2-4050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87976" y="1428750"/>
            <a:ext cx="2776538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13" name="Text 11"/>
          <p:cNvSpPr/>
          <p:nvPr/>
        </p:nvSpPr>
        <p:spPr>
          <a:xfrm>
            <a:off x="6187976" y="1552575"/>
            <a:ext cx="2859834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0,9 mm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187976" y="2044005"/>
            <a:ext cx="2776538" cy="18097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5" name="Text 13"/>
          <p:cNvSpPr/>
          <p:nvPr/>
        </p:nvSpPr>
        <p:spPr>
          <a:xfrm>
            <a:off x="6187976" y="3968055"/>
            <a:ext cx="2859834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8585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M2-4051 · M2-4052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55013" y="1428750"/>
            <a:ext cx="2776538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17" name="Text 15"/>
          <p:cNvSpPr/>
          <p:nvPr/>
        </p:nvSpPr>
        <p:spPr>
          <a:xfrm>
            <a:off x="9155013" y="1552575"/>
            <a:ext cx="2859834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1,0 mm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55013" y="2044005"/>
            <a:ext cx="2776538" cy="18097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9" name="Text 17"/>
          <p:cNvSpPr/>
          <p:nvPr/>
        </p:nvSpPr>
        <p:spPr>
          <a:xfrm>
            <a:off x="9155013" y="3968055"/>
            <a:ext cx="2859834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8585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M2-4061 · M2-4062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253901" y="4476750"/>
            <a:ext cx="5724525" cy="1143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1" name="Text 19"/>
          <p:cNvSpPr/>
          <p:nvPr/>
        </p:nvSpPr>
        <p:spPr>
          <a:xfrm>
            <a:off x="253901" y="5715000"/>
            <a:ext cx="5896261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8585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M2-4063 · M2-4064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07026" y="4476750"/>
            <a:ext cx="5724525" cy="1143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3" name="Text 21"/>
          <p:cNvSpPr/>
          <p:nvPr/>
        </p:nvSpPr>
        <p:spPr>
          <a:xfrm>
            <a:off x="6207026" y="5715000"/>
            <a:ext cx="5896261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8585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M2-4065 · M2-4066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53901" y="6305550"/>
            <a:ext cx="2730761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Ortognática / Osteotomia sagital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45</a:t>
            </a:r>
            <a:endParaRPr lang="en-US" sz="12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5407700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Placas de ramo TriLock</a:t>
            </a:r>
            <a:endParaRPr lang="en-US" sz="3825" dirty="0"/>
          </a:p>
        </p:txBody>
      </p:sp>
      <p:sp>
        <p:nvSpPr>
          <p:cNvPr id="3" name="Shape 1"/>
          <p:cNvSpPr/>
          <p:nvPr/>
        </p:nvSpPr>
        <p:spPr>
          <a:xfrm>
            <a:off x="253901" y="1047750"/>
            <a:ext cx="116776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4" name="Shape 2"/>
          <p:cNvSpPr/>
          <p:nvPr/>
        </p:nvSpPr>
        <p:spPr>
          <a:xfrm>
            <a:off x="253901" y="1428750"/>
            <a:ext cx="5695950" cy="3619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253901" y="5162550"/>
            <a:ext cx="5866829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8585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M2-4053 · M2-4054 · M2-4055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35601" y="1428750"/>
            <a:ext cx="5695950" cy="3619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7" name="Text 5"/>
          <p:cNvSpPr/>
          <p:nvPr/>
        </p:nvSpPr>
        <p:spPr>
          <a:xfrm>
            <a:off x="6235601" y="5162550"/>
            <a:ext cx="5866829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8585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M2-4056 · M2-4057 · M2-4058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53901" y="6305550"/>
            <a:ext cx="2534989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Ortognática / Placas de ramo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46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3731955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Placas do queixo</a:t>
            </a:r>
            <a:endParaRPr lang="en-US" sz="3825" dirty="0"/>
          </a:p>
        </p:txBody>
      </p:sp>
      <p:sp>
        <p:nvSpPr>
          <p:cNvPr id="3" name="Text 1"/>
          <p:cNvSpPr/>
          <p:nvPr/>
        </p:nvSpPr>
        <p:spPr>
          <a:xfrm>
            <a:off x="253901" y="876300"/>
            <a:ext cx="9429750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00"/>
              </a:lnSpc>
              <a:buNone/>
            </a:pPr>
            <a:r>
              <a:rPr lang="en-US" sz="157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Pré-fabricadas em 0,7, 0,8 e 0,9 mm — versão rígida disponível.</a:t>
            </a:r>
            <a:endParaRPr lang="en-US" sz="1575" dirty="0"/>
          </a:p>
        </p:txBody>
      </p:sp>
      <p:sp>
        <p:nvSpPr>
          <p:cNvPr id="4" name="Shape 2"/>
          <p:cNvSpPr/>
          <p:nvPr/>
        </p:nvSpPr>
        <p:spPr>
          <a:xfrm>
            <a:off x="253901" y="1428750"/>
            <a:ext cx="2776538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Text 3"/>
          <p:cNvSpPr/>
          <p:nvPr/>
        </p:nvSpPr>
        <p:spPr>
          <a:xfrm>
            <a:off x="253901" y="1552575"/>
            <a:ext cx="2859834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0,7 mm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3901" y="2044005"/>
            <a:ext cx="2776538" cy="21907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7" name="Text 5"/>
          <p:cNvSpPr/>
          <p:nvPr/>
        </p:nvSpPr>
        <p:spPr>
          <a:xfrm>
            <a:off x="253901" y="4349055"/>
            <a:ext cx="2859834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8585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M2-4047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20938" y="1428750"/>
            <a:ext cx="2776538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9" name="Text 7"/>
          <p:cNvSpPr/>
          <p:nvPr/>
        </p:nvSpPr>
        <p:spPr>
          <a:xfrm>
            <a:off x="3220938" y="1552575"/>
            <a:ext cx="2859834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0,8 mm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20938" y="2044005"/>
            <a:ext cx="2776538" cy="21907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1" name="Text 9"/>
          <p:cNvSpPr/>
          <p:nvPr/>
        </p:nvSpPr>
        <p:spPr>
          <a:xfrm>
            <a:off x="3220938" y="4349055"/>
            <a:ext cx="2859834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8585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M2-4048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87976" y="1428750"/>
            <a:ext cx="2776538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13" name="Text 11"/>
          <p:cNvSpPr/>
          <p:nvPr/>
        </p:nvSpPr>
        <p:spPr>
          <a:xfrm>
            <a:off x="6187976" y="1552575"/>
            <a:ext cx="2859834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0,9 mm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187976" y="2044005"/>
            <a:ext cx="2776538" cy="21907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5" name="Text 13"/>
          <p:cNvSpPr/>
          <p:nvPr/>
        </p:nvSpPr>
        <p:spPr>
          <a:xfrm>
            <a:off x="6187976" y="4349055"/>
            <a:ext cx="2859834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8585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M2-4049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55013" y="1428750"/>
            <a:ext cx="2776538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17" name="Text 15"/>
          <p:cNvSpPr/>
          <p:nvPr/>
        </p:nvSpPr>
        <p:spPr>
          <a:xfrm>
            <a:off x="9155013" y="1552575"/>
            <a:ext cx="2859834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5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55013" y="2044005"/>
            <a:ext cx="2776538" cy="21907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9" name="Text 17"/>
          <p:cNvSpPr/>
          <p:nvPr/>
        </p:nvSpPr>
        <p:spPr>
          <a:xfrm>
            <a:off x="9155013" y="4349055"/>
            <a:ext cx="2859834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8585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M2-4050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53901" y="6305550"/>
            <a:ext cx="2616558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Ortognática / Placas do queixo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47</a:t>
            </a:r>
            <a:endParaRPr lang="en-US" sz="12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10477500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Placas ortognáticas padrão</a:t>
            </a:r>
            <a:endParaRPr lang="en-US" sz="3825" dirty="0"/>
          </a:p>
        </p:txBody>
      </p:sp>
      <p:sp>
        <p:nvSpPr>
          <p:cNvPr id="3" name="Text 1"/>
          <p:cNvSpPr/>
          <p:nvPr/>
        </p:nvSpPr>
        <p:spPr>
          <a:xfrm>
            <a:off x="253901" y="914400"/>
            <a:ext cx="8044815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 osteossíntese em osteotomias LeFort I, II e III. Placas retas, em Y e de grade.</a:t>
            </a:r>
            <a:endParaRPr lang="en-US" sz="1725" dirty="0"/>
          </a:p>
        </p:txBody>
      </p:sp>
      <p:sp>
        <p:nvSpPr>
          <p:cNvPr id="4" name="Shape 2"/>
          <p:cNvSpPr/>
          <p:nvPr/>
        </p:nvSpPr>
        <p:spPr>
          <a:xfrm>
            <a:off x="253901" y="1714500"/>
            <a:ext cx="116776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Shape 3"/>
          <p:cNvSpPr/>
          <p:nvPr/>
        </p:nvSpPr>
        <p:spPr>
          <a:xfrm>
            <a:off x="253901" y="2000250"/>
            <a:ext cx="5695950" cy="3429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" name="Shape 4"/>
          <p:cNvSpPr/>
          <p:nvPr/>
        </p:nvSpPr>
        <p:spPr>
          <a:xfrm>
            <a:off x="6235601" y="2000250"/>
            <a:ext cx="5695950" cy="3429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7" name="Text 5"/>
          <p:cNvSpPr/>
          <p:nvPr/>
        </p:nvSpPr>
        <p:spPr>
          <a:xfrm>
            <a:off x="253901" y="6305550"/>
            <a:ext cx="2003227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Ortognática / LeFort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48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4117821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Barras deslizantes</a:t>
            </a:r>
            <a:endParaRPr lang="en-US" sz="3825" dirty="0"/>
          </a:p>
        </p:txBody>
      </p:sp>
      <p:sp>
        <p:nvSpPr>
          <p:cNvPr id="3" name="Shape 1"/>
          <p:cNvSpPr/>
          <p:nvPr/>
        </p:nvSpPr>
        <p:spPr>
          <a:xfrm>
            <a:off x="253901" y="1047750"/>
            <a:ext cx="571500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4" name="Text 2"/>
          <p:cNvSpPr/>
          <p:nvPr/>
        </p:nvSpPr>
        <p:spPr>
          <a:xfrm>
            <a:off x="253901" y="1333500"/>
            <a:ext cx="186630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539651" y="1343025"/>
            <a:ext cx="327847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Ajuste intraoperatório da oclusão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253901" y="1876871"/>
            <a:ext cx="186630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539651" y="1886396"/>
            <a:ext cx="292130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Disponível em Ø 2,0 e 2,3 mm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253901" y="2420243"/>
            <a:ext cx="186630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BD104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539651" y="2429768"/>
            <a:ext cx="5497086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BD104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Importante: a barra deslizante deve ser removida após a fixação da placa.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253901" y="3238500"/>
            <a:ext cx="571500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11" name="Shape 9"/>
          <p:cNvSpPr/>
          <p:nvPr/>
        </p:nvSpPr>
        <p:spPr>
          <a:xfrm>
            <a:off x="253901" y="3619500"/>
            <a:ext cx="5715000" cy="2286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2" name="Shape 10"/>
          <p:cNvSpPr/>
          <p:nvPr/>
        </p:nvSpPr>
        <p:spPr>
          <a:xfrm>
            <a:off x="6324600" y="1333500"/>
            <a:ext cx="2709863" cy="21907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3" name="Shape 11"/>
          <p:cNvSpPr/>
          <p:nvPr/>
        </p:nvSpPr>
        <p:spPr>
          <a:xfrm>
            <a:off x="9224963" y="1333500"/>
            <a:ext cx="2709863" cy="21907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4" name="Shape 12"/>
          <p:cNvSpPr/>
          <p:nvPr/>
        </p:nvSpPr>
        <p:spPr>
          <a:xfrm>
            <a:off x="6324600" y="3714750"/>
            <a:ext cx="5610225" cy="21907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5" name="Text 13"/>
          <p:cNvSpPr/>
          <p:nvPr/>
        </p:nvSpPr>
        <p:spPr>
          <a:xfrm>
            <a:off x="253901" y="6305550"/>
            <a:ext cx="2706847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Ortognática / Barras deslizantes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49</a:t>
            </a:r>
            <a:endParaRPr lang="en-US" sz="12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9234770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Visão geral dos parafusos — Ortognática</a:t>
            </a:r>
            <a:endParaRPr lang="en-US" sz="3825" dirty="0"/>
          </a:p>
        </p:txBody>
      </p:sp>
      <p:sp>
        <p:nvSpPr>
          <p:cNvPr id="3" name="Text 1"/>
          <p:cNvSpPr/>
          <p:nvPr/>
        </p:nvSpPr>
        <p:spPr>
          <a:xfrm>
            <a:off x="253901" y="876300"/>
            <a:ext cx="8591550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00"/>
              </a:lnSpc>
              <a:buNone/>
            </a:pPr>
            <a:r>
              <a:rPr lang="en-US" sz="157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HexaDrive 4 nos diâmetros finos; HexaDrive 6 de 2,0 mm para cima.</a:t>
            </a:r>
            <a:endParaRPr lang="en-US" sz="1575" dirty="0"/>
          </a:p>
        </p:txBody>
      </p:sp>
      <p:sp>
        <p:nvSpPr>
          <p:cNvPr id="4" name="Shape 2"/>
          <p:cNvSpPr/>
          <p:nvPr/>
        </p:nvSpPr>
        <p:spPr>
          <a:xfrm>
            <a:off x="253901" y="1905446"/>
            <a:ext cx="7239000" cy="95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406301" y="1524000"/>
            <a:ext cx="3336728" cy="305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50"/>
              </a:lnSpc>
              <a:buNone/>
            </a:pPr>
            <a:r>
              <a:rPr lang="en-US" sz="1275" spc="51" kern="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PARAFUSO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3645843" y="1524000"/>
            <a:ext cx="2100858" cy="305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50"/>
              </a:lnSpc>
              <a:buNone/>
            </a:pPr>
            <a:r>
              <a:rPr lang="en-US" sz="1275" spc="51" kern="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DIÂMETRO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5670500" y="1524000"/>
            <a:ext cx="1898600" cy="305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50"/>
              </a:lnSpc>
              <a:buNone/>
            </a:pPr>
            <a:r>
              <a:rPr lang="en-US" sz="1275" spc="51" kern="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INTERFACE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253901" y="2495996"/>
            <a:ext cx="72390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9" name="Shape 7"/>
          <p:cNvSpPr/>
          <p:nvPr/>
        </p:nvSpPr>
        <p:spPr>
          <a:xfrm>
            <a:off x="253901" y="2148334"/>
            <a:ext cx="114300" cy="114300"/>
          </a:xfrm>
          <a:prstGeom prst="rect">
            <a:avLst/>
          </a:prstGeom>
          <a:solidFill>
            <a:srgbClr val="BD1041"/>
          </a:solidFill>
          <a:ln/>
        </p:spPr>
      </p:sp>
      <p:sp>
        <p:nvSpPr>
          <p:cNvPr id="10" name="Text 8"/>
          <p:cNvSpPr/>
          <p:nvPr/>
        </p:nvSpPr>
        <p:spPr>
          <a:xfrm>
            <a:off x="406301" y="2048321"/>
            <a:ext cx="333672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Parafuso Cortical 1.2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45843" y="2048321"/>
            <a:ext cx="210085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Ø 1,2 mm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70500" y="2048321"/>
            <a:ext cx="18986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HexaDrive 4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53901" y="3086546"/>
            <a:ext cx="72390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4" name="Shape 12"/>
          <p:cNvSpPr/>
          <p:nvPr/>
        </p:nvSpPr>
        <p:spPr>
          <a:xfrm>
            <a:off x="253901" y="2738884"/>
            <a:ext cx="114300" cy="114300"/>
          </a:xfrm>
          <a:prstGeom prst="rect">
            <a:avLst/>
          </a:prstGeom>
          <a:solidFill>
            <a:srgbClr val="4EA72E"/>
          </a:solidFill>
          <a:ln/>
        </p:spPr>
      </p:sp>
      <p:sp>
        <p:nvSpPr>
          <p:cNvPr id="15" name="Text 13"/>
          <p:cNvSpPr/>
          <p:nvPr/>
        </p:nvSpPr>
        <p:spPr>
          <a:xfrm>
            <a:off x="406301" y="2638871"/>
            <a:ext cx="333672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Parafuso Cortical 1.5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45843" y="2638871"/>
            <a:ext cx="210085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Ø 1,5 mm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70500" y="2638871"/>
            <a:ext cx="18986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HexaDrive 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53901" y="3677096"/>
            <a:ext cx="72390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9" name="Shape 17"/>
          <p:cNvSpPr/>
          <p:nvPr/>
        </p:nvSpPr>
        <p:spPr>
          <a:xfrm>
            <a:off x="253901" y="3329434"/>
            <a:ext cx="114300" cy="114300"/>
          </a:xfrm>
          <a:prstGeom prst="rect">
            <a:avLst/>
          </a:prstGeom>
          <a:solidFill>
            <a:srgbClr val="DEBE5C"/>
          </a:solidFill>
          <a:ln/>
        </p:spPr>
      </p:sp>
      <p:sp>
        <p:nvSpPr>
          <p:cNvPr id="20" name="Text 18"/>
          <p:cNvSpPr/>
          <p:nvPr/>
        </p:nvSpPr>
        <p:spPr>
          <a:xfrm>
            <a:off x="406301" y="3229421"/>
            <a:ext cx="333672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Parafuso Cortical 1.8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45843" y="3229421"/>
            <a:ext cx="210085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Ø 1,8 mm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70500" y="3229421"/>
            <a:ext cx="18986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HexaDrive 4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53901" y="4267646"/>
            <a:ext cx="72390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24" name="Shape 22"/>
          <p:cNvSpPr/>
          <p:nvPr/>
        </p:nvSpPr>
        <p:spPr>
          <a:xfrm>
            <a:off x="253901" y="3919984"/>
            <a:ext cx="114300" cy="114300"/>
          </a:xfrm>
          <a:prstGeom prst="rect">
            <a:avLst/>
          </a:prstGeom>
          <a:solidFill>
            <a:srgbClr val="4EA72E"/>
          </a:solidFill>
          <a:ln/>
        </p:spPr>
      </p:sp>
      <p:sp>
        <p:nvSpPr>
          <p:cNvPr id="25" name="Text 23"/>
          <p:cNvSpPr/>
          <p:nvPr/>
        </p:nvSpPr>
        <p:spPr>
          <a:xfrm>
            <a:off x="406301" y="3819971"/>
            <a:ext cx="333672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Parafuso SpeedTip 1.5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645843" y="3819971"/>
            <a:ext cx="210085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Ø 1,5 mm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670500" y="3819971"/>
            <a:ext cx="18986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HexaDrive 4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53901" y="4858196"/>
            <a:ext cx="72390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29" name="Shape 27"/>
          <p:cNvSpPr/>
          <p:nvPr/>
        </p:nvSpPr>
        <p:spPr>
          <a:xfrm>
            <a:off x="253901" y="4510534"/>
            <a:ext cx="114300" cy="114300"/>
          </a:xfrm>
          <a:prstGeom prst="rect">
            <a:avLst/>
          </a:prstGeom>
          <a:solidFill>
            <a:srgbClr val="357ABE"/>
          </a:solidFill>
          <a:ln/>
        </p:spPr>
      </p:sp>
      <p:sp>
        <p:nvSpPr>
          <p:cNvPr id="30" name="Text 28"/>
          <p:cNvSpPr/>
          <p:nvPr/>
        </p:nvSpPr>
        <p:spPr>
          <a:xfrm>
            <a:off x="406301" y="4410521"/>
            <a:ext cx="333672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Parafuso Cortical 2.0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645843" y="4410521"/>
            <a:ext cx="210085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Ø 2,0 mm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670500" y="4410521"/>
            <a:ext cx="18986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HexaDrive 6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253901" y="5448746"/>
            <a:ext cx="72390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34" name="Shape 32"/>
          <p:cNvSpPr/>
          <p:nvPr/>
        </p:nvSpPr>
        <p:spPr>
          <a:xfrm>
            <a:off x="253901" y="5101084"/>
            <a:ext cx="114300" cy="114300"/>
          </a:xfrm>
          <a:prstGeom prst="rect">
            <a:avLst/>
          </a:prstGeom>
          <a:solidFill>
            <a:srgbClr val="358D94"/>
          </a:solidFill>
          <a:ln/>
        </p:spPr>
      </p:sp>
      <p:sp>
        <p:nvSpPr>
          <p:cNvPr id="35" name="Text 33"/>
          <p:cNvSpPr/>
          <p:nvPr/>
        </p:nvSpPr>
        <p:spPr>
          <a:xfrm>
            <a:off x="406301" y="5001071"/>
            <a:ext cx="333672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Parafuso Cortical 2.3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645843" y="5001071"/>
            <a:ext cx="210085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Ø 2,3 mm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670500" y="5001071"/>
            <a:ext cx="18986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HexaDrive 6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253901" y="6039296"/>
            <a:ext cx="723900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39" name="Shape 37"/>
          <p:cNvSpPr/>
          <p:nvPr/>
        </p:nvSpPr>
        <p:spPr>
          <a:xfrm>
            <a:off x="253901" y="5691634"/>
            <a:ext cx="114300" cy="114300"/>
          </a:xfrm>
          <a:prstGeom prst="rect">
            <a:avLst/>
          </a:prstGeom>
          <a:solidFill>
            <a:srgbClr val="357ABE"/>
          </a:solidFill>
          <a:ln/>
        </p:spPr>
      </p:sp>
      <p:sp>
        <p:nvSpPr>
          <p:cNvPr id="40" name="Text 38"/>
          <p:cNvSpPr/>
          <p:nvPr/>
        </p:nvSpPr>
        <p:spPr>
          <a:xfrm>
            <a:off x="406301" y="5591621"/>
            <a:ext cx="333672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Parafuso TriLock 2.0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3645843" y="5591621"/>
            <a:ext cx="210085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Ø 2,0 mm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670500" y="5591621"/>
            <a:ext cx="18986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HexaDrive 6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7848600" y="1524000"/>
            <a:ext cx="4086225" cy="2095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4" name="Shape 42"/>
          <p:cNvSpPr/>
          <p:nvPr/>
        </p:nvSpPr>
        <p:spPr>
          <a:xfrm>
            <a:off x="7848600" y="3771900"/>
            <a:ext cx="4086225" cy="2095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5" name="Text 43"/>
          <p:cNvSpPr/>
          <p:nvPr/>
        </p:nvSpPr>
        <p:spPr>
          <a:xfrm>
            <a:off x="253901" y="6305550"/>
            <a:ext cx="2222897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Ortognática / Parafusos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</a:t>
            </a:r>
            <a:endParaRPr lang="en-US" sz="1200" dirty="0"/>
          </a:p>
        </p:txBody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85750"/>
            <a:ext cx="2483644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INOVAÇÃO EM PARAFUSOS CORTICAIS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53901" y="495300"/>
            <a:ext cx="2562895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Eixo cônico</a:t>
            </a:r>
            <a:endParaRPr lang="en-US" sz="3825" dirty="0"/>
          </a:p>
        </p:txBody>
      </p:sp>
      <p:sp>
        <p:nvSpPr>
          <p:cNvPr id="4" name="Shape 2"/>
          <p:cNvSpPr/>
          <p:nvPr/>
        </p:nvSpPr>
        <p:spPr>
          <a:xfrm>
            <a:off x="253901" y="1238250"/>
            <a:ext cx="571500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Text 3"/>
          <p:cNvSpPr/>
          <p:nvPr/>
        </p:nvSpPr>
        <p:spPr>
          <a:xfrm>
            <a:off x="253901" y="1524000"/>
            <a:ext cx="5886450" cy="957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eixo afilado reduz o torque de inserção em osso homogêneo — uma única broca serve para todos os comprimentos de parafuso.</a:t>
            </a:r>
            <a:endParaRPr lang="en-US" sz="1725" dirty="0"/>
          </a:p>
        </p:txBody>
      </p:sp>
      <p:sp>
        <p:nvSpPr>
          <p:cNvPr id="6" name="Shape 4"/>
          <p:cNvSpPr/>
          <p:nvPr/>
        </p:nvSpPr>
        <p:spPr>
          <a:xfrm>
            <a:off x="253901" y="2857500"/>
            <a:ext cx="571500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7" name="Shape 5"/>
          <p:cNvSpPr/>
          <p:nvPr/>
        </p:nvSpPr>
        <p:spPr>
          <a:xfrm>
            <a:off x="253901" y="3238500"/>
            <a:ext cx="5715000" cy="2667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Shape 6"/>
          <p:cNvSpPr/>
          <p:nvPr/>
        </p:nvSpPr>
        <p:spPr>
          <a:xfrm>
            <a:off x="6324600" y="1524000"/>
            <a:ext cx="5610225" cy="4381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9" name="Text 7"/>
          <p:cNvSpPr/>
          <p:nvPr/>
        </p:nvSpPr>
        <p:spPr>
          <a:xfrm>
            <a:off x="253901" y="6305550"/>
            <a:ext cx="2200275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Parafusos / Eixo cônico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51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85750"/>
            <a:ext cx="2483644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INOVAÇÃO EM PARAFUSOS CORTICAIS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53901" y="495300"/>
            <a:ext cx="4504670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Extensão rosqueada</a:t>
            </a:r>
            <a:endParaRPr lang="en-US" sz="3825" dirty="0"/>
          </a:p>
        </p:txBody>
      </p:sp>
      <p:sp>
        <p:nvSpPr>
          <p:cNvPr id="4" name="Shape 2"/>
          <p:cNvSpPr/>
          <p:nvPr/>
        </p:nvSpPr>
        <p:spPr>
          <a:xfrm>
            <a:off x="253901" y="1238250"/>
            <a:ext cx="609600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Text 3"/>
          <p:cNvSpPr/>
          <p:nvPr/>
        </p:nvSpPr>
        <p:spPr>
          <a:xfrm>
            <a:off x="253901" y="1524000"/>
            <a:ext cx="6278880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rosca sob a cabeça do parafuso permite um torque de aperto maior e reduz o risco de aperto excessivo em osso fino.</a:t>
            </a:r>
            <a:endParaRPr lang="en-US" sz="1725" dirty="0"/>
          </a:p>
        </p:txBody>
      </p:sp>
      <p:sp>
        <p:nvSpPr>
          <p:cNvPr id="6" name="Shape 4"/>
          <p:cNvSpPr/>
          <p:nvPr/>
        </p:nvSpPr>
        <p:spPr>
          <a:xfrm>
            <a:off x="253901" y="3219896"/>
            <a:ext cx="6096000" cy="95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253901" y="2857500"/>
            <a:ext cx="3139440" cy="305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50"/>
              </a:lnSpc>
              <a:buNone/>
            </a:pPr>
            <a:r>
              <a:rPr lang="en-US" sz="1275" spc="51" kern="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PARAFUSO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3301901" y="2857500"/>
            <a:ext cx="3139440" cy="305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50"/>
              </a:lnSpc>
              <a:buNone/>
            </a:pPr>
            <a:r>
              <a:rPr lang="en-US" sz="1275" spc="51" kern="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GANHO DE TORQUE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253901" y="3886646"/>
            <a:ext cx="60960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0" name="Text 8"/>
          <p:cNvSpPr/>
          <p:nvPr/>
        </p:nvSpPr>
        <p:spPr>
          <a:xfrm>
            <a:off x="253901" y="3392984"/>
            <a:ext cx="3139440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Cortical 1.2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3301901" y="3392984"/>
            <a:ext cx="3139440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+80 % (0,06 Nm)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253901" y="4553396"/>
            <a:ext cx="60960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3" name="Text 11"/>
          <p:cNvSpPr/>
          <p:nvPr/>
        </p:nvSpPr>
        <p:spPr>
          <a:xfrm>
            <a:off x="253901" y="4059734"/>
            <a:ext cx="3139440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Cortical 1.5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3301901" y="4059734"/>
            <a:ext cx="3139440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+60 % (0,08 Nm)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253901" y="5220146"/>
            <a:ext cx="609600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16" name="Text 14"/>
          <p:cNvSpPr/>
          <p:nvPr/>
        </p:nvSpPr>
        <p:spPr>
          <a:xfrm>
            <a:off x="253901" y="4726484"/>
            <a:ext cx="3139440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Cortical 1.8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3301901" y="4726484"/>
            <a:ext cx="3139440" cy="36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 × (0,11 Nm)</a:t>
            </a:r>
            <a:endParaRPr lang="en-US" sz="1575" dirty="0"/>
          </a:p>
        </p:txBody>
      </p:sp>
      <p:sp>
        <p:nvSpPr>
          <p:cNvPr id="18" name="Shape 16"/>
          <p:cNvSpPr/>
          <p:nvPr/>
        </p:nvSpPr>
        <p:spPr>
          <a:xfrm>
            <a:off x="6705600" y="1524000"/>
            <a:ext cx="5229225" cy="2095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9" name="Shape 17"/>
          <p:cNvSpPr/>
          <p:nvPr/>
        </p:nvSpPr>
        <p:spPr>
          <a:xfrm>
            <a:off x="6705600" y="3771900"/>
            <a:ext cx="5229225" cy="2095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0" name="Text 18"/>
          <p:cNvSpPr/>
          <p:nvPr/>
        </p:nvSpPr>
        <p:spPr>
          <a:xfrm>
            <a:off x="253901" y="6305550"/>
            <a:ext cx="2730914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Parafusos / Extensão rosqueada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</a:t>
            </a:r>
            <a:endParaRPr lang="en-US" sz="12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8621" b="8621"/>
          <a:stretch/>
        </p:blipFill>
        <p:spPr>
          <a:xfrm>
            <a:off x="6667500" y="0"/>
            <a:ext cx="55245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100000"/>
                </a:srgbClr>
              </a:gs>
              <a:gs pos="58000">
                <a:srgbClr val="000000">
                  <a:alpha val="10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Shape 1"/>
          <p:cNvSpPr/>
          <p:nvPr/>
        </p:nvSpPr>
        <p:spPr>
          <a:xfrm>
            <a:off x="828675" y="718096"/>
            <a:ext cx="30480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Text 2"/>
          <p:cNvSpPr/>
          <p:nvPr/>
        </p:nvSpPr>
        <p:spPr>
          <a:xfrm>
            <a:off x="1266825" y="647700"/>
            <a:ext cx="9060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CAPÍTULO 06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8675" y="1009650"/>
            <a:ext cx="5886450" cy="1135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911"/>
              </a:lnSpc>
              <a:buNone/>
            </a:pPr>
            <a:r>
              <a:rPr lang="en-US" sz="4800" spc="-48" kern="0" dirty="0">
                <a:solidFill>
                  <a:srgbClr val="FFFFFF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Sistemas complementares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28675" y="2857500"/>
            <a:ext cx="529780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62"/>
              </a:lnSpc>
              <a:buNone/>
            </a:pPr>
            <a:r>
              <a:rPr lang="en-US" sz="1800" dirty="0">
                <a:solidFill>
                  <a:srgbClr val="FFFFFF">
                    <a:alpha val="7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Chave de fenda 90° e conjunto transbucal. Acesso onde a mão não chega.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53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4459813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Chave de fenda 90°</a:t>
            </a:r>
            <a:endParaRPr lang="en-US" sz="3825" dirty="0"/>
          </a:p>
        </p:txBody>
      </p:sp>
      <p:sp>
        <p:nvSpPr>
          <p:cNvPr id="3" name="Text 1"/>
          <p:cNvSpPr/>
          <p:nvPr/>
        </p:nvSpPr>
        <p:spPr>
          <a:xfrm>
            <a:off x="253901" y="914400"/>
            <a:ext cx="8591550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 instrumento para furar e inserir parafusos na mandíbula posterior.</a:t>
            </a:r>
            <a:endParaRPr lang="en-US" sz="1725" dirty="0"/>
          </a:p>
        </p:txBody>
      </p:sp>
      <p:sp>
        <p:nvSpPr>
          <p:cNvPr id="4" name="Shape 2"/>
          <p:cNvSpPr/>
          <p:nvPr/>
        </p:nvSpPr>
        <p:spPr>
          <a:xfrm>
            <a:off x="253901" y="1714500"/>
            <a:ext cx="116776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Shape 3"/>
          <p:cNvSpPr/>
          <p:nvPr/>
        </p:nvSpPr>
        <p:spPr>
          <a:xfrm>
            <a:off x="253901" y="2000250"/>
            <a:ext cx="5695950" cy="3429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" name="Shape 4"/>
          <p:cNvSpPr/>
          <p:nvPr/>
        </p:nvSpPr>
        <p:spPr>
          <a:xfrm>
            <a:off x="6235601" y="2000250"/>
            <a:ext cx="5695950" cy="34290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7" name="Text 5"/>
          <p:cNvSpPr/>
          <p:nvPr/>
        </p:nvSpPr>
        <p:spPr>
          <a:xfrm>
            <a:off x="253901" y="6305550"/>
            <a:ext cx="1952179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Chave de fenda 90°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54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6070402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Características e benefícios</a:t>
            </a:r>
            <a:endParaRPr lang="en-US" sz="3825" dirty="0"/>
          </a:p>
        </p:txBody>
      </p:sp>
      <p:sp>
        <p:nvSpPr>
          <p:cNvPr id="3" name="Shape 1"/>
          <p:cNvSpPr/>
          <p:nvPr/>
        </p:nvSpPr>
        <p:spPr>
          <a:xfrm>
            <a:off x="253901" y="1486346"/>
            <a:ext cx="7429500" cy="95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673001" y="1123950"/>
            <a:ext cx="3610356" cy="305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50"/>
              </a:lnSpc>
              <a:buNone/>
            </a:pPr>
            <a:r>
              <a:rPr lang="en-US" sz="1275" spc="51" kern="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CARACTERÍSTICAS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4178201" y="1123950"/>
            <a:ext cx="3610356" cy="305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250"/>
              </a:lnSpc>
              <a:buNone/>
            </a:pPr>
            <a:r>
              <a:rPr lang="en-US" sz="1275" spc="51" kern="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BENEFÍCIOS</a:t>
            </a:r>
            <a:endParaRPr lang="en-US" sz="1275" dirty="0"/>
          </a:p>
        </p:txBody>
      </p:sp>
      <p:sp>
        <p:nvSpPr>
          <p:cNvPr id="6" name="Shape 4"/>
          <p:cNvSpPr/>
          <p:nvPr/>
        </p:nvSpPr>
        <p:spPr>
          <a:xfrm>
            <a:off x="253901" y="2334071"/>
            <a:ext cx="74295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7" name="Text 5"/>
          <p:cNvSpPr/>
          <p:nvPr/>
        </p:nvSpPr>
        <p:spPr>
          <a:xfrm>
            <a:off x="253901" y="1667321"/>
            <a:ext cx="4953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2250" dirty="0">
                <a:solidFill>
                  <a:srgbClr val="BBD7F3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73001" y="1667321"/>
            <a:ext cx="38557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Ângulo de 90°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78201" y="1667321"/>
            <a:ext cx="361035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Inserção de parafuso na mandíbula posterior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53901" y="3181796"/>
            <a:ext cx="74295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1" name="Text 9"/>
          <p:cNvSpPr/>
          <p:nvPr/>
        </p:nvSpPr>
        <p:spPr>
          <a:xfrm>
            <a:off x="253901" y="2515046"/>
            <a:ext cx="4953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2250" dirty="0">
                <a:solidFill>
                  <a:srgbClr val="BBD7F3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73001" y="2515046"/>
            <a:ext cx="38557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Multifuncional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78201" y="2515046"/>
            <a:ext cx="361035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Fura e insere parafusos com o mesmo instrumento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53901" y="4029521"/>
            <a:ext cx="74295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5" name="Text 13"/>
          <p:cNvSpPr/>
          <p:nvPr/>
        </p:nvSpPr>
        <p:spPr>
          <a:xfrm>
            <a:off x="253901" y="3362771"/>
            <a:ext cx="4953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2250" dirty="0">
                <a:solidFill>
                  <a:srgbClr val="BBD7F3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3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73001" y="3362771"/>
            <a:ext cx="38557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Garfo de suporte de parafuso removível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78201" y="3362771"/>
            <a:ext cx="361035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Segura placa e parafuso na posição durante a inserção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53901" y="4667696"/>
            <a:ext cx="7429500" cy="9525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9" name="Text 17"/>
          <p:cNvSpPr/>
          <p:nvPr/>
        </p:nvSpPr>
        <p:spPr>
          <a:xfrm>
            <a:off x="253901" y="4210496"/>
            <a:ext cx="4953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2250" dirty="0">
                <a:solidFill>
                  <a:srgbClr val="BBD7F3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4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673001" y="4210496"/>
            <a:ext cx="38557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Desmontável em três componentes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178201" y="4210496"/>
            <a:ext cx="38557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Limpeza e esterilização fáceis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53901" y="5305871"/>
            <a:ext cx="742950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23" name="Text 21"/>
          <p:cNvSpPr/>
          <p:nvPr/>
        </p:nvSpPr>
        <p:spPr>
          <a:xfrm>
            <a:off x="253901" y="4848671"/>
            <a:ext cx="4953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81"/>
              </a:lnSpc>
              <a:buNone/>
            </a:pPr>
            <a:r>
              <a:rPr lang="en-US" sz="2250" dirty="0">
                <a:solidFill>
                  <a:srgbClr val="BBD7F3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5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673001" y="4848671"/>
            <a:ext cx="38557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Nó limitador de torque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178201" y="4848671"/>
            <a:ext cx="38557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Protege o instrumento contra sobrecarga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001000" y="1123950"/>
            <a:ext cx="3933825" cy="21907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7" name="Shape 25"/>
          <p:cNvSpPr/>
          <p:nvPr/>
        </p:nvSpPr>
        <p:spPr>
          <a:xfrm>
            <a:off x="8001000" y="3467100"/>
            <a:ext cx="3933825" cy="21907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8" name="Text 26"/>
          <p:cNvSpPr/>
          <p:nvPr/>
        </p:nvSpPr>
        <p:spPr>
          <a:xfrm>
            <a:off x="253901" y="6305550"/>
            <a:ext cx="1952179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Chave de fenda 90°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55</a:t>
            </a:r>
            <a:endParaRPr lang="en-US" sz="12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10477500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Perfil menor, mais liberdade de movimento</a:t>
            </a:r>
            <a:endParaRPr lang="en-US" sz="3825" dirty="0"/>
          </a:p>
        </p:txBody>
      </p:sp>
      <p:sp>
        <p:nvSpPr>
          <p:cNvPr id="3" name="Shape 1"/>
          <p:cNvSpPr/>
          <p:nvPr/>
        </p:nvSpPr>
        <p:spPr>
          <a:xfrm>
            <a:off x="253901" y="1143000"/>
            <a:ext cx="571500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4" name="Text 2"/>
          <p:cNvSpPr/>
          <p:nvPr/>
        </p:nvSpPr>
        <p:spPr>
          <a:xfrm>
            <a:off x="253901" y="1428750"/>
            <a:ext cx="186630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539651" y="1438275"/>
            <a:ext cx="5214567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Altura de perfil reduzida em relação à chave de fenda 90° anterior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253901" y="2267843"/>
            <a:ext cx="186630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539651" y="2277368"/>
            <a:ext cx="5443740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Solução de armazenamento transparente — uso rápido e flexível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253901" y="3106936"/>
            <a:ext cx="186630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⎼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539651" y="3116461"/>
            <a:ext cx="483792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Módulo removível para brocas e pontas de chave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253901" y="3429000"/>
            <a:ext cx="571500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11" name="Shape 9"/>
          <p:cNvSpPr/>
          <p:nvPr/>
        </p:nvSpPr>
        <p:spPr>
          <a:xfrm>
            <a:off x="253901" y="3810000"/>
            <a:ext cx="5715000" cy="20955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2" name="Shape 10"/>
          <p:cNvSpPr/>
          <p:nvPr/>
        </p:nvSpPr>
        <p:spPr>
          <a:xfrm>
            <a:off x="6324600" y="1428750"/>
            <a:ext cx="2709863" cy="21907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3" name="Shape 11"/>
          <p:cNvSpPr/>
          <p:nvPr/>
        </p:nvSpPr>
        <p:spPr>
          <a:xfrm>
            <a:off x="9224963" y="1428750"/>
            <a:ext cx="2709863" cy="21907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4" name="Shape 12"/>
          <p:cNvSpPr/>
          <p:nvPr/>
        </p:nvSpPr>
        <p:spPr>
          <a:xfrm>
            <a:off x="6324600" y="3810000"/>
            <a:ext cx="5610225" cy="21907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5" name="Text 13"/>
          <p:cNvSpPr/>
          <p:nvPr/>
        </p:nvSpPr>
        <p:spPr>
          <a:xfrm>
            <a:off x="253901" y="6305550"/>
            <a:ext cx="2665305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Armazenamento e esterilização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56</a:t>
            </a:r>
            <a:endParaRPr lang="en-US" sz="12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7449011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Compatibilidade e principais usos</a:t>
            </a:r>
            <a:endParaRPr lang="en-US" sz="3825" dirty="0"/>
          </a:p>
        </p:txBody>
      </p:sp>
      <p:sp>
        <p:nvSpPr>
          <p:cNvPr id="3" name="Text 1"/>
          <p:cNvSpPr/>
          <p:nvPr/>
        </p:nvSpPr>
        <p:spPr>
          <a:xfrm>
            <a:off x="253901" y="1143000"/>
            <a:ext cx="5886450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CHAVE DE FENDA 90°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3901" y="1503015"/>
            <a:ext cx="5886450" cy="877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Usada principalmente em combinação com os sistemas MODUS 2 Mandíbula e MODUS 2 Ortognático. Compatível com os seguintes tamanhos de parafuso:</a:t>
            </a:r>
            <a:endParaRPr lang="en-US" sz="1575" dirty="0"/>
          </a:p>
        </p:txBody>
      </p:sp>
      <p:sp>
        <p:nvSpPr>
          <p:cNvPr id="5" name="Shape 3"/>
          <p:cNvSpPr/>
          <p:nvPr/>
        </p:nvSpPr>
        <p:spPr>
          <a:xfrm>
            <a:off x="253901" y="2571452"/>
            <a:ext cx="609600" cy="523875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4876" y="2676227"/>
            <a:ext cx="3238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1,2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77801" y="2571452"/>
            <a:ext cx="609600" cy="523875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8776" y="2676227"/>
            <a:ext cx="3238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1,5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701701" y="2571452"/>
            <a:ext cx="609600" cy="523875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82676" y="2676227"/>
            <a:ext cx="3238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1,8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425601" y="2571452"/>
            <a:ext cx="609600" cy="523875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576" y="2676227"/>
            <a:ext cx="3238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2,0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149501" y="2571452"/>
            <a:ext cx="609600" cy="523875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0476" y="2676227"/>
            <a:ext cx="3238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2,3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873401" y="2571452"/>
            <a:ext cx="609600" cy="523875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54376" y="2676227"/>
            <a:ext cx="3238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2,5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53901" y="3438227"/>
            <a:ext cx="571500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18" name="Text 16"/>
          <p:cNvSpPr/>
          <p:nvPr/>
        </p:nvSpPr>
        <p:spPr>
          <a:xfrm>
            <a:off x="253901" y="3714452"/>
            <a:ext cx="5886450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CONJUNTO TRANSBUCAL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3901" y="4074468"/>
            <a:ext cx="5886450" cy="877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0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Acesso transoral para osteossíntese no ângulo da mandíbula, ramo ascendente e côndilo — e para remoção transoral de parafusos.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253901" y="5142905"/>
            <a:ext cx="609600" cy="523875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876" y="5247680"/>
            <a:ext cx="3238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2,0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77801" y="5142905"/>
            <a:ext cx="609600" cy="523875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58776" y="5247680"/>
            <a:ext cx="3238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2,3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701701" y="5142905"/>
            <a:ext cx="609600" cy="523875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82676" y="5247680"/>
            <a:ext cx="3238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2,5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324600" y="1143000"/>
            <a:ext cx="5610225" cy="23812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7" name="Shape 25"/>
          <p:cNvSpPr/>
          <p:nvPr/>
        </p:nvSpPr>
        <p:spPr>
          <a:xfrm>
            <a:off x="6324600" y="3714750"/>
            <a:ext cx="5610225" cy="238125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8" name="Text 26"/>
          <p:cNvSpPr/>
          <p:nvPr/>
        </p:nvSpPr>
        <p:spPr>
          <a:xfrm>
            <a:off x="253901" y="6305550"/>
            <a:ext cx="1771204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Compatibilidade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57</a:t>
            </a:r>
            <a:endParaRPr lang="en-US" sz="12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5060469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857"/>
              </a:lnSpc>
              <a:buNone/>
            </a:pPr>
            <a:r>
              <a:rPr lang="en-US" sz="3825" spc="-38" kern="0" dirty="0">
                <a:solidFill>
                  <a:srgbClr val="000000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Resumo de referências</a:t>
            </a:r>
            <a:endParaRPr lang="en-US" sz="3825" dirty="0"/>
          </a:p>
        </p:txBody>
      </p:sp>
      <p:sp>
        <p:nvSpPr>
          <p:cNvPr id="3" name="Text 1"/>
          <p:cNvSpPr/>
          <p:nvPr/>
        </p:nvSpPr>
        <p:spPr>
          <a:xfrm>
            <a:off x="253901" y="876300"/>
            <a:ext cx="9429750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00"/>
              </a:lnSpc>
              <a:buNone/>
            </a:pPr>
            <a:r>
              <a:rPr lang="en-US" sz="1575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Códigos citados nesta apresentação, por indicação.</a:t>
            </a:r>
            <a:endParaRPr lang="en-US" sz="1575" dirty="0"/>
          </a:p>
        </p:txBody>
      </p:sp>
      <p:sp>
        <p:nvSpPr>
          <p:cNvPr id="4" name="Shape 2"/>
          <p:cNvSpPr/>
          <p:nvPr/>
        </p:nvSpPr>
        <p:spPr>
          <a:xfrm>
            <a:off x="253901" y="1524000"/>
            <a:ext cx="36385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5" name="Text 3"/>
          <p:cNvSpPr/>
          <p:nvPr/>
        </p:nvSpPr>
        <p:spPr>
          <a:xfrm>
            <a:off x="253901" y="1704975"/>
            <a:ext cx="3747707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MANDIBLE — CÔNDILO E CORPO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3901" y="2045940"/>
            <a:ext cx="3747707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M2-4654 · M2-4656 · M2-4658 M2-4660 · M2-4662 · M2-4664 M2-4692 · M2-4852 · M2-4854 M2-4882 · M2-4884 · M2-4886 M2-4894 · M2-4300 · M2-4384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73451" y="1524000"/>
            <a:ext cx="36385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8" name="Text 6"/>
          <p:cNvSpPr/>
          <p:nvPr/>
        </p:nvSpPr>
        <p:spPr>
          <a:xfrm>
            <a:off x="4273451" y="1704975"/>
            <a:ext cx="3747707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MANDIBLE — RAMO, ÂNGULO E GRADE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73451" y="2045940"/>
            <a:ext cx="3747707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M2-4613 · M2-4617 · M2-4618 M2-4621 · M2-4637 · M2-4638 M2-4651 · M2-4652 · M2-4829 M2-4843 · M2-4847 · M2-4848 M2-4856 · M2-4324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93001" y="1524000"/>
            <a:ext cx="3638550" cy="9525"/>
          </a:xfrm>
          <a:prstGeom prst="rect">
            <a:avLst/>
          </a:prstGeom>
          <a:solidFill>
            <a:srgbClr val="BBD7F3"/>
          </a:solidFill>
          <a:ln/>
        </p:spPr>
      </p:sp>
      <p:sp>
        <p:nvSpPr>
          <p:cNvPr id="11" name="Text 9"/>
          <p:cNvSpPr/>
          <p:nvPr/>
        </p:nvSpPr>
        <p:spPr>
          <a:xfrm>
            <a:off x="8293001" y="1704975"/>
            <a:ext cx="3747707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900" spc="108" kern="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ORTOGNÁTICA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93001" y="2045940"/>
            <a:ext cx="3747707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M2-4047 · M2-4048 · M2-4049 M2-4050 · M2-4051 · M2-4052 M2-4053 · M2-4054 · M2-4055 M2-4056 · M2-4057 · M2-4058 M2-4061 · M2-4062 · M2-4063 M2-4064 · M2-4065 · M2-4066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3901" y="5905500"/>
            <a:ext cx="10791825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58585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Lista de referência para treinamento. Confirme disponibilidade e registro por país antes de qualquer proposta comercial.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3901" y="6305550"/>
            <a:ext cx="1511498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MODUS 2 — Referências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000000">
                    <a:alpha val="6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58</a:t>
            </a:r>
            <a:endParaRPr lang="en-US" sz="12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8675" y="952500"/>
            <a:ext cx="5886450" cy="1135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911"/>
              </a:lnSpc>
              <a:buNone/>
            </a:pPr>
            <a:r>
              <a:rPr lang="en-US" sz="4800" spc="-48" kern="0" dirty="0">
                <a:solidFill>
                  <a:srgbClr val="FFFFFF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MODUS 2 em uma frase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828675" y="2857500"/>
            <a:ext cx="5334000" cy="952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8675" y="3143250"/>
            <a:ext cx="549402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76"/>
              </a:lnSpc>
              <a:buNone/>
            </a:pPr>
            <a:r>
              <a:rPr lang="en-US" sz="2100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 conceito de cores. Três indicações. Tecnologias que os cirurgiões já conhecem.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0492" b="-20492"/>
          <a:stretch/>
        </p:blipFill>
        <p:spPr>
          <a:xfrm>
            <a:off x="6667500" y="1047750"/>
            <a:ext cx="4953000" cy="4762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69179" y="6286500"/>
            <a:ext cx="24512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947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59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824" y="381000"/>
            <a:ext cx="10572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7100" b="71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90000"/>
                </a:srgbClr>
              </a:gs>
              <a:gs pos="55000">
                <a:srgbClr val="000000">
                  <a:alpha val="55000"/>
                </a:srgbClr>
              </a:gs>
              <a:gs pos="100000">
                <a:srgbClr val="000000">
                  <a:alpha val="5000"/>
                </a:srgbClr>
              </a:gs>
            </a:gsLst>
            <a:lin ang="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1028700" y="1714500"/>
            <a:ext cx="6916579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848"/>
              </a:lnSpc>
              <a:buNone/>
            </a:pPr>
            <a:r>
              <a:rPr lang="en-US" sz="6000" spc="-60" kern="0" dirty="0">
                <a:solidFill>
                  <a:srgbClr val="FFFFFF"/>
                </a:solidFill>
                <a:latin typeface="Old Standard TT" pitchFamily="34" charset="0"/>
                <a:ea typeface="Old Standard TT" pitchFamily="34" charset="-122"/>
                <a:cs typeface="Old Standard TT" pitchFamily="34" charset="-120"/>
              </a:rPr>
              <a:t>Move again. Enjoy life.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1047750" y="4000500"/>
            <a:ext cx="916335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82"/>
              </a:lnSpc>
              <a:buNone/>
            </a:pPr>
            <a:r>
              <a:rPr lang="en-US" sz="1050" spc="189" kern="0" dirty="0">
                <a:solidFill>
                  <a:srgbClr val="BBD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OBRIGADO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4953000"/>
            <a:ext cx="1514475" cy="2705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2026-07-31T17:19:47Z</dcterms:created>
  <dcterms:modified xsi:type="dcterms:W3CDTF">2026-07-31T17:19:47Z</dcterms:modified>
</cp:coreProperties>
</file>