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321" r:id="rId5"/>
    <p:sldId id="331" r:id="rId6"/>
    <p:sldId id="261" r:id="rId7"/>
    <p:sldId id="263" r:id="rId8"/>
    <p:sldId id="267" r:id="rId9"/>
    <p:sldId id="262" r:id="rId10"/>
    <p:sldId id="323" r:id="rId11"/>
    <p:sldId id="268" r:id="rId12"/>
    <p:sldId id="269" r:id="rId13"/>
    <p:sldId id="270" r:id="rId14"/>
    <p:sldId id="272" r:id="rId15"/>
    <p:sldId id="273" r:id="rId16"/>
    <p:sldId id="271" r:id="rId17"/>
    <p:sldId id="274" r:id="rId18"/>
    <p:sldId id="275" r:id="rId19"/>
    <p:sldId id="276" r:id="rId20"/>
    <p:sldId id="279" r:id="rId21"/>
    <p:sldId id="277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0" r:id="rId32"/>
    <p:sldId id="291" r:id="rId33"/>
    <p:sldId id="292" r:id="rId34"/>
    <p:sldId id="293" r:id="rId35"/>
    <p:sldId id="294" r:id="rId36"/>
    <p:sldId id="296" r:id="rId37"/>
    <p:sldId id="297" r:id="rId38"/>
    <p:sldId id="324" r:id="rId39"/>
    <p:sldId id="299" r:id="rId40"/>
    <p:sldId id="325" r:id="rId41"/>
    <p:sldId id="326" r:id="rId42"/>
    <p:sldId id="327" r:id="rId43"/>
    <p:sldId id="328" r:id="rId44"/>
    <p:sldId id="298" r:id="rId45"/>
    <p:sldId id="330" r:id="rId46"/>
    <p:sldId id="300" r:id="rId47"/>
    <p:sldId id="303" r:id="rId48"/>
    <p:sldId id="304" r:id="rId49"/>
    <p:sldId id="306" r:id="rId50"/>
    <p:sldId id="305" r:id="rId51"/>
    <p:sldId id="307" r:id="rId52"/>
    <p:sldId id="309" r:id="rId53"/>
    <p:sldId id="310" r:id="rId54"/>
    <p:sldId id="311" r:id="rId55"/>
    <p:sldId id="312" r:id="rId56"/>
    <p:sldId id="314" r:id="rId57"/>
    <p:sldId id="315" r:id="rId58"/>
    <p:sldId id="313" r:id="rId59"/>
    <p:sldId id="317" r:id="rId60"/>
    <p:sldId id="318" r:id="rId61"/>
    <p:sldId id="316" r:id="rId62"/>
    <p:sldId id="320" r:id="rId6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720280F-7284-4F85-AA26-31723027EEB9}">
          <p14:sldIdLst>
            <p14:sldId id="256"/>
            <p14:sldId id="257"/>
            <p14:sldId id="258"/>
            <p14:sldId id="321"/>
            <p14:sldId id="331"/>
            <p14:sldId id="261"/>
          </p14:sldIdLst>
        </p14:section>
        <p14:section name="MIDFACE" id="{1386552A-DEB9-4E56-9924-C1FE19E2210F}">
          <p14:sldIdLst>
            <p14:sldId id="263"/>
            <p14:sldId id="267"/>
            <p14:sldId id="262"/>
            <p14:sldId id="323"/>
            <p14:sldId id="268"/>
            <p14:sldId id="269"/>
            <p14:sldId id="270"/>
          </p14:sldIdLst>
        </p14:section>
        <p14:section name="MANDIBLE" id="{75560965-72E0-4D68-BB57-B025A5743EF4}">
          <p14:sldIdLst>
            <p14:sldId id="272"/>
            <p14:sldId id="273"/>
            <p14:sldId id="271"/>
            <p14:sldId id="274"/>
            <p14:sldId id="275"/>
            <p14:sldId id="276"/>
            <p14:sldId id="279"/>
            <p14:sldId id="277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90"/>
            <p14:sldId id="291"/>
            <p14:sldId id="292"/>
            <p14:sldId id="293"/>
            <p14:sldId id="294"/>
            <p14:sldId id="296"/>
            <p14:sldId id="297"/>
            <p14:sldId id="324"/>
          </p14:sldIdLst>
        </p14:section>
        <p14:section name="ORTHOGNATHICS" id="{67F48EE4-1966-4B54-83E9-12C4182B3856}">
          <p14:sldIdLst>
            <p14:sldId id="299"/>
            <p14:sldId id="325"/>
            <p14:sldId id="326"/>
            <p14:sldId id="327"/>
            <p14:sldId id="328"/>
            <p14:sldId id="298"/>
            <p14:sldId id="330"/>
            <p14:sldId id="300"/>
            <p14:sldId id="303"/>
            <p14:sldId id="304"/>
            <p14:sldId id="306"/>
            <p14:sldId id="305"/>
            <p14:sldId id="307"/>
            <p14:sldId id="309"/>
            <p14:sldId id="310"/>
            <p14:sldId id="311"/>
            <p14:sldId id="312"/>
          </p14:sldIdLst>
        </p14:section>
        <p14:section name="SISTEMA COMPLEMENTAR" id="{B4F87795-ADDD-4DEB-B37C-34259145F9C8}">
          <p14:sldIdLst>
            <p14:sldId id="314"/>
            <p14:sldId id="315"/>
            <p14:sldId id="313"/>
            <p14:sldId id="317"/>
            <p14:sldId id="318"/>
            <p14:sldId id="316"/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315" userDrawn="1">
          <p15:clr>
            <a:srgbClr val="A4A3A4"/>
          </p15:clr>
        </p15:guide>
        <p15:guide id="4" orient="horz" pos="5" userDrawn="1">
          <p15:clr>
            <a:srgbClr val="A4A3A4"/>
          </p15:clr>
        </p15:guide>
        <p15:guide id="5" userDrawn="1">
          <p15:clr>
            <a:srgbClr val="A4A3A4"/>
          </p15:clr>
        </p15:guide>
        <p15:guide id="6" pos="7680" userDrawn="1">
          <p15:clr>
            <a:srgbClr val="A4A3A4"/>
          </p15:clr>
        </p15:guide>
        <p15:guide id="7" pos="143" userDrawn="1">
          <p15:clr>
            <a:srgbClr val="A4A3A4"/>
          </p15:clr>
        </p15:guide>
        <p15:guide id="8" orient="horz" pos="210" userDrawn="1">
          <p15:clr>
            <a:srgbClr val="A4A3A4"/>
          </p15:clr>
        </p15:guide>
        <p15:guide id="9" orient="horz" pos="4156" userDrawn="1">
          <p15:clr>
            <a:srgbClr val="A4A3A4"/>
          </p15:clr>
        </p15:guide>
        <p15:guide id="10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BE5C"/>
    <a:srgbClr val="FFFFFF"/>
    <a:srgbClr val="000000"/>
    <a:srgbClr val="FFE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975D42-E423-49DD-815D-8C53CCC8E7D9}" v="1" dt="2026-07-31T13:53:19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38"/>
      </p:cViewPr>
      <p:guideLst>
        <p:guide orient="horz" pos="2092"/>
        <p:guide pos="3840"/>
        <p:guide orient="horz" pos="4315"/>
        <p:guide orient="horz" pos="5"/>
        <p:guide/>
        <p:guide pos="7680"/>
        <p:guide pos="143"/>
        <p:guide orient="horz" pos="210"/>
        <p:guide orient="horz" pos="415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3F715-22CE-4F62-B621-7F46A51607A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54081-FD07-4AD5-B18E-4E69F097F4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18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9F00F-DEB2-D656-4C26-8B3DAAEFF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86675C-6869-6A4B-F6F1-C51EA89E5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834AFE-FCDD-E48D-694B-F057DFD35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53D54E-8713-F900-2AFA-F225AFA08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428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66D1-9996-8520-6648-4C1BFE0C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A818F9-CDFD-DCD9-4454-3A73AEAEE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34A327-9B20-BC15-D867-E487CC6E2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2E78BA-A3B4-CD46-E136-263E02052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704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878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59E0-000A-3D1B-E48B-DAB4AD83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FD91B2-DF13-5D5B-28B5-19395A5A5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853CA9-0A7D-3CB2-C544-DFAE941B4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8A378C-2FD9-F5F5-F519-931CA4321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831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DB13-BF89-A37D-8A9A-3E5E68B3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411F1D-D255-177C-AD07-E92F3847D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5A4713-7DDD-6B44-8B7E-23C963680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2CA3EB-BC35-BBD0-90C0-8D78ED128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0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427A-F277-78A5-5DE1-D6167A5D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C8C575-CC23-4D37-32E7-B771B9340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41FFC0-1E37-DC97-3DBE-BD3A8A30E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DDA837-1EC3-0DA4-6E8F-C0CD0F158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9435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3F13-4046-40B0-CAE9-B363EE08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36572B-5E21-2523-3664-839ACE7AF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FBE692-9146-A10F-F1B9-95E61FF31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1A48A5-5BAC-08FA-BD8F-2F6971256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781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B620-A584-FCF3-E25F-63421BE8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8AA73B-2D1A-EBAE-F914-DC4AF321E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6F1271-A468-D8EA-D482-3845551BD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169A74-21C6-BCC9-BC8B-F8A059208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635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C6345-4EB5-7364-744D-F1E0EE24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430662-EB30-DA40-CB9C-F9385DBF5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C4919B-26FB-E9E9-E55A-BF36A0062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3C0C20-85FE-2F35-A02B-0E8870B32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539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535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475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54081-FD07-4AD5-B18E-4E69F097F474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124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CF665-FC71-32F0-878A-95392AF84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958533-EFA5-5B94-91F2-028AA9CA4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92E9FC-1421-7B2E-7725-F5C34869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A06599-ED57-FFFA-B328-DFFDF631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9C82C1-4E54-8EF0-7450-DE97992F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24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B8565-AA75-1CEE-7E0B-CA22CED7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2488B8-5701-E65D-13D2-942C339E8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4AFC2A-04CD-2CA0-2558-FA7BDD88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8F1D07-7588-32E6-F3A8-2690C741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6A1ACB-C3FB-D93D-A067-F6C5000B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94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518EB-9D87-18DD-29DE-ACD187C7C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089D99-A141-6E36-5AB6-910A86C09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812300-5E4E-70E6-37C4-2301837B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87A3DC-56EB-64B9-4F14-BB58C88E2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B26AE7-E4C9-7498-F039-4741E2F5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25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8281A-DC27-3845-45CD-7CD4077A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7618-F79E-02BA-DB43-5A28B2A0B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FAEF60-6A33-08A3-33FE-B4D377A81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EEEC4E-7A2C-DDFD-60DC-470A83FA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24A7B4-0A9F-D030-85B3-23E8A64C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45004D-D91D-730A-B0E5-12736A29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16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82451-7A4E-7603-7095-5950AE0C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0FD232-2A70-30BD-E21B-8FF9D24A7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2EC0AC-DE08-7056-1EF4-C376B4497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2384D96-DDDC-52AD-AA85-1180A2421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82DDC6-88E4-F3FD-CC56-0AA239117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A72334-C13C-BB07-EA5E-07DEAAF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67BCD1-F5B3-D55C-1EEE-7A26C2E2F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BD6711-8790-7C86-2243-6DE60126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0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22E27-70BD-8042-76AB-F7BE9E2A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9A801B-4108-2982-B6E3-4B7A95779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C1B8B8-9FA4-0845-310A-DDCBD8ED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24521D-5901-8E80-1538-1902FE9B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46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D66698-6C2E-C5F3-D4C3-95526FDF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BFBD02-913B-1356-87C4-9E990467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14FF00-BFAA-1C48-DC98-42D9A307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39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90864-5888-9AB7-9BBE-2641CC749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625CD-3AC0-6554-DBF0-6D628F21D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21D9EA-3013-06AA-CAFD-67278DC3F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D18A70-B4EB-3480-FA86-DB896668B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E88F97-833B-7014-7C0A-A4F11D68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7FC50D-31E8-CB0C-31D5-341ACDA7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52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EA546-FA92-DC31-BB99-A4091232D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2437ADE-B7B7-8C29-FF7B-B8566650C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EC602C-3BC1-CB02-E273-6EF5F0B70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836EE5-DACB-2569-AFA2-37B2B6A3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C5B2EA-9952-0FF8-25C8-1C6C69C8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82DFA2-5244-C137-345B-D3998DD4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513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DC320-046F-6A32-50FD-CEDC5F67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2B1433-CC22-0ADD-BFF5-E9751CB25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F2D047-CC0D-51E6-6EAA-C22B28DF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E1431B-5E3F-36AA-1427-9D96D6EE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37300A-0C47-494B-0213-F4648D72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04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88E539-88C0-914B-ED1A-A8400AA1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E0A5DC-E86F-5089-83E4-78DB911D2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7BCC56-A187-9288-376A-2DD91D6D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7511EC-C2EA-459E-7F7A-257F8338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7D5FA5-9BDA-8099-B2EB-1A1F5044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9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8AF368-646F-F655-879E-427B70CC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46FE8A-CDD7-CA83-3087-EC8B8EFDA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C10F9D-ACE0-8B26-1A86-19A81AAB5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13729-653F-4C75-A2F1-F4521C42B202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3FBA3-D9C4-3705-0E1A-1DA5ECA3C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436CFF-C92F-B3F5-EF55-E00B9EB2E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9E314-58F3-44E5-A532-F1EAD7E07A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2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6.jpeg"/><Relationship Id="rId18" Type="http://schemas.openxmlformats.org/officeDocument/2006/relationships/image" Target="../media/image20.png"/><Relationship Id="rId3" Type="http://schemas.openxmlformats.org/officeDocument/2006/relationships/image" Target="../media/image7.png"/><Relationship Id="rId21" Type="http://schemas.openxmlformats.org/officeDocument/2006/relationships/image" Target="../media/image22.jpe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17" Type="http://schemas.openxmlformats.org/officeDocument/2006/relationships/image" Target="../media/image19.jpeg"/><Relationship Id="rId2" Type="http://schemas.openxmlformats.org/officeDocument/2006/relationships/image" Target="../media/image4.png"/><Relationship Id="rId16" Type="http://schemas.microsoft.com/office/2007/relationships/hdphoto" Target="../media/hdphoto2.wdp"/><Relationship Id="rId20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4.jpeg"/><Relationship Id="rId5" Type="http://schemas.openxmlformats.org/officeDocument/2006/relationships/image" Target="../media/image9.jpeg"/><Relationship Id="rId15" Type="http://schemas.openxmlformats.org/officeDocument/2006/relationships/image" Target="../media/image18.png"/><Relationship Id="rId23" Type="http://schemas.openxmlformats.org/officeDocument/2006/relationships/image" Target="../media/image24.jpeg"/><Relationship Id="rId10" Type="http://schemas.openxmlformats.org/officeDocument/2006/relationships/image" Target="../media/image13.jpeg"/><Relationship Id="rId19" Type="http://schemas.microsoft.com/office/2007/relationships/hdphoto" Target="../media/hdphoto3.wdp"/><Relationship Id="rId4" Type="http://schemas.openxmlformats.org/officeDocument/2006/relationships/image" Target="../media/image8.pn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Relationship Id="rId22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tiff"/><Relationship Id="rId3" Type="http://schemas.openxmlformats.org/officeDocument/2006/relationships/image" Target="../media/image4.png"/><Relationship Id="rId7" Type="http://schemas.openxmlformats.org/officeDocument/2006/relationships/image" Target="../media/image4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tiff"/><Relationship Id="rId5" Type="http://schemas.openxmlformats.org/officeDocument/2006/relationships/image" Target="../media/image42.tiff"/><Relationship Id="rId4" Type="http://schemas.openxmlformats.org/officeDocument/2006/relationships/image" Target="../media/image41.tiff"/><Relationship Id="rId9" Type="http://schemas.openxmlformats.org/officeDocument/2006/relationships/image" Target="../media/image46.tif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tiff"/><Relationship Id="rId13" Type="http://schemas.openxmlformats.org/officeDocument/2006/relationships/image" Target="../media/image57.tiff"/><Relationship Id="rId18" Type="http://schemas.openxmlformats.org/officeDocument/2006/relationships/image" Target="../media/image62.png"/><Relationship Id="rId3" Type="http://schemas.openxmlformats.org/officeDocument/2006/relationships/image" Target="../media/image47.tiff"/><Relationship Id="rId7" Type="http://schemas.openxmlformats.org/officeDocument/2006/relationships/image" Target="../media/image51.tiff"/><Relationship Id="rId12" Type="http://schemas.openxmlformats.org/officeDocument/2006/relationships/image" Target="../media/image56.tiff"/><Relationship Id="rId17" Type="http://schemas.openxmlformats.org/officeDocument/2006/relationships/image" Target="../media/image61.tiff"/><Relationship Id="rId2" Type="http://schemas.openxmlformats.org/officeDocument/2006/relationships/image" Target="../media/image4.png"/><Relationship Id="rId16" Type="http://schemas.openxmlformats.org/officeDocument/2006/relationships/image" Target="../media/image60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tiff"/><Relationship Id="rId5" Type="http://schemas.openxmlformats.org/officeDocument/2006/relationships/image" Target="../media/image49.png"/><Relationship Id="rId15" Type="http://schemas.openxmlformats.org/officeDocument/2006/relationships/image" Target="../media/image59.tiff"/><Relationship Id="rId10" Type="http://schemas.openxmlformats.org/officeDocument/2006/relationships/image" Target="../media/image54.tiff"/><Relationship Id="rId19" Type="http://schemas.openxmlformats.org/officeDocument/2006/relationships/image" Target="../media/image63.tiff"/><Relationship Id="rId4" Type="http://schemas.openxmlformats.org/officeDocument/2006/relationships/image" Target="../media/image48.png"/><Relationship Id="rId9" Type="http://schemas.openxmlformats.org/officeDocument/2006/relationships/image" Target="../media/image53.tiff"/><Relationship Id="rId14" Type="http://schemas.openxmlformats.org/officeDocument/2006/relationships/image" Target="../media/image58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jpeg"/><Relationship Id="rId4" Type="http://schemas.openxmlformats.org/officeDocument/2006/relationships/image" Target="../media/image68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tiff"/><Relationship Id="rId4" Type="http://schemas.openxmlformats.org/officeDocument/2006/relationships/image" Target="../media/image72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tiff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2.png"/><Relationship Id="rId2" Type="http://schemas.openxmlformats.org/officeDocument/2006/relationships/image" Target="../media/image88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tiff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tiff"/><Relationship Id="rId5" Type="http://schemas.openxmlformats.org/officeDocument/2006/relationships/image" Target="../media/image114.tiff"/><Relationship Id="rId4" Type="http://schemas.openxmlformats.org/officeDocument/2006/relationships/image" Target="../media/image1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tiff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tiff"/><Relationship Id="rId5" Type="http://schemas.openxmlformats.org/officeDocument/2006/relationships/image" Target="../media/image124.tiff"/><Relationship Id="rId10" Type="http://schemas.openxmlformats.org/officeDocument/2006/relationships/image" Target="../media/image4.png"/><Relationship Id="rId4" Type="http://schemas.openxmlformats.org/officeDocument/2006/relationships/image" Target="../media/image123.tiff"/><Relationship Id="rId9" Type="http://schemas.openxmlformats.org/officeDocument/2006/relationships/image" Target="../media/image12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tiff"/><Relationship Id="rId3" Type="http://schemas.openxmlformats.org/officeDocument/2006/relationships/image" Target="../media/image130.tiff"/><Relationship Id="rId7" Type="http://schemas.openxmlformats.org/officeDocument/2006/relationships/image" Target="../media/image134.tiff"/><Relationship Id="rId2" Type="http://schemas.openxmlformats.org/officeDocument/2006/relationships/image" Target="../media/image129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tiff"/><Relationship Id="rId5" Type="http://schemas.openxmlformats.org/officeDocument/2006/relationships/image" Target="../media/image132.tiff"/><Relationship Id="rId10" Type="http://schemas.openxmlformats.org/officeDocument/2006/relationships/image" Target="../media/image4.png"/><Relationship Id="rId4" Type="http://schemas.openxmlformats.org/officeDocument/2006/relationships/image" Target="../media/image131.tiff"/><Relationship Id="rId9" Type="http://schemas.openxmlformats.org/officeDocument/2006/relationships/image" Target="../media/image136.tif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tiff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jpeg"/><Relationship Id="rId7" Type="http://schemas.openxmlformats.org/officeDocument/2006/relationships/image" Target="../media/image15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tiff"/><Relationship Id="rId13" Type="http://schemas.openxmlformats.org/officeDocument/2006/relationships/image" Target="../media/image165.tiff"/><Relationship Id="rId3" Type="http://schemas.openxmlformats.org/officeDocument/2006/relationships/image" Target="../media/image155.tiff"/><Relationship Id="rId7" Type="http://schemas.openxmlformats.org/officeDocument/2006/relationships/image" Target="../media/image159.tiff"/><Relationship Id="rId12" Type="http://schemas.openxmlformats.org/officeDocument/2006/relationships/image" Target="../media/image164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tiff"/><Relationship Id="rId11" Type="http://schemas.openxmlformats.org/officeDocument/2006/relationships/image" Target="../media/image163.tiff"/><Relationship Id="rId5" Type="http://schemas.openxmlformats.org/officeDocument/2006/relationships/image" Target="../media/image157.tiff"/><Relationship Id="rId10" Type="http://schemas.openxmlformats.org/officeDocument/2006/relationships/image" Target="../media/image162.tiff"/><Relationship Id="rId4" Type="http://schemas.openxmlformats.org/officeDocument/2006/relationships/image" Target="../media/image156.tiff"/><Relationship Id="rId9" Type="http://schemas.openxmlformats.org/officeDocument/2006/relationships/image" Target="../media/image1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8.png"/><Relationship Id="rId4" Type="http://schemas.openxmlformats.org/officeDocument/2006/relationships/image" Target="../media/image167.tif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tiff"/><Relationship Id="rId5" Type="http://schemas.openxmlformats.org/officeDocument/2006/relationships/image" Target="../media/image171.tiff"/><Relationship Id="rId4" Type="http://schemas.openxmlformats.org/officeDocument/2006/relationships/image" Target="../media/image170.tif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7.sv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svg"/><Relationship Id="rId5" Type="http://schemas.openxmlformats.org/officeDocument/2006/relationships/image" Target="../media/image175.svg"/><Relationship Id="rId4" Type="http://schemas.openxmlformats.org/officeDocument/2006/relationships/image" Target="../media/image174.tif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4.png"/><Relationship Id="rId4" Type="http://schemas.openxmlformats.org/officeDocument/2006/relationships/image" Target="../media/image183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jpeg"/><Relationship Id="rId5" Type="http://schemas.openxmlformats.org/officeDocument/2006/relationships/image" Target="../media/image187.png"/><Relationship Id="rId4" Type="http://schemas.openxmlformats.org/officeDocument/2006/relationships/image" Target="../media/image18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tiff"/><Relationship Id="rId13" Type="http://schemas.openxmlformats.org/officeDocument/2006/relationships/image" Target="../media/image205.tiff"/><Relationship Id="rId18" Type="http://schemas.openxmlformats.org/officeDocument/2006/relationships/image" Target="../media/image210.tiff"/><Relationship Id="rId3" Type="http://schemas.openxmlformats.org/officeDocument/2006/relationships/image" Target="../media/image195.jpeg"/><Relationship Id="rId21" Type="http://schemas.openxmlformats.org/officeDocument/2006/relationships/image" Target="../media/image213.tiff"/><Relationship Id="rId7" Type="http://schemas.openxmlformats.org/officeDocument/2006/relationships/image" Target="../media/image199.tiff"/><Relationship Id="rId12" Type="http://schemas.openxmlformats.org/officeDocument/2006/relationships/image" Target="../media/image204.tiff"/><Relationship Id="rId17" Type="http://schemas.openxmlformats.org/officeDocument/2006/relationships/image" Target="../media/image209.tiff"/><Relationship Id="rId25" Type="http://schemas.openxmlformats.org/officeDocument/2006/relationships/image" Target="../media/image217.tiff"/><Relationship Id="rId2" Type="http://schemas.openxmlformats.org/officeDocument/2006/relationships/image" Target="../media/image4.png"/><Relationship Id="rId16" Type="http://schemas.openxmlformats.org/officeDocument/2006/relationships/image" Target="../media/image208.tiff"/><Relationship Id="rId20" Type="http://schemas.openxmlformats.org/officeDocument/2006/relationships/image" Target="../media/image212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tiff"/><Relationship Id="rId11" Type="http://schemas.openxmlformats.org/officeDocument/2006/relationships/image" Target="../media/image203.tiff"/><Relationship Id="rId24" Type="http://schemas.openxmlformats.org/officeDocument/2006/relationships/image" Target="../media/image216.tiff"/><Relationship Id="rId5" Type="http://schemas.openxmlformats.org/officeDocument/2006/relationships/image" Target="../media/image197.tiff"/><Relationship Id="rId15" Type="http://schemas.openxmlformats.org/officeDocument/2006/relationships/image" Target="../media/image207.tiff"/><Relationship Id="rId23" Type="http://schemas.openxmlformats.org/officeDocument/2006/relationships/image" Target="../media/image215.tiff"/><Relationship Id="rId10" Type="http://schemas.openxmlformats.org/officeDocument/2006/relationships/image" Target="../media/image202.tiff"/><Relationship Id="rId19" Type="http://schemas.openxmlformats.org/officeDocument/2006/relationships/image" Target="../media/image211.tiff"/><Relationship Id="rId4" Type="http://schemas.openxmlformats.org/officeDocument/2006/relationships/image" Target="../media/image196.tiff"/><Relationship Id="rId9" Type="http://schemas.openxmlformats.org/officeDocument/2006/relationships/image" Target="../media/image201.tiff"/><Relationship Id="rId14" Type="http://schemas.openxmlformats.org/officeDocument/2006/relationships/image" Target="../media/image206.tiff"/><Relationship Id="rId22" Type="http://schemas.openxmlformats.org/officeDocument/2006/relationships/image" Target="../media/image214.tif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4.png"/><Relationship Id="rId7" Type="http://schemas.openxmlformats.org/officeDocument/2006/relationships/image" Target="../media/image2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4" Type="http://schemas.openxmlformats.org/officeDocument/2006/relationships/image" Target="../media/image23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tiff"/><Relationship Id="rId3" Type="http://schemas.openxmlformats.org/officeDocument/2006/relationships/image" Target="../media/image235.tiff"/><Relationship Id="rId7" Type="http://schemas.openxmlformats.org/officeDocument/2006/relationships/image" Target="../media/image239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tiff"/><Relationship Id="rId5" Type="http://schemas.openxmlformats.org/officeDocument/2006/relationships/image" Target="../media/image237.tiff"/><Relationship Id="rId10" Type="http://schemas.openxmlformats.org/officeDocument/2006/relationships/image" Target="../media/image242.png"/><Relationship Id="rId4" Type="http://schemas.openxmlformats.org/officeDocument/2006/relationships/image" Target="../media/image236.tiff"/><Relationship Id="rId9" Type="http://schemas.openxmlformats.org/officeDocument/2006/relationships/image" Target="../media/image24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.png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9.png"/><Relationship Id="rId4" Type="http://schemas.openxmlformats.org/officeDocument/2006/relationships/image" Target="../media/image24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1.png"/><Relationship Id="rId4" Type="http://schemas.openxmlformats.org/officeDocument/2006/relationships/image" Target="../media/image26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7" Type="http://schemas.openxmlformats.org/officeDocument/2006/relationships/image" Target="../media/image26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270.png"/><Relationship Id="rId7" Type="http://schemas.openxmlformats.org/officeDocument/2006/relationships/image" Target="../media/image27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tiff"/><Relationship Id="rId5" Type="http://schemas.openxmlformats.org/officeDocument/2006/relationships/image" Target="../media/image272.tiff"/><Relationship Id="rId4" Type="http://schemas.openxmlformats.org/officeDocument/2006/relationships/image" Target="../media/image271.tiff"/><Relationship Id="rId9" Type="http://schemas.openxmlformats.org/officeDocument/2006/relationships/image" Target="../media/image27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7903682-0BB0-FBEB-ADC7-CABF33B8335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403372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0F3CFAB-66C9-3FAD-2025-0AB364A6FAB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3151" y="5777374"/>
            <a:ext cx="2885699" cy="52848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BAD519-DA4F-B72E-6BA1-D35894FCF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012" y="558458"/>
            <a:ext cx="3587975" cy="814477"/>
          </a:xfrm>
        </p:spPr>
        <p:txBody>
          <a:bodyPr vert="horz" anchor="ctr"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  <a:latin typeface="Old Standard TT" panose="00000500000000000000" pitchFamily="2" charset="0"/>
              </a:rPr>
              <a:t>MODUS 2</a:t>
            </a:r>
          </a:p>
        </p:txBody>
      </p:sp>
    </p:spTree>
    <p:extLst>
      <p:ext uri="{BB962C8B-B14F-4D97-AF65-F5344CB8AC3E}">
        <p14:creationId xmlns:p14="http://schemas.microsoft.com/office/powerpoint/2010/main" val="278815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7">
            <a:extLst>
              <a:ext uri="{FF2B5EF4-FFF2-40B4-BE49-F238E27FC236}">
                <a16:creationId xmlns:a16="http://schemas.microsoft.com/office/drawing/2014/main" id="{2A58125F-32BF-D76B-8204-76928F1D0E3F}"/>
              </a:ext>
            </a:extLst>
          </p:cNvPr>
          <p:cNvCxnSpPr>
            <a:cxnSpLocks/>
          </p:cNvCxnSpPr>
          <p:nvPr/>
        </p:nvCxnSpPr>
        <p:spPr>
          <a:xfrm>
            <a:off x="10508065" y="3726322"/>
            <a:ext cx="0" cy="840193"/>
          </a:xfrm>
          <a:prstGeom prst="line">
            <a:avLst/>
          </a:prstGeom>
          <a:ln w="25400">
            <a:gradFill>
              <a:gsLst>
                <a:gs pos="100000">
                  <a:schemeClr val="bg1"/>
                </a:gs>
                <a:gs pos="50000">
                  <a:srgbClr val="FFD966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27">
            <a:extLst>
              <a:ext uri="{FF2B5EF4-FFF2-40B4-BE49-F238E27FC236}">
                <a16:creationId xmlns:a16="http://schemas.microsoft.com/office/drawing/2014/main" id="{D1190C22-163D-1E1D-A2D5-79FA616869F5}"/>
              </a:ext>
            </a:extLst>
          </p:cNvPr>
          <p:cNvCxnSpPr>
            <a:cxnSpLocks/>
          </p:cNvCxnSpPr>
          <p:nvPr/>
        </p:nvCxnSpPr>
        <p:spPr>
          <a:xfrm>
            <a:off x="11467754" y="3726322"/>
            <a:ext cx="0" cy="840193"/>
          </a:xfrm>
          <a:prstGeom prst="line">
            <a:avLst/>
          </a:prstGeom>
          <a:ln w="25400">
            <a:gradFill>
              <a:gsLst>
                <a:gs pos="100000">
                  <a:schemeClr val="bg1"/>
                </a:gs>
                <a:gs pos="50000">
                  <a:srgbClr val="FFD966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97FD17D2-7C17-52C7-88EE-4A8F08C272D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0519" y="805769"/>
            <a:ext cx="1606101" cy="2185169"/>
          </a:xfrm>
          <a:prstGeom prst="rect">
            <a:avLst/>
          </a:prstGeom>
        </p:spPr>
      </p:pic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5406C9D3-6D67-B053-B962-F9EFF308FF63}"/>
              </a:ext>
            </a:extLst>
          </p:cNvPr>
          <p:cNvCxnSpPr>
            <a:cxnSpLocks/>
          </p:cNvCxnSpPr>
          <p:nvPr/>
        </p:nvCxnSpPr>
        <p:spPr>
          <a:xfrm>
            <a:off x="316215" y="3435350"/>
            <a:ext cx="11309728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3">
            <a:extLst>
              <a:ext uri="{FF2B5EF4-FFF2-40B4-BE49-F238E27FC236}">
                <a16:creationId xmlns:a16="http://schemas.microsoft.com/office/drawing/2014/main" id="{C84B8C12-CAB7-FB91-F1BD-5D48C9F1A5F1}"/>
              </a:ext>
            </a:extLst>
          </p:cNvPr>
          <p:cNvCxnSpPr>
            <a:cxnSpLocks/>
          </p:cNvCxnSpPr>
          <p:nvPr/>
        </p:nvCxnSpPr>
        <p:spPr>
          <a:xfrm flipH="1">
            <a:off x="-211659" y="798141"/>
            <a:ext cx="5142721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itle 9">
            <a:extLst>
              <a:ext uri="{FF2B5EF4-FFF2-40B4-BE49-F238E27FC236}">
                <a16:creationId xmlns:a16="http://schemas.microsoft.com/office/drawing/2014/main" id="{4E611E69-D3C8-BF64-FF2F-06FA4B6BDB4C}"/>
              </a:ext>
            </a:extLst>
          </p:cNvPr>
          <p:cNvSpPr txBox="1">
            <a:spLocks/>
          </p:cNvSpPr>
          <p:nvPr/>
        </p:nvSpPr>
        <p:spPr>
          <a:xfrm>
            <a:off x="254000" y="320676"/>
            <a:ext cx="4213225" cy="47746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Linha do tempo MODUS</a:t>
            </a:r>
            <a:endParaRPr lang="en-ES" sz="3000" dirty="0">
              <a:latin typeface="Roboto Light (Corpo)"/>
            </a:endParaRPr>
          </a:p>
        </p:txBody>
      </p:sp>
      <p:pic>
        <p:nvPicPr>
          <p:cNvPr id="77" name="Imagem 76">
            <a:extLst>
              <a:ext uri="{FF2B5EF4-FFF2-40B4-BE49-F238E27FC236}">
                <a16:creationId xmlns:a16="http://schemas.microsoft.com/office/drawing/2014/main" id="{BAECE2CA-D3C1-0B4E-C4CE-65B16C79082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79" name="Elipse 78">
            <a:extLst>
              <a:ext uri="{FF2B5EF4-FFF2-40B4-BE49-F238E27FC236}">
                <a16:creationId xmlns:a16="http://schemas.microsoft.com/office/drawing/2014/main" id="{84431B02-D0AB-2C0F-94A6-7B09E2713A84}"/>
              </a:ext>
            </a:extLst>
          </p:cNvPr>
          <p:cNvSpPr/>
          <p:nvPr/>
        </p:nvSpPr>
        <p:spPr>
          <a:xfrm>
            <a:off x="246316" y="3700284"/>
            <a:ext cx="746516" cy="72110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1997</a:t>
            </a:r>
            <a:endParaRPr lang="pt-BR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B593BC4-2F25-6C7A-8A9F-16D1AC4B7577}"/>
              </a:ext>
            </a:extLst>
          </p:cNvPr>
          <p:cNvSpPr txBox="1"/>
          <p:nvPr/>
        </p:nvSpPr>
        <p:spPr>
          <a:xfrm>
            <a:off x="672402" y="1359699"/>
            <a:ext cx="143507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Fundação da </a:t>
            </a:r>
            <a:r>
              <a:rPr lang="pt-BR" sz="1300" dirty="0" err="1">
                <a:solidFill>
                  <a:srgbClr val="000000"/>
                </a:solidFill>
                <a:latin typeface="Roboto Light (Corpo)"/>
              </a:rPr>
              <a:t>Medartis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 AG por Thomas </a:t>
            </a:r>
            <a:r>
              <a:rPr lang="pt-BR" sz="1300" dirty="0" err="1">
                <a:solidFill>
                  <a:srgbClr val="000000"/>
                </a:solidFill>
                <a:latin typeface="Roboto Light (Corpo)"/>
              </a:rPr>
              <a:t>Straumann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, Willi </a:t>
            </a:r>
            <a:r>
              <a:rPr lang="pt-BR" sz="1300" dirty="0" err="1">
                <a:solidFill>
                  <a:srgbClr val="000000"/>
                </a:solidFill>
                <a:latin typeface="Roboto Light (Corpo)"/>
              </a:rPr>
              <a:t>Miesch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 e </a:t>
            </a:r>
            <a:r>
              <a:rPr lang="pt-BR" sz="1300" dirty="0" err="1">
                <a:solidFill>
                  <a:srgbClr val="000000"/>
                </a:solidFill>
                <a:latin typeface="Roboto Light (Corpo)"/>
              </a:rPr>
              <a:t>Jürg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 </a:t>
            </a:r>
            <a:r>
              <a:rPr lang="pt-BR" sz="1300" dirty="0" err="1">
                <a:solidFill>
                  <a:srgbClr val="000000"/>
                </a:solidFill>
                <a:latin typeface="Roboto Light (Corpo)"/>
              </a:rPr>
              <a:t>Eichenberger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. Compra dos direitos do sistema </a:t>
            </a:r>
            <a:r>
              <a:rPr lang="pt-BR" sz="13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MODUS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 da </a:t>
            </a:r>
            <a:r>
              <a:rPr lang="pt-BR" sz="1300" dirty="0" err="1">
                <a:solidFill>
                  <a:srgbClr val="000000"/>
                </a:solidFill>
                <a:latin typeface="Roboto Light (Corpo)"/>
              </a:rPr>
              <a:t>Elekta</a:t>
            </a:r>
            <a:endParaRPr kumimoji="0" lang="pt-BR" sz="13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Light (Corpo)"/>
            </a:endParaRPr>
          </a:p>
        </p:txBody>
      </p:sp>
      <p:cxnSp>
        <p:nvCxnSpPr>
          <p:cNvPr id="89" name="Conector Reto 27">
            <a:extLst>
              <a:ext uri="{FF2B5EF4-FFF2-40B4-BE49-F238E27FC236}">
                <a16:creationId xmlns:a16="http://schemas.microsoft.com/office/drawing/2014/main" id="{E607AF90-B5E4-0EEC-D235-23EBA4816D0A}"/>
              </a:ext>
            </a:extLst>
          </p:cNvPr>
          <p:cNvCxnSpPr>
            <a:cxnSpLocks/>
          </p:cNvCxnSpPr>
          <p:nvPr/>
        </p:nvCxnSpPr>
        <p:spPr>
          <a:xfrm>
            <a:off x="2542578" y="3183181"/>
            <a:ext cx="0" cy="3135069"/>
          </a:xfrm>
          <a:prstGeom prst="line">
            <a:avLst/>
          </a:prstGeom>
          <a:ln w="25400">
            <a:gradFill>
              <a:gsLst>
                <a:gs pos="100000">
                  <a:schemeClr val="bg1"/>
                </a:gs>
                <a:gs pos="50000">
                  <a:srgbClr val="FFD966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52C8EC91-E932-AF8B-D39B-4B7C916A3787}"/>
              </a:ext>
            </a:extLst>
          </p:cNvPr>
          <p:cNvSpPr txBox="1"/>
          <p:nvPr/>
        </p:nvSpPr>
        <p:spPr>
          <a:xfrm>
            <a:off x="2638250" y="3892567"/>
            <a:ext cx="151571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Início das operações da </a:t>
            </a:r>
            <a:r>
              <a:rPr lang="pt-BR" sz="1300" dirty="0" err="1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Medartis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. Contratação dos primeiros funcionários. Lançamento do sistema MODUS em 4 versões com implantes de titânio para cirurgia CMF.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B7CA7613-3B73-6099-E9E3-172E9E36520C}"/>
              </a:ext>
            </a:extLst>
          </p:cNvPr>
          <p:cNvSpPr/>
          <p:nvPr/>
        </p:nvSpPr>
        <p:spPr>
          <a:xfrm>
            <a:off x="4194112" y="3700284"/>
            <a:ext cx="746516" cy="72110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2001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D45151C9-07BC-AE05-A8BE-E23F75DC4C24}"/>
              </a:ext>
            </a:extLst>
          </p:cNvPr>
          <p:cNvSpPr txBox="1"/>
          <p:nvPr/>
        </p:nvSpPr>
        <p:spPr>
          <a:xfrm>
            <a:off x="4624036" y="1359699"/>
            <a:ext cx="146040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Desenvolvimento do sistema RECO: primeiro com bloqueio angular, marcando uma inovação importante no portfólio inicial.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449BB4D-910A-C6D9-EF2F-E8C9F863564D}"/>
              </a:ext>
            </a:extLst>
          </p:cNvPr>
          <p:cNvSpPr txBox="1"/>
          <p:nvPr/>
        </p:nvSpPr>
        <p:spPr>
          <a:xfrm>
            <a:off x="6521794" y="3892567"/>
            <a:ext cx="1201622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A</a:t>
            </a:r>
            <a:r>
              <a:rPr lang="pt-BR" sz="13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pt-BR" sz="1300" dirty="0" err="1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Medartis</a:t>
            </a:r>
            <a:r>
              <a:rPr lang="pt-BR" sz="13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pt-BR" sz="1300" dirty="0">
                <a:solidFill>
                  <a:srgbClr val="000000"/>
                </a:solidFill>
                <a:latin typeface="Roboto Light (Corpo)"/>
              </a:rPr>
              <a:t>participou no seu primeiro Congresso para apresentar a linha MODUS</a:t>
            </a:r>
          </a:p>
        </p:txBody>
      </p:sp>
      <p:cxnSp>
        <p:nvCxnSpPr>
          <p:cNvPr id="117" name="Straight Connector 305">
            <a:extLst>
              <a:ext uri="{FF2B5EF4-FFF2-40B4-BE49-F238E27FC236}">
                <a16:creationId xmlns:a16="http://schemas.microsoft.com/office/drawing/2014/main" id="{6E16434B-1E2D-77D6-0278-771F89EB97D6}"/>
              </a:ext>
            </a:extLst>
          </p:cNvPr>
          <p:cNvCxnSpPr>
            <a:cxnSpLocks/>
          </p:cNvCxnSpPr>
          <p:nvPr/>
        </p:nvCxnSpPr>
        <p:spPr>
          <a:xfrm>
            <a:off x="9870157" y="1198604"/>
            <a:ext cx="0" cy="465182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Elipse 118">
            <a:extLst>
              <a:ext uri="{FF2B5EF4-FFF2-40B4-BE49-F238E27FC236}">
                <a16:creationId xmlns:a16="http://schemas.microsoft.com/office/drawing/2014/main" id="{F4BC4DAA-A2C2-6DBC-3DCC-B0ED95059726}"/>
              </a:ext>
            </a:extLst>
          </p:cNvPr>
          <p:cNvSpPr/>
          <p:nvPr/>
        </p:nvSpPr>
        <p:spPr>
          <a:xfrm>
            <a:off x="10122981" y="3077952"/>
            <a:ext cx="746516" cy="721107"/>
          </a:xfrm>
          <a:prstGeom prst="ellipse">
            <a:avLst/>
          </a:prstGeom>
          <a:solidFill>
            <a:srgbClr val="DEB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2020</a:t>
            </a:r>
            <a:endParaRPr lang="pt-BR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cxnSp>
        <p:nvCxnSpPr>
          <p:cNvPr id="125" name="Conector Reto 21">
            <a:extLst>
              <a:ext uri="{FF2B5EF4-FFF2-40B4-BE49-F238E27FC236}">
                <a16:creationId xmlns:a16="http://schemas.microsoft.com/office/drawing/2014/main" id="{4A854DC5-68EE-1EF6-81ED-E32C580C562B}"/>
              </a:ext>
            </a:extLst>
          </p:cNvPr>
          <p:cNvCxnSpPr>
            <a:cxnSpLocks/>
          </p:cNvCxnSpPr>
          <p:nvPr/>
        </p:nvCxnSpPr>
        <p:spPr>
          <a:xfrm flipV="1">
            <a:off x="8199841" y="1413404"/>
            <a:ext cx="0" cy="2332612"/>
          </a:xfrm>
          <a:prstGeom prst="line">
            <a:avLst/>
          </a:prstGeom>
          <a:ln w="25400">
            <a:gradFill>
              <a:gsLst>
                <a:gs pos="100000">
                  <a:schemeClr val="bg1"/>
                </a:gs>
                <a:gs pos="50000">
                  <a:srgbClr val="FFD966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Elipse 122">
            <a:extLst>
              <a:ext uri="{FF2B5EF4-FFF2-40B4-BE49-F238E27FC236}">
                <a16:creationId xmlns:a16="http://schemas.microsoft.com/office/drawing/2014/main" id="{427A43F9-6001-B9BB-B893-8BA7BFC1E3E5}"/>
              </a:ext>
            </a:extLst>
          </p:cNvPr>
          <p:cNvSpPr/>
          <p:nvPr/>
        </p:nvSpPr>
        <p:spPr>
          <a:xfrm>
            <a:off x="7845633" y="3706635"/>
            <a:ext cx="746516" cy="72110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2004</a:t>
            </a:r>
            <a:endParaRPr lang="pt-BR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6" name="Elipse 125">
            <a:extLst>
              <a:ext uri="{FF2B5EF4-FFF2-40B4-BE49-F238E27FC236}">
                <a16:creationId xmlns:a16="http://schemas.microsoft.com/office/drawing/2014/main" id="{A08D32C0-3FB0-AE0B-F252-98B08C29293E}"/>
              </a:ext>
            </a:extLst>
          </p:cNvPr>
          <p:cNvSpPr/>
          <p:nvPr/>
        </p:nvSpPr>
        <p:spPr>
          <a:xfrm>
            <a:off x="11094732" y="3077952"/>
            <a:ext cx="746516" cy="721107"/>
          </a:xfrm>
          <a:prstGeom prst="ellipse">
            <a:avLst/>
          </a:prstGeom>
          <a:solidFill>
            <a:srgbClr val="DEB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2025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8294BE5B-79E2-E75F-64A0-15A0870E7548}"/>
              </a:ext>
            </a:extLst>
          </p:cNvPr>
          <p:cNvSpPr txBox="1"/>
          <p:nvPr/>
        </p:nvSpPr>
        <p:spPr>
          <a:xfrm>
            <a:off x="8269999" y="1359699"/>
            <a:ext cx="146040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300" dirty="0">
                <a:latin typeface="Roboto Light (Corpo)"/>
              </a:rPr>
              <a:t>Desenvolvimento do bloqueio </a:t>
            </a:r>
            <a:r>
              <a:rPr lang="pt-BR" sz="1300" dirty="0" err="1">
                <a:latin typeface="Roboto Light (Corpo)"/>
              </a:rPr>
              <a:t>Trilock</a:t>
            </a:r>
            <a:r>
              <a:rPr lang="pt-BR" sz="1300" dirty="0">
                <a:latin typeface="Roboto Light (Corpo)"/>
              </a:rPr>
              <a:t>.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0AE1BB8D-D5CB-E4FC-E9B3-618CBC7F9DB0}"/>
              </a:ext>
            </a:extLst>
          </p:cNvPr>
          <p:cNvSpPr txBox="1"/>
          <p:nvPr/>
        </p:nvSpPr>
        <p:spPr>
          <a:xfrm>
            <a:off x="9916147" y="2755900"/>
            <a:ext cx="12016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pt-BR" sz="13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MODUS 2</a:t>
            </a:r>
            <a:endParaRPr lang="pt-BR" sz="1300" dirty="0">
              <a:solidFill>
                <a:srgbClr val="000000"/>
              </a:solidFill>
              <a:latin typeface="Roboto Light (Corpo)"/>
            </a:endParaRPr>
          </a:p>
        </p:txBody>
      </p:sp>
      <p:pic>
        <p:nvPicPr>
          <p:cNvPr id="130" name="Graphic 21">
            <a:extLst>
              <a:ext uri="{FF2B5EF4-FFF2-40B4-BE49-F238E27FC236}">
                <a16:creationId xmlns:a16="http://schemas.microsoft.com/office/drawing/2014/main" id="{B561570F-AFBF-86B7-EC0E-A6868310B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7769" y="4421391"/>
            <a:ext cx="714050" cy="714050"/>
          </a:xfrm>
          <a:prstGeom prst="rect">
            <a:avLst/>
          </a:prstGeom>
        </p:spPr>
      </p:pic>
      <p:cxnSp>
        <p:nvCxnSpPr>
          <p:cNvPr id="6" name="Conector Reto 21">
            <a:extLst>
              <a:ext uri="{FF2B5EF4-FFF2-40B4-BE49-F238E27FC236}">
                <a16:creationId xmlns:a16="http://schemas.microsoft.com/office/drawing/2014/main" id="{F60BBF5C-B7E3-1ABC-2A51-EA7FB9FF811B}"/>
              </a:ext>
            </a:extLst>
          </p:cNvPr>
          <p:cNvCxnSpPr>
            <a:cxnSpLocks/>
          </p:cNvCxnSpPr>
          <p:nvPr/>
        </p:nvCxnSpPr>
        <p:spPr>
          <a:xfrm flipV="1">
            <a:off x="4490564" y="1374023"/>
            <a:ext cx="0" cy="2332612"/>
          </a:xfrm>
          <a:prstGeom prst="line">
            <a:avLst/>
          </a:prstGeom>
          <a:ln w="25400">
            <a:gradFill>
              <a:gsLst>
                <a:gs pos="100000">
                  <a:schemeClr val="bg1"/>
                </a:gs>
                <a:gs pos="50000">
                  <a:srgbClr val="FFD966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21">
            <a:extLst>
              <a:ext uri="{FF2B5EF4-FFF2-40B4-BE49-F238E27FC236}">
                <a16:creationId xmlns:a16="http://schemas.microsoft.com/office/drawing/2014/main" id="{3C85F542-70E5-B730-3C99-8C3BD7BA884F}"/>
              </a:ext>
            </a:extLst>
          </p:cNvPr>
          <p:cNvCxnSpPr>
            <a:cxnSpLocks/>
          </p:cNvCxnSpPr>
          <p:nvPr/>
        </p:nvCxnSpPr>
        <p:spPr>
          <a:xfrm flipV="1">
            <a:off x="490064" y="1367672"/>
            <a:ext cx="0" cy="2428231"/>
          </a:xfrm>
          <a:prstGeom prst="line">
            <a:avLst/>
          </a:prstGeom>
          <a:ln w="25400">
            <a:gradFill>
              <a:gsLst>
                <a:gs pos="100000">
                  <a:schemeClr val="bg1"/>
                </a:gs>
                <a:gs pos="50000">
                  <a:srgbClr val="FFD966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EDD220F7-E901-9EF2-F14C-7E1A39930530}"/>
              </a:ext>
            </a:extLst>
          </p:cNvPr>
          <p:cNvSpPr/>
          <p:nvPr/>
        </p:nvSpPr>
        <p:spPr>
          <a:xfrm>
            <a:off x="2173796" y="2486157"/>
            <a:ext cx="746516" cy="72110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1998</a:t>
            </a:r>
            <a:endParaRPr lang="pt-BR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cxnSp>
        <p:nvCxnSpPr>
          <p:cNvPr id="12" name="Conector Reto 27">
            <a:extLst>
              <a:ext uri="{FF2B5EF4-FFF2-40B4-BE49-F238E27FC236}">
                <a16:creationId xmlns:a16="http://schemas.microsoft.com/office/drawing/2014/main" id="{C0DC05B7-736A-96EF-4378-CEE1E5D475D7}"/>
              </a:ext>
            </a:extLst>
          </p:cNvPr>
          <p:cNvCxnSpPr>
            <a:cxnSpLocks/>
          </p:cNvCxnSpPr>
          <p:nvPr/>
        </p:nvCxnSpPr>
        <p:spPr>
          <a:xfrm>
            <a:off x="6435128" y="3183181"/>
            <a:ext cx="0" cy="3135069"/>
          </a:xfrm>
          <a:prstGeom prst="line">
            <a:avLst/>
          </a:prstGeom>
          <a:ln w="25400">
            <a:gradFill>
              <a:gsLst>
                <a:gs pos="100000">
                  <a:schemeClr val="bg1"/>
                </a:gs>
                <a:gs pos="50000">
                  <a:srgbClr val="FFD966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Elipse 107">
            <a:extLst>
              <a:ext uri="{FF2B5EF4-FFF2-40B4-BE49-F238E27FC236}">
                <a16:creationId xmlns:a16="http://schemas.microsoft.com/office/drawing/2014/main" id="{E9D23226-2A32-36D7-E4EB-92C692E0ED1F}"/>
              </a:ext>
            </a:extLst>
          </p:cNvPr>
          <p:cNvSpPr/>
          <p:nvPr/>
        </p:nvSpPr>
        <p:spPr>
          <a:xfrm>
            <a:off x="6050964" y="2486157"/>
            <a:ext cx="746516" cy="72110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2002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2" name="Graphic 26">
            <a:extLst>
              <a:ext uri="{FF2B5EF4-FFF2-40B4-BE49-F238E27FC236}">
                <a16:creationId xmlns:a16="http://schemas.microsoft.com/office/drawing/2014/main" id="{97CC3F16-1A08-76A2-A3A0-08CE754B1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0012" y="4432573"/>
            <a:ext cx="714050" cy="71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8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14EABD2-C95D-6038-FE8B-042B4CBBCFEA}"/>
              </a:ext>
            </a:extLst>
          </p:cNvPr>
          <p:cNvSpPr/>
          <p:nvPr/>
        </p:nvSpPr>
        <p:spPr>
          <a:xfrm>
            <a:off x="962697" y="2552074"/>
            <a:ext cx="1184824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OPS 1.5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8DA7F41-E2F4-5368-3CC1-22657122D7DD}"/>
              </a:ext>
            </a:extLst>
          </p:cNvPr>
          <p:cNvCxnSpPr>
            <a:cxnSpLocks/>
          </p:cNvCxnSpPr>
          <p:nvPr/>
        </p:nvCxnSpPr>
        <p:spPr>
          <a:xfrm flipH="1">
            <a:off x="32177" y="798141"/>
            <a:ext cx="5142721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1DBD6CC3-D279-9CEE-2317-CB2E773AD5DB}"/>
              </a:ext>
            </a:extLst>
          </p:cNvPr>
          <p:cNvSpPr txBox="1">
            <a:spLocks/>
          </p:cNvSpPr>
          <p:nvPr/>
        </p:nvSpPr>
        <p:spPr>
          <a:xfrm>
            <a:off x="254001" y="301626"/>
            <a:ext cx="2698206" cy="4965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MODUS 1</a:t>
            </a:r>
            <a:endParaRPr lang="en-ES" sz="3000" dirty="0">
              <a:latin typeface="Roboto Light (Corpo)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8F7F97-5DD2-0139-4DFD-BAB702755EC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F9806184-11D6-CD6C-F0AA-3E5D27DBA57F}"/>
              </a:ext>
            </a:extLst>
          </p:cNvPr>
          <p:cNvSpPr/>
          <p:nvPr/>
        </p:nvSpPr>
        <p:spPr>
          <a:xfrm>
            <a:off x="762338" y="1015722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MIDFACE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27D37F4-2A56-DE2F-74F8-9C334F5F5706}"/>
              </a:ext>
            </a:extLst>
          </p:cNvPr>
          <p:cNvSpPr/>
          <p:nvPr/>
        </p:nvSpPr>
        <p:spPr>
          <a:xfrm>
            <a:off x="762338" y="1015722"/>
            <a:ext cx="3264263" cy="539904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Picture 8" descr="modus_Modul_15_2">
            <a:extLst>
              <a:ext uri="{FF2B5EF4-FFF2-40B4-BE49-F238E27FC236}">
                <a16:creationId xmlns:a16="http://schemas.microsoft.com/office/drawing/2014/main" id="{C45F68AC-394B-8578-8FF5-CC5DF25BD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2591852" y="1287712"/>
            <a:ext cx="911666" cy="1339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0">
            <a:extLst>
              <a:ext uri="{FF2B5EF4-FFF2-40B4-BE49-F238E27FC236}">
                <a16:creationId xmlns:a16="http://schemas.microsoft.com/office/drawing/2014/main" id="{022B0254-2A8D-C6B1-3897-3E9B844E61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459" y="1482644"/>
            <a:ext cx="1184824" cy="1065739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A4EC00B3-4456-8FCE-0E2C-EA48056B9CE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703987" y="2685182"/>
            <a:ext cx="600311" cy="1184824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D37FDFA1-BB07-F759-16E9-1D84AD3B99F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9819" y="2890796"/>
            <a:ext cx="884719" cy="1034853"/>
          </a:xfrm>
          <a:prstGeom prst="rect">
            <a:avLst/>
          </a:prstGeom>
        </p:spPr>
      </p:pic>
      <p:pic>
        <p:nvPicPr>
          <p:cNvPr id="15" name="Picture 45">
            <a:extLst>
              <a:ext uri="{FF2B5EF4-FFF2-40B4-BE49-F238E27FC236}">
                <a16:creationId xmlns:a16="http://schemas.microsoft.com/office/drawing/2014/main" id="{0C2B2002-63B5-478B-C594-32A8DC7258B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62" b="96845" l="0" r="98592">
                        <a14:foregroundMark x1="45070" y1="5363" x2="45070" y2="5363"/>
                        <a14:foregroundMark x1="46479" y1="1577" x2="46479" y2="1577"/>
                        <a14:foregroundMark x1="95775" y1="5363" x2="95775" y2="5363"/>
                        <a14:foregroundMark x1="1408" y1="9148" x2="1408" y2="9148"/>
                        <a14:foregroundMark x1="1408" y1="43849" x2="1408" y2="43849"/>
                        <a14:foregroundMark x1="11268" y1="74132" x2="11268" y2="74132"/>
                        <a14:foregroundMark x1="23944" y1="58360" x2="23944" y2="58360"/>
                        <a14:foregroundMark x1="45070" y1="51420" x2="45070" y2="51420"/>
                        <a14:foregroundMark x1="78873" y1="55205" x2="78873" y2="55205"/>
                        <a14:foregroundMark x1="98592" y1="50158" x2="98592" y2="50158"/>
                        <a14:foregroundMark x1="88732" y1="50158" x2="88732" y2="50158"/>
                        <a14:foregroundMark x1="80282" y1="62145" x2="80282" y2="62145"/>
                        <a14:foregroundMark x1="94366" y1="72240" x2="94366" y2="72240"/>
                        <a14:foregroundMark x1="92958" y1="96845" x2="92958" y2="968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390431" y="3942708"/>
            <a:ext cx="623495" cy="1391887"/>
          </a:xfrm>
          <a:prstGeom prst="rect">
            <a:avLst/>
          </a:prstGeom>
        </p:spPr>
      </p:pic>
      <p:pic>
        <p:nvPicPr>
          <p:cNvPr id="16" name="Picture 51">
            <a:extLst>
              <a:ext uri="{FF2B5EF4-FFF2-40B4-BE49-F238E27FC236}">
                <a16:creationId xmlns:a16="http://schemas.microsoft.com/office/drawing/2014/main" id="{89B1AAF2-0D0E-D107-8806-F57CA675ACFF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390431" y="4942393"/>
            <a:ext cx="623495" cy="1384251"/>
          </a:xfrm>
          <a:prstGeom prst="rect">
            <a:avLst/>
          </a:prstGeom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6CE3003C-E452-7DEC-DEDD-A12FB2A4D94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9467" y="4082968"/>
            <a:ext cx="848568" cy="1901418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1B06CB4C-52F1-F51B-0F22-90F7D9776616}"/>
              </a:ext>
            </a:extLst>
          </p:cNvPr>
          <p:cNvSpPr/>
          <p:nvPr/>
        </p:nvSpPr>
        <p:spPr>
          <a:xfrm>
            <a:off x="4458894" y="1022072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MANDIBLE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BDC4350-711D-5AF6-1AD8-3EA5BA418CCE}"/>
              </a:ext>
            </a:extLst>
          </p:cNvPr>
          <p:cNvSpPr/>
          <p:nvPr/>
        </p:nvSpPr>
        <p:spPr>
          <a:xfrm>
            <a:off x="4458894" y="1022072"/>
            <a:ext cx="3264263" cy="539904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F7A57DD-35FF-598C-1103-64E381747A54}"/>
              </a:ext>
            </a:extLst>
          </p:cNvPr>
          <p:cNvSpPr/>
          <p:nvPr/>
        </p:nvSpPr>
        <p:spPr>
          <a:xfrm>
            <a:off x="8155951" y="1022072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ORTHOGNATHICS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E764DB41-E608-8EBD-EAC1-4272846E9162}"/>
              </a:ext>
            </a:extLst>
          </p:cNvPr>
          <p:cNvSpPr/>
          <p:nvPr/>
        </p:nvSpPr>
        <p:spPr>
          <a:xfrm>
            <a:off x="8155951" y="1022072"/>
            <a:ext cx="3264263" cy="243793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EC76790B-774A-E3DE-C580-54C4D8031F6A}"/>
              </a:ext>
            </a:extLst>
          </p:cNvPr>
          <p:cNvSpPr/>
          <p:nvPr/>
        </p:nvSpPr>
        <p:spPr>
          <a:xfrm>
            <a:off x="8165400" y="3888165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Sistemas complementares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4B62F9B2-BDDF-0BBA-2B6A-654702F4EAE7}"/>
              </a:ext>
            </a:extLst>
          </p:cNvPr>
          <p:cNvSpPr/>
          <p:nvPr/>
        </p:nvSpPr>
        <p:spPr>
          <a:xfrm>
            <a:off x="8155449" y="3900791"/>
            <a:ext cx="3264263" cy="252749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2" name="Picture 52">
            <a:extLst>
              <a:ext uri="{FF2B5EF4-FFF2-40B4-BE49-F238E27FC236}">
                <a16:creationId xmlns:a16="http://schemas.microsoft.com/office/drawing/2014/main" id="{B899B504-A6A6-DF3C-34CE-4792665ED9AF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034157" y="1691865"/>
            <a:ext cx="554587" cy="1231265"/>
          </a:xfrm>
          <a:prstGeom prst="rect">
            <a:avLst/>
          </a:prstGeom>
        </p:spPr>
      </p:pic>
      <p:pic>
        <p:nvPicPr>
          <p:cNvPr id="63" name="Picture 7" descr="Container_TryLock_schräg1 Kopie">
            <a:extLst>
              <a:ext uri="{FF2B5EF4-FFF2-40B4-BE49-F238E27FC236}">
                <a16:creationId xmlns:a16="http://schemas.microsoft.com/office/drawing/2014/main" id="{DAC803A4-26B8-9102-2497-734564FE2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226405">
            <a:off x="6163781" y="1861267"/>
            <a:ext cx="1371172" cy="77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11" descr="Container Reco gefüllt">
            <a:extLst>
              <a:ext uri="{FF2B5EF4-FFF2-40B4-BE49-F238E27FC236}">
                <a16:creationId xmlns:a16="http://schemas.microsoft.com/office/drawing/2014/main" id="{22F0F797-84E9-90D7-2A59-890F0D11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clrChange>
              <a:clrFrom>
                <a:srgbClr val="EEF2F5"/>
              </a:clrFrom>
              <a:clrTo>
                <a:srgbClr val="EEF2F5">
                  <a:alpha val="0"/>
                </a:srgbClr>
              </a:clrTo>
            </a:clrChange>
            <a:lum bright="6000" contrast="1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6548250" y="3230238"/>
            <a:ext cx="602237" cy="1280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Picture 5">
            <a:extLst>
              <a:ext uri="{FF2B5EF4-FFF2-40B4-BE49-F238E27FC236}">
                <a16:creationId xmlns:a16="http://schemas.microsoft.com/office/drawing/2014/main" id="{63FA8FC1-63FF-C20D-F366-1E7D1A3BE9ED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020700" y="3233362"/>
            <a:ext cx="581503" cy="1273767"/>
          </a:xfrm>
          <a:prstGeom prst="rect">
            <a:avLst/>
          </a:prstGeom>
        </p:spPr>
      </p:pic>
      <p:pic>
        <p:nvPicPr>
          <p:cNvPr id="66" name="Picture 3">
            <a:extLst>
              <a:ext uri="{FF2B5EF4-FFF2-40B4-BE49-F238E27FC236}">
                <a16:creationId xmlns:a16="http://schemas.microsoft.com/office/drawing/2014/main" id="{FA48ADA6-3755-9EFA-D8C8-210485810A1E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262" b="96845" l="0" r="98592">
                        <a14:foregroundMark x1="45070" y1="5363" x2="45070" y2="5363"/>
                        <a14:foregroundMark x1="46479" y1="1577" x2="46479" y2="1577"/>
                        <a14:foregroundMark x1="95775" y1="5363" x2="95775" y2="5363"/>
                        <a14:foregroundMark x1="1408" y1="9148" x2="1408" y2="9148"/>
                        <a14:foregroundMark x1="1408" y1="43849" x2="1408" y2="43849"/>
                        <a14:foregroundMark x1="11268" y1="74132" x2="11268" y2="74132"/>
                        <a14:foregroundMark x1="23944" y1="58360" x2="23944" y2="58360"/>
                        <a14:foregroundMark x1="45070" y1="51420" x2="45070" y2="51420"/>
                        <a14:foregroundMark x1="78873" y1="55205" x2="78873" y2="55205"/>
                        <a14:foregroundMark x1="98592" y1="50158" x2="98592" y2="50158"/>
                        <a14:foregroundMark x1="88732" y1="50158" x2="88732" y2="50158"/>
                        <a14:foregroundMark x1="80282" y1="62145" x2="80282" y2="62145"/>
                        <a14:foregroundMark x1="94366" y1="72240" x2="94366" y2="72240"/>
                        <a14:foregroundMark x1="92958" y1="96845" x2="92958" y2="968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023749" y="4479172"/>
            <a:ext cx="575402" cy="1284524"/>
          </a:xfrm>
          <a:prstGeom prst="rect">
            <a:avLst/>
          </a:prstGeom>
        </p:spPr>
      </p:pic>
      <p:pic>
        <p:nvPicPr>
          <p:cNvPr id="67" name="Picture 7">
            <a:extLst>
              <a:ext uri="{FF2B5EF4-FFF2-40B4-BE49-F238E27FC236}">
                <a16:creationId xmlns:a16="http://schemas.microsoft.com/office/drawing/2014/main" id="{99165C2F-F7B9-00AA-5067-FCDEA36BB473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536104" y="4516145"/>
            <a:ext cx="626527" cy="1210577"/>
          </a:xfrm>
          <a:prstGeom prst="rect">
            <a:avLst/>
          </a:prstGeom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id="{CC31B6E1-3BCF-1538-1B13-792EA573B4D0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29" b="98148" l="1810" r="99548">
                        <a14:foregroundMark x1="60633" y1="1029" x2="60633" y2="1029"/>
                        <a14:foregroundMark x1="92760" y1="4527" x2="92760" y2="4527"/>
                        <a14:foregroundMark x1="99548" y1="4527" x2="99548" y2="4527"/>
                        <a14:foregroundMark x1="2262" y1="1235" x2="2262" y2="1235"/>
                        <a14:foregroundMark x1="45249" y1="57613" x2="45249" y2="57613"/>
                        <a14:foregroundMark x1="76471" y1="52881" x2="76471" y2="52881"/>
                        <a14:foregroundMark x1="59729" y1="51235" x2="59729" y2="51235"/>
                        <a14:foregroundMark x1="67421" y1="56379" x2="67421" y2="56379"/>
                        <a14:foregroundMark x1="68778" y1="62346" x2="68778" y2="62346"/>
                        <a14:foregroundMark x1="66063" y1="71811" x2="65611" y2="73457"/>
                        <a14:foregroundMark x1="73756" y1="88066" x2="73756" y2="88066"/>
                        <a14:foregroundMark x1="87783" y1="89095" x2="87783" y2="89095"/>
                        <a14:foregroundMark x1="91855" y1="96708" x2="91855" y2="96708"/>
                        <a14:foregroundMark x1="95475" y1="98148" x2="95475" y2="98148"/>
                        <a14:foregroundMark x1="20814" y1="46502" x2="20814" y2="46502"/>
                        <a14:foregroundMark x1="31674" y1="45267" x2="31674" y2="45267"/>
                        <a14:foregroundMark x1="31674" y1="52058" x2="31674" y2="52058"/>
                        <a14:foregroundMark x1="20814" y1="52058" x2="20814" y2="520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694" y="1650277"/>
            <a:ext cx="493619" cy="1085514"/>
          </a:xfrm>
          <a:prstGeom prst="rect">
            <a:avLst/>
          </a:prstGeom>
        </p:spPr>
      </p:pic>
      <p:pic>
        <p:nvPicPr>
          <p:cNvPr id="71" name="Picture 54">
            <a:extLst>
              <a:ext uri="{FF2B5EF4-FFF2-40B4-BE49-F238E27FC236}">
                <a16:creationId xmlns:a16="http://schemas.microsoft.com/office/drawing/2014/main" id="{1B54BE65-49D8-488E-7DFE-9C265E416E0B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5828" y="1690645"/>
            <a:ext cx="1925442" cy="1008649"/>
          </a:xfrm>
          <a:prstGeom prst="rect">
            <a:avLst/>
          </a:prstGeom>
        </p:spPr>
      </p:pic>
      <p:pic>
        <p:nvPicPr>
          <p:cNvPr id="74" name="Picture 7" descr="Modus-IMF_20">
            <a:extLst>
              <a:ext uri="{FF2B5EF4-FFF2-40B4-BE49-F238E27FC236}">
                <a16:creationId xmlns:a16="http://schemas.microsoft.com/office/drawing/2014/main" id="{939C6272-4C7C-112A-7456-A0687FD8B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46900" y="4640011"/>
            <a:ext cx="600373" cy="1163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Picture 10" descr="http://www.medartis.com/typo3temp/pics/ee2885b5a6.jpg">
            <a:extLst>
              <a:ext uri="{FF2B5EF4-FFF2-40B4-BE49-F238E27FC236}">
                <a16:creationId xmlns:a16="http://schemas.microsoft.com/office/drawing/2014/main" id="{9AFCAD47-62ED-7C89-25EE-BFDDA6C80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73279" y="4371561"/>
            <a:ext cx="1332605" cy="76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Grafik 26">
            <a:extLst>
              <a:ext uri="{FF2B5EF4-FFF2-40B4-BE49-F238E27FC236}">
                <a16:creationId xmlns:a16="http://schemas.microsoft.com/office/drawing/2014/main" id="{7631D6EC-BE14-CD2C-19F9-B717BB325667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0302" y="5482852"/>
            <a:ext cx="1427278" cy="57492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AD271C7-97A2-1E1D-14F7-EF824E7279CB}"/>
              </a:ext>
            </a:extLst>
          </p:cNvPr>
          <p:cNvSpPr/>
          <p:nvPr/>
        </p:nvSpPr>
        <p:spPr>
          <a:xfrm>
            <a:off x="2437601" y="2552074"/>
            <a:ext cx="1184824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1.5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48F3691-9BBD-BE82-4C8C-A2CC41A89B24}"/>
              </a:ext>
            </a:extLst>
          </p:cNvPr>
          <p:cNvSpPr/>
          <p:nvPr/>
        </p:nvSpPr>
        <p:spPr>
          <a:xfrm>
            <a:off x="1109766" y="3982104"/>
            <a:ext cx="1184824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</a:t>
            </a:r>
            <a:r>
              <a:rPr lang="pt-BR" sz="900" dirty="0" err="1">
                <a:solidFill>
                  <a:srgbClr val="000000"/>
                </a:solidFill>
                <a:latin typeface="Roboto Light (Corpo)"/>
              </a:rPr>
              <a:t>Mesh</a:t>
            </a:r>
            <a:endParaRPr lang="pt-BR" sz="900" dirty="0">
              <a:solidFill>
                <a:srgbClr val="000000"/>
              </a:solidFill>
              <a:latin typeface="Roboto Light (Corpo)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4D79F9-B174-50DB-2EC4-96BB6DF76218}"/>
              </a:ext>
            </a:extLst>
          </p:cNvPr>
          <p:cNvSpPr/>
          <p:nvPr/>
        </p:nvSpPr>
        <p:spPr>
          <a:xfrm>
            <a:off x="2405563" y="3669240"/>
            <a:ext cx="1287711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1.5 SpeedTip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202C887-C92A-6EB6-30F0-42392EB4127D}"/>
              </a:ext>
            </a:extLst>
          </p:cNvPr>
          <p:cNvSpPr/>
          <p:nvPr/>
        </p:nvSpPr>
        <p:spPr>
          <a:xfrm>
            <a:off x="1057277" y="5009636"/>
            <a:ext cx="1289802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Trauma 2.0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2D2125F-76A8-41F1-0E62-07839C60037A}"/>
              </a:ext>
            </a:extLst>
          </p:cNvPr>
          <p:cNvSpPr/>
          <p:nvPr/>
        </p:nvSpPr>
        <p:spPr>
          <a:xfrm>
            <a:off x="1057277" y="6049809"/>
            <a:ext cx="1289802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2.0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3EF4415-7409-6550-9CA5-F96819B0E250}"/>
              </a:ext>
            </a:extLst>
          </p:cNvPr>
          <p:cNvSpPr/>
          <p:nvPr/>
        </p:nvSpPr>
        <p:spPr>
          <a:xfrm>
            <a:off x="2764602" y="6044972"/>
            <a:ext cx="978297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0.9/1.2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500A892-0756-4504-0573-FBF7B53EE6AD}"/>
              </a:ext>
            </a:extLst>
          </p:cNvPr>
          <p:cNvSpPr/>
          <p:nvPr/>
        </p:nvSpPr>
        <p:spPr>
          <a:xfrm>
            <a:off x="4751832" y="2731398"/>
            <a:ext cx="1088529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2.0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CCD540C-7BA3-7A21-79A6-48F9D4EB0399}"/>
              </a:ext>
            </a:extLst>
          </p:cNvPr>
          <p:cNvSpPr/>
          <p:nvPr/>
        </p:nvSpPr>
        <p:spPr>
          <a:xfrm>
            <a:off x="6269832" y="2727315"/>
            <a:ext cx="1184824" cy="342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  <a:latin typeface="Roboto Light (Corpo)"/>
              </a:rPr>
              <a:t>MODUS TriLock 2.0 / 2.3 / 2.5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E921B12-23BF-5A08-0A3F-555E50BCC9FB}"/>
              </a:ext>
            </a:extLst>
          </p:cNvPr>
          <p:cNvSpPr/>
          <p:nvPr/>
        </p:nvSpPr>
        <p:spPr>
          <a:xfrm>
            <a:off x="4719037" y="4279117"/>
            <a:ext cx="1254059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Trauma 2.5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6EB89F6-CE1F-8E34-9B4E-9F1F75FEAF95}"/>
              </a:ext>
            </a:extLst>
          </p:cNvPr>
          <p:cNvSpPr/>
          <p:nvPr/>
        </p:nvSpPr>
        <p:spPr>
          <a:xfrm>
            <a:off x="6248814" y="4279116"/>
            <a:ext cx="1254059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Reco 2.5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F18FA63-B175-6655-4BA0-0705DFDF2A6D}"/>
              </a:ext>
            </a:extLst>
          </p:cNvPr>
          <p:cNvSpPr/>
          <p:nvPr/>
        </p:nvSpPr>
        <p:spPr>
          <a:xfrm>
            <a:off x="4669188" y="5669146"/>
            <a:ext cx="1254059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Trauma 2.0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FB2C54F5-BCED-211E-CB08-9481CB307553}"/>
              </a:ext>
            </a:extLst>
          </p:cNvPr>
          <p:cNvSpPr/>
          <p:nvPr/>
        </p:nvSpPr>
        <p:spPr>
          <a:xfrm>
            <a:off x="6251936" y="5611255"/>
            <a:ext cx="1254059" cy="3758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2.0 SpeedTip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4678851-2C15-5A9F-3B77-56DAAAE2E009}"/>
              </a:ext>
            </a:extLst>
          </p:cNvPr>
          <p:cNvSpPr/>
          <p:nvPr/>
        </p:nvSpPr>
        <p:spPr>
          <a:xfrm>
            <a:off x="8373279" y="2828338"/>
            <a:ext cx="1384692" cy="3537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  <a:latin typeface="Roboto Light (Corpo)"/>
              </a:rPr>
              <a:t>MODUS Orthognathics 1.5/2.0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ADEC8FA1-CACC-824B-51FF-AE40205EE826}"/>
              </a:ext>
            </a:extLst>
          </p:cNvPr>
          <p:cNvSpPr/>
          <p:nvPr/>
        </p:nvSpPr>
        <p:spPr>
          <a:xfrm>
            <a:off x="10124019" y="2854774"/>
            <a:ext cx="1097152" cy="2742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  <a:latin typeface="Roboto Light (Corpo)"/>
              </a:rPr>
              <a:t>MODUS OSS 2.0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C016A1A8-2E25-A7F6-44E9-14F2A01828A9}"/>
              </a:ext>
            </a:extLst>
          </p:cNvPr>
          <p:cNvSpPr/>
          <p:nvPr/>
        </p:nvSpPr>
        <p:spPr>
          <a:xfrm>
            <a:off x="8373279" y="5180154"/>
            <a:ext cx="1254059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TBS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AE47A7A9-B9AB-5835-769F-2BFEEFE5B92B}"/>
              </a:ext>
            </a:extLst>
          </p:cNvPr>
          <p:cNvSpPr/>
          <p:nvPr/>
        </p:nvSpPr>
        <p:spPr>
          <a:xfrm>
            <a:off x="8373280" y="6091027"/>
            <a:ext cx="1427278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90° </a:t>
            </a:r>
            <a:r>
              <a:rPr lang="pt-BR" sz="900" dirty="0" err="1">
                <a:solidFill>
                  <a:srgbClr val="000000"/>
                </a:solidFill>
                <a:latin typeface="Roboto Light (Corpo)"/>
              </a:rPr>
              <a:t>Screwdriver</a:t>
            </a:r>
            <a:endParaRPr lang="pt-BR" sz="900" dirty="0">
              <a:solidFill>
                <a:srgbClr val="000000"/>
              </a:solidFill>
              <a:latin typeface="Roboto Light (Corpo)"/>
            </a:endParaRP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0E77BE8-7AFB-EF2D-E0E0-ED2CD02128F4}"/>
              </a:ext>
            </a:extLst>
          </p:cNvPr>
          <p:cNvSpPr/>
          <p:nvPr/>
        </p:nvSpPr>
        <p:spPr>
          <a:xfrm>
            <a:off x="10159868" y="5946266"/>
            <a:ext cx="1047798" cy="19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rgbClr val="000000"/>
                </a:solidFill>
                <a:latin typeface="Roboto Light (Corpo)"/>
              </a:rPr>
              <a:t>MODUS IMF 2.0</a:t>
            </a:r>
          </a:p>
        </p:txBody>
      </p:sp>
    </p:spTree>
    <p:extLst>
      <p:ext uri="{BB962C8B-B14F-4D97-AF65-F5344CB8AC3E}">
        <p14:creationId xmlns:p14="http://schemas.microsoft.com/office/powerpoint/2010/main" val="174937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B37DE-F3AE-73F1-58EA-63B24551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EEC28E0-396B-49C7-7B4B-59DCF383F1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DE68B9A-1A5F-CFD6-4CA2-9E6E121AAD1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4415" y="386093"/>
            <a:ext cx="4258277" cy="425827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772B4F2-0E06-7293-7B65-4D35E03773B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608F5EA-738C-3E23-BDA4-999A07C6072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1428" y="2788006"/>
            <a:ext cx="3482699" cy="3482699"/>
          </a:xfrm>
          <a:prstGeom prst="rect">
            <a:avLst/>
          </a:prstGeom>
        </p:spPr>
      </p:pic>
      <p:pic>
        <p:nvPicPr>
          <p:cNvPr id="14" name="Imagem 13" descr="Uma imagem contendo chapéu&#10;&#10;Descrição gerada automaticamente">
            <a:extLst>
              <a:ext uri="{FF2B5EF4-FFF2-40B4-BE49-F238E27FC236}">
                <a16:creationId xmlns:a16="http://schemas.microsoft.com/office/drawing/2014/main" id="{6AB2A7EF-1C53-6683-4A3F-E735D2A52F8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92" b="89968" l="9977" r="93197">
                        <a14:foregroundMark x1="26077" y1="23989" x2="45068" y2="17557"/>
                        <a14:foregroundMark x1="45068" y1="17557" x2="71712" y2="13066"/>
                        <a14:foregroundMark x1="71712" y1="13066" x2="76644" y2="13552"/>
                        <a14:foregroundMark x1="76644" y1="13552" x2="79762" y2="16424"/>
                        <a14:foregroundMark x1="79762" y1="16424" x2="81746" y2="20186"/>
                        <a14:foregroundMark x1="81746" y1="20186" x2="90363" y2="26173"/>
                        <a14:foregroundMark x1="90363" y1="26173" x2="93197" y2="33697"/>
                        <a14:foregroundMark x1="93197" y1="33697" x2="92007" y2="34345"/>
                        <a14:foregroundMark x1="32993" y1="89846" x2="14966" y2="80704"/>
                        <a14:foregroundMark x1="14966" y1="80704" x2="19615" y2="80461"/>
                        <a14:foregroundMark x1="17007" y1="68568" x2="16837" y2="65777"/>
                        <a14:backgroundMark x1="56576" y1="68406" x2="56349" y2="66424"/>
                        <a14:backgroundMark x1="55952" y1="71359" x2="57426" y2="65170"/>
                        <a14:backgroundMark x1="54875" y1="70712" x2="59070" y2="68002"/>
                        <a14:backgroundMark x1="59070" y1="68002" x2="53798" y2="70186"/>
                        <a14:backgroundMark x1="53798" y1="70186" x2="56689" y2="67112"/>
                        <a14:backgroundMark x1="56689" y1="67112" x2="56803" y2="66869"/>
                        <a14:backgroundMark x1="58107" y1="66707" x2="57256" y2="659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814" y="545781"/>
            <a:ext cx="2810800" cy="3938899"/>
          </a:xfrm>
          <a:prstGeom prst="rect">
            <a:avLst/>
          </a:prstGeom>
        </p:spPr>
      </p:pic>
      <p:pic>
        <p:nvPicPr>
          <p:cNvPr id="15" name="Imagem 14" descr="Uma imagem contendo bolo, branco, mesa, prato&#10;&#10;Descrição gerada automaticamente">
            <a:extLst>
              <a:ext uri="{FF2B5EF4-FFF2-40B4-BE49-F238E27FC236}">
                <a16:creationId xmlns:a16="http://schemas.microsoft.com/office/drawing/2014/main" id="{A68DEC8D-42A4-32EE-AB00-BBF5250F90F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3973" y="3422871"/>
            <a:ext cx="1805362" cy="2847834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6E761B9B-3CC9-9383-541D-8591185ECB5D}"/>
              </a:ext>
            </a:extLst>
          </p:cNvPr>
          <p:cNvSpPr/>
          <p:nvPr/>
        </p:nvSpPr>
        <p:spPr>
          <a:xfrm>
            <a:off x="4007303" y="5991999"/>
            <a:ext cx="4165801" cy="1114932"/>
          </a:xfrm>
          <a:prstGeom prst="rect">
            <a:avLst/>
          </a:prstGeom>
          <a:solidFill>
            <a:srgbClr val="DEB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136D41E-D3EF-230C-9A48-0211440C0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9905" y="5982060"/>
            <a:ext cx="5738083" cy="814477"/>
          </a:xfrm>
        </p:spPr>
        <p:txBody>
          <a:bodyPr vert="horz" anchor="ctr">
            <a:noAutofit/>
          </a:bodyPr>
          <a:lstStyle/>
          <a:p>
            <a:r>
              <a:rPr lang="en-GB" sz="4400" dirty="0">
                <a:solidFill>
                  <a:srgbClr val="000000"/>
                </a:solidFill>
                <a:latin typeface="Old Standard TT" panose="00000500000000000000" pitchFamily="2" charset="0"/>
              </a:rPr>
              <a:t>O </a:t>
            </a:r>
            <a:r>
              <a:rPr lang="en-GB" sz="4400" dirty="0" err="1">
                <a:solidFill>
                  <a:srgbClr val="000000"/>
                </a:solidFill>
                <a:latin typeface="Old Standard TT" panose="00000500000000000000" pitchFamily="2" charset="0"/>
              </a:rPr>
              <a:t>que</a:t>
            </a:r>
            <a:r>
              <a:rPr lang="en-GB" sz="4400" dirty="0">
                <a:solidFill>
                  <a:srgbClr val="000000"/>
                </a:solidFill>
                <a:latin typeface="Old Standard TT" panose="00000500000000000000" pitchFamily="2" charset="0"/>
              </a:rPr>
              <a:t> </a:t>
            </a:r>
            <a:r>
              <a:rPr lang="en-GB" sz="4400" dirty="0" err="1">
                <a:solidFill>
                  <a:srgbClr val="000000"/>
                </a:solidFill>
                <a:latin typeface="Old Standard TT" panose="00000500000000000000" pitchFamily="2" charset="0"/>
              </a:rPr>
              <a:t>mudou</a:t>
            </a:r>
            <a:r>
              <a:rPr lang="en-GB" sz="4400" dirty="0">
                <a:solidFill>
                  <a:srgbClr val="000000"/>
                </a:solidFill>
                <a:latin typeface="Old Standard TT" panose="00000500000000000000" pitchFamily="2" charset="0"/>
              </a:rPr>
              <a:t>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EF601AF-26C4-06F1-D8C4-F4FE08D34802}"/>
              </a:ext>
            </a:extLst>
          </p:cNvPr>
          <p:cNvSpPr txBox="1">
            <a:spLocks/>
          </p:cNvSpPr>
          <p:nvPr/>
        </p:nvSpPr>
        <p:spPr>
          <a:xfrm>
            <a:off x="3440732" y="2331457"/>
            <a:ext cx="3261583" cy="814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FFFFFF"/>
                </a:solidFill>
                <a:latin typeface="Old Standard TT" panose="00000500000000000000" pitchFamily="2" charset="0"/>
              </a:rPr>
              <a:t>MODUS 1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595632D-54D6-8992-C162-3637581DB07D}"/>
              </a:ext>
            </a:extLst>
          </p:cNvPr>
          <p:cNvSpPr txBox="1">
            <a:spLocks/>
          </p:cNvSpPr>
          <p:nvPr/>
        </p:nvSpPr>
        <p:spPr>
          <a:xfrm>
            <a:off x="6326810" y="4215986"/>
            <a:ext cx="3261583" cy="814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0000"/>
                </a:solidFill>
                <a:latin typeface="Old Standard TT" panose="00000500000000000000" pitchFamily="2" charset="0"/>
              </a:rPr>
              <a:t>MODUS 2</a:t>
            </a:r>
          </a:p>
        </p:txBody>
      </p:sp>
    </p:spTree>
    <p:extLst>
      <p:ext uri="{BB962C8B-B14F-4D97-AF65-F5344CB8AC3E}">
        <p14:creationId xmlns:p14="http://schemas.microsoft.com/office/powerpoint/2010/main" val="363517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3BA90-9C81-04A3-DB91-6A5200A1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2">
            <a:extLst>
              <a:ext uri="{FF2B5EF4-FFF2-40B4-BE49-F238E27FC236}">
                <a16:creationId xmlns:a16="http://schemas.microsoft.com/office/drawing/2014/main" id="{FD31CAD2-98AC-4A1D-60BB-FBE9F71112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2746" y="4773273"/>
            <a:ext cx="2016469" cy="19997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731D367-9AAD-6FE6-E96B-999393CF28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pic>
        <p:nvPicPr>
          <p:cNvPr id="7" name="Grafik 5">
            <a:extLst>
              <a:ext uri="{FF2B5EF4-FFF2-40B4-BE49-F238E27FC236}">
                <a16:creationId xmlns:a16="http://schemas.microsoft.com/office/drawing/2014/main" id="{D8EB35F7-9F2C-555F-5F53-0FC2DA72510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6155" y="2841919"/>
            <a:ext cx="2016470" cy="1646003"/>
          </a:xfrm>
          <a:prstGeom prst="rect">
            <a:avLst/>
          </a:prstGeom>
        </p:spPr>
      </p:pic>
      <p:pic>
        <p:nvPicPr>
          <p:cNvPr id="9" name="Grafik 6">
            <a:extLst>
              <a:ext uri="{FF2B5EF4-FFF2-40B4-BE49-F238E27FC236}">
                <a16:creationId xmlns:a16="http://schemas.microsoft.com/office/drawing/2014/main" id="{869F7497-BAC0-1CAB-F0DE-35E8CC1F1CC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5709" y="1103974"/>
            <a:ext cx="1952483" cy="1607699"/>
          </a:xfrm>
          <a:prstGeom prst="rect">
            <a:avLst/>
          </a:prstGeom>
        </p:spPr>
      </p:pic>
      <p:grpSp>
        <p:nvGrpSpPr>
          <p:cNvPr id="42" name="Agrupar 41">
            <a:extLst>
              <a:ext uri="{FF2B5EF4-FFF2-40B4-BE49-F238E27FC236}">
                <a16:creationId xmlns:a16="http://schemas.microsoft.com/office/drawing/2014/main" id="{8754E242-34A1-97FE-A7F7-8F9946C98D2B}"/>
              </a:ext>
            </a:extLst>
          </p:cNvPr>
          <p:cNvGrpSpPr/>
          <p:nvPr/>
        </p:nvGrpSpPr>
        <p:grpSpPr>
          <a:xfrm>
            <a:off x="426009" y="2007213"/>
            <a:ext cx="3355975" cy="2990593"/>
            <a:chOff x="244475" y="2231860"/>
            <a:chExt cx="3355975" cy="2990593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8E92089-F4E1-6EAE-F70E-2FE5FFFC04F1}"/>
                </a:ext>
              </a:extLst>
            </p:cNvPr>
            <p:cNvSpPr txBox="1"/>
            <p:nvPr/>
          </p:nvSpPr>
          <p:spPr>
            <a:xfrm>
              <a:off x="337129" y="2231860"/>
              <a:ext cx="3187121" cy="13334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pt-BR" sz="1300" dirty="0">
                  <a:latin typeface="Roboto Light"/>
                  <a:cs typeface="Roboto Light"/>
                </a:rPr>
                <a:t>Conceito de cores uniforme e fácil de usar para todos os sistemas</a:t>
              </a:r>
              <a:br>
                <a:rPr lang="pt-BR" sz="1300" dirty="0">
                  <a:latin typeface="Roboto Light"/>
                  <a:cs typeface="Roboto Light"/>
                </a:rPr>
              </a:br>
              <a:r>
                <a:rPr lang="pt-BR" sz="1300" dirty="0">
                  <a:latin typeface="Roboto Light"/>
                  <a:cs typeface="Roboto Light"/>
                </a:rPr>
                <a:t>
Cobertura de uma ampla gama de indicações para o terço médio da face, mandíbula e ortognática</a:t>
              </a:r>
              <a:endParaRPr lang="de-CH" sz="1300" dirty="0" err="1">
                <a:latin typeface="Roboto Light"/>
                <a:cs typeface="Roboto Light"/>
              </a:endParaRPr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E90257AE-7A9F-64BA-F1E0-50A05F2BE649}"/>
                </a:ext>
              </a:extLst>
            </p:cNvPr>
            <p:cNvCxnSpPr>
              <a:cxnSpLocks/>
            </p:cNvCxnSpPr>
            <p:nvPr/>
          </p:nvCxnSpPr>
          <p:spPr>
            <a:xfrm>
              <a:off x="244475" y="2740943"/>
              <a:ext cx="3355975" cy="0"/>
            </a:xfrm>
            <a:prstGeom prst="line">
              <a:avLst/>
            </a:prstGeom>
            <a:ln w="1270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9">
              <a:extLst>
                <a:ext uri="{FF2B5EF4-FFF2-40B4-BE49-F238E27FC236}">
                  <a16:creationId xmlns:a16="http://schemas.microsoft.com/office/drawing/2014/main" id="{9EFDB25A-B2BC-3A08-1EAA-527E85C24654}"/>
                </a:ext>
              </a:extLst>
            </p:cNvPr>
            <p:cNvSpPr txBox="1"/>
            <p:nvPr/>
          </p:nvSpPr>
          <p:spPr>
            <a:xfrm>
              <a:off x="337129" y="3709792"/>
              <a:ext cx="3263321" cy="15126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pt-BR" sz="1300" dirty="0">
                  <a:latin typeface="Roboto Light"/>
                  <a:cs typeface="Roboto Light"/>
                </a:rPr>
                <a:t>A variedade de recipientes estéreis ou implantes permite uma seleção individual de implantes</a:t>
              </a:r>
              <a:br>
                <a:rPr lang="pt-BR" sz="1300" dirty="0">
                  <a:latin typeface="Roboto Light"/>
                  <a:cs typeface="Roboto Light"/>
                </a:rPr>
              </a:br>
              <a:r>
                <a:rPr lang="pt-BR" sz="1300" dirty="0">
                  <a:latin typeface="Roboto Light"/>
                  <a:cs typeface="Roboto Light"/>
                </a:rPr>
                <a:t>
Implantes e instrumentos recém-desenvolvidos juntamente com tecnologias comprovadas da Medartis</a:t>
              </a:r>
              <a:endParaRPr lang="de-CH" sz="1300" dirty="0" err="1">
                <a:latin typeface="Roboto Light"/>
                <a:cs typeface="Roboto Light"/>
              </a:endParaRPr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349E1505-2EAE-546A-ECCD-0885848BEF00}"/>
                </a:ext>
              </a:extLst>
            </p:cNvPr>
            <p:cNvCxnSpPr>
              <a:cxnSpLocks/>
            </p:cNvCxnSpPr>
            <p:nvPr/>
          </p:nvCxnSpPr>
          <p:spPr>
            <a:xfrm>
              <a:off x="244475" y="3579699"/>
              <a:ext cx="3355975" cy="0"/>
            </a:xfrm>
            <a:prstGeom prst="line">
              <a:avLst/>
            </a:prstGeom>
            <a:ln w="1270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708FEDE9-F4CB-5AF5-D414-D54850A26CA0}"/>
                </a:ext>
              </a:extLst>
            </p:cNvPr>
            <p:cNvCxnSpPr>
              <a:cxnSpLocks/>
            </p:cNvCxnSpPr>
            <p:nvPr/>
          </p:nvCxnSpPr>
          <p:spPr>
            <a:xfrm>
              <a:off x="244475" y="4412290"/>
              <a:ext cx="3355975" cy="0"/>
            </a:xfrm>
            <a:prstGeom prst="line">
              <a:avLst/>
            </a:prstGeom>
            <a:ln w="1270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15A86246-5B69-5487-55CF-278E2787A82B}"/>
              </a:ext>
            </a:extLst>
          </p:cNvPr>
          <p:cNvSpPr/>
          <p:nvPr/>
        </p:nvSpPr>
        <p:spPr>
          <a:xfrm>
            <a:off x="6558492" y="730980"/>
            <a:ext cx="5885299" cy="2684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MODUS 2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97FF4C-4515-7F2E-E6AC-F86211625704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7670345" y="1574281"/>
            <a:ext cx="1235116" cy="0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70499ED8-22C8-FC8C-1811-6FB256F197FE}"/>
              </a:ext>
            </a:extLst>
          </p:cNvPr>
          <p:cNvSpPr/>
          <p:nvPr/>
        </p:nvSpPr>
        <p:spPr>
          <a:xfrm>
            <a:off x="6593233" y="5304160"/>
            <a:ext cx="1303306" cy="2345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rgbClr val="000000"/>
                </a:solidFill>
                <a:latin typeface="Roboto Light (Corpo)"/>
              </a:rPr>
              <a:t>Mandible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CE6A8FC8-0193-C986-CBC8-E6E311E711C5}"/>
              </a:ext>
            </a:extLst>
          </p:cNvPr>
          <p:cNvCxnSpPr>
            <a:cxnSpLocks/>
          </p:cNvCxnSpPr>
          <p:nvPr/>
        </p:nvCxnSpPr>
        <p:spPr>
          <a:xfrm>
            <a:off x="7378319" y="5908601"/>
            <a:ext cx="1219029" cy="0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75AEF1DD-4A3B-11D0-6D2B-10B3017CD4D2}"/>
              </a:ext>
            </a:extLst>
          </p:cNvPr>
          <p:cNvCxnSpPr>
            <a:cxnSpLocks/>
          </p:cNvCxnSpPr>
          <p:nvPr/>
        </p:nvCxnSpPr>
        <p:spPr>
          <a:xfrm>
            <a:off x="7171734" y="5538756"/>
            <a:ext cx="216714" cy="369845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796ED343-2A8E-8C8E-6445-4DD059F95DD1}"/>
              </a:ext>
            </a:extLst>
          </p:cNvPr>
          <p:cNvCxnSpPr>
            <a:cxnSpLocks/>
          </p:cNvCxnSpPr>
          <p:nvPr/>
        </p:nvCxnSpPr>
        <p:spPr>
          <a:xfrm>
            <a:off x="7503522" y="4068070"/>
            <a:ext cx="672562" cy="1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38BCD107-08B6-9947-4BB3-F274E6A17464}"/>
              </a:ext>
            </a:extLst>
          </p:cNvPr>
          <p:cNvCxnSpPr>
            <a:cxnSpLocks/>
          </p:cNvCxnSpPr>
          <p:nvPr/>
        </p:nvCxnSpPr>
        <p:spPr>
          <a:xfrm flipH="1">
            <a:off x="6558492" y="2831980"/>
            <a:ext cx="580578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40E3E968-3D74-8362-AFDB-BBD1667401F7}"/>
              </a:ext>
            </a:extLst>
          </p:cNvPr>
          <p:cNvCxnSpPr>
            <a:cxnSpLocks/>
          </p:cNvCxnSpPr>
          <p:nvPr/>
        </p:nvCxnSpPr>
        <p:spPr>
          <a:xfrm flipH="1">
            <a:off x="6558492" y="4683971"/>
            <a:ext cx="588529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3677FE10-FC9F-C999-AFC7-8674C4DD9859}"/>
              </a:ext>
            </a:extLst>
          </p:cNvPr>
          <p:cNvSpPr/>
          <p:nvPr/>
        </p:nvSpPr>
        <p:spPr>
          <a:xfrm>
            <a:off x="6593233" y="3945768"/>
            <a:ext cx="1077113" cy="2345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rgbClr val="000000"/>
                </a:solidFill>
                <a:latin typeface="Roboto Light (Corpo)"/>
              </a:rPr>
              <a:t>Midface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7159A85-E5FB-F194-ECFD-AF52F7BC9AC0}"/>
              </a:ext>
            </a:extLst>
          </p:cNvPr>
          <p:cNvSpPr/>
          <p:nvPr/>
        </p:nvSpPr>
        <p:spPr>
          <a:xfrm>
            <a:off x="6593232" y="1456983"/>
            <a:ext cx="1077113" cy="2345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rgbClr val="000000"/>
                </a:solidFill>
                <a:latin typeface="Roboto Light (Corpo)"/>
              </a:rPr>
              <a:t>Orthognathics</a:t>
            </a:r>
            <a:endParaRPr lang="pt-BR" sz="1000" dirty="0">
              <a:solidFill>
                <a:srgbClr val="000000"/>
              </a:solidFill>
              <a:latin typeface="Roboto Light (Corpo)"/>
            </a:endParaRPr>
          </a:p>
        </p:txBody>
      </p:sp>
      <p:cxnSp>
        <p:nvCxnSpPr>
          <p:cNvPr id="2" name="Conector Reto 3">
            <a:extLst>
              <a:ext uri="{FF2B5EF4-FFF2-40B4-BE49-F238E27FC236}">
                <a16:creationId xmlns:a16="http://schemas.microsoft.com/office/drawing/2014/main" id="{782A6712-2E3C-5218-5A26-39D7D31046EF}"/>
              </a:ext>
            </a:extLst>
          </p:cNvPr>
          <p:cNvCxnSpPr>
            <a:cxnSpLocks/>
          </p:cNvCxnSpPr>
          <p:nvPr/>
        </p:nvCxnSpPr>
        <p:spPr>
          <a:xfrm flipH="1">
            <a:off x="32177" y="798141"/>
            <a:ext cx="5142721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9">
            <a:extLst>
              <a:ext uri="{FF2B5EF4-FFF2-40B4-BE49-F238E27FC236}">
                <a16:creationId xmlns:a16="http://schemas.microsoft.com/office/drawing/2014/main" id="{B66EA18D-F39D-C958-EB2E-6469E4E0AE1A}"/>
              </a:ext>
            </a:extLst>
          </p:cNvPr>
          <p:cNvSpPr txBox="1">
            <a:spLocks/>
          </p:cNvSpPr>
          <p:nvPr/>
        </p:nvSpPr>
        <p:spPr>
          <a:xfrm>
            <a:off x="254001" y="301626"/>
            <a:ext cx="2698206" cy="4965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MODUS 2</a:t>
            </a:r>
            <a:endParaRPr lang="en-ES" sz="3000" dirty="0">
              <a:latin typeface="Roboto Light (Corpo)"/>
            </a:endParaRPr>
          </a:p>
        </p:txBody>
      </p:sp>
    </p:spTree>
    <p:extLst>
      <p:ext uri="{BB962C8B-B14F-4D97-AF65-F5344CB8AC3E}">
        <p14:creationId xmlns:p14="http://schemas.microsoft.com/office/powerpoint/2010/main" val="73614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41">
            <a:extLst>
              <a:ext uri="{FF2B5EF4-FFF2-40B4-BE49-F238E27FC236}">
                <a16:creationId xmlns:a16="http://schemas.microsoft.com/office/drawing/2014/main" id="{815DC9AC-D490-942D-1E35-D6CC90882C5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7988" y="2634478"/>
            <a:ext cx="2158705" cy="2041895"/>
          </a:xfrm>
          <a:prstGeom prst="rect">
            <a:avLst/>
          </a:prstGeom>
        </p:spPr>
      </p:pic>
      <p:pic>
        <p:nvPicPr>
          <p:cNvPr id="8" name="Grafik 4">
            <a:extLst>
              <a:ext uri="{FF2B5EF4-FFF2-40B4-BE49-F238E27FC236}">
                <a16:creationId xmlns:a16="http://schemas.microsoft.com/office/drawing/2014/main" id="{07B17D04-12B1-23A3-A19C-3146CF6776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882" y="2631161"/>
            <a:ext cx="3217155" cy="2167598"/>
          </a:xfrm>
          <a:prstGeom prst="rect">
            <a:avLst/>
          </a:prstGeom>
        </p:spPr>
      </p:pic>
      <p:pic>
        <p:nvPicPr>
          <p:cNvPr id="17" name="Grafik 18">
            <a:extLst>
              <a:ext uri="{FF2B5EF4-FFF2-40B4-BE49-F238E27FC236}">
                <a16:creationId xmlns:a16="http://schemas.microsoft.com/office/drawing/2014/main" id="{F8789EF2-0433-0150-A87C-F84CDE8543F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5514" y="2606051"/>
            <a:ext cx="1760972" cy="172129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80DB3A3-DFAA-C9DF-0A73-35D91719BFCB}"/>
              </a:ext>
            </a:extLst>
          </p:cNvPr>
          <p:cNvSpPr/>
          <p:nvPr/>
        </p:nvSpPr>
        <p:spPr>
          <a:xfrm>
            <a:off x="358775" y="1122404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</a:t>
            </a:r>
            <a:r>
              <a:rPr lang="pt-BR" baseline="300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®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BAAE5B-F2B7-6E67-5DB5-9C10A8574C5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CEFFD9EA-8F29-85FE-D3C6-7EB804891BF4}"/>
              </a:ext>
            </a:extLst>
          </p:cNvPr>
          <p:cNvCxnSpPr>
            <a:cxnSpLocks/>
          </p:cNvCxnSpPr>
          <p:nvPr/>
        </p:nvCxnSpPr>
        <p:spPr>
          <a:xfrm flipH="1">
            <a:off x="-675496" y="798141"/>
            <a:ext cx="5142721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4B528FC7-04AA-F713-98D4-CBD667857381}"/>
              </a:ext>
            </a:extLst>
          </p:cNvPr>
          <p:cNvSpPr txBox="1">
            <a:spLocks/>
          </p:cNvSpPr>
          <p:nvPr/>
        </p:nvSpPr>
        <p:spPr>
          <a:xfrm>
            <a:off x="254000" y="349829"/>
            <a:ext cx="4213225" cy="4483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Tecnologias</a:t>
            </a:r>
          </a:p>
        </p:txBody>
      </p:sp>
      <p:sp>
        <p:nvSpPr>
          <p:cNvPr id="9" name="Textfeld 22">
            <a:extLst>
              <a:ext uri="{FF2B5EF4-FFF2-40B4-BE49-F238E27FC236}">
                <a16:creationId xmlns:a16="http://schemas.microsoft.com/office/drawing/2014/main" id="{6540C3DA-0C2B-513D-91E9-654B07834092}"/>
              </a:ext>
            </a:extLst>
          </p:cNvPr>
          <p:cNvSpPr txBox="1"/>
          <p:nvPr/>
        </p:nvSpPr>
        <p:spPr>
          <a:xfrm>
            <a:off x="589581" y="5092827"/>
            <a:ext cx="2841165" cy="11684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Superfície de contato azul para transmissão de torque
Superfície de contato vermelha para retenção do parafuso
</a:t>
            </a:r>
            <a:endParaRPr lang="de-CH" sz="1300" dirty="0" err="1">
              <a:latin typeface="Roboto Light"/>
              <a:cs typeface="Roboto Light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392E40E-A41D-6EAF-6967-CEEB6A733EBB}"/>
              </a:ext>
            </a:extLst>
          </p:cNvPr>
          <p:cNvSpPr txBox="1"/>
          <p:nvPr/>
        </p:nvSpPr>
        <p:spPr>
          <a:xfrm>
            <a:off x="616231" y="1703983"/>
            <a:ext cx="2841165" cy="10017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Propriedades de </a:t>
            </a:r>
            <a:r>
              <a:rPr lang="pt-BR" sz="1300" dirty="0" err="1">
                <a:latin typeface="Roboto Light"/>
                <a:cs typeface="Roboto Light"/>
              </a:rPr>
              <a:t>auto-fixação</a:t>
            </a:r>
            <a:r>
              <a:rPr lang="pt-BR" sz="1300" dirty="0">
                <a:latin typeface="Roboto Light"/>
                <a:cs typeface="Roboto Light"/>
              </a:rPr>
              <a:t> entre parafuso e chave de fenda</a:t>
            </a:r>
          </a:p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
Aumento da transmissão de torque</a:t>
            </a:r>
            <a:endParaRPr lang="de-CH" sz="1300" dirty="0" err="1">
              <a:latin typeface="Roboto Light"/>
              <a:cs typeface="Roboto Light"/>
            </a:endParaRPr>
          </a:p>
        </p:txBody>
      </p:sp>
      <p:cxnSp>
        <p:nvCxnSpPr>
          <p:cNvPr id="11" name="Straight Connector 305">
            <a:extLst>
              <a:ext uri="{FF2B5EF4-FFF2-40B4-BE49-F238E27FC236}">
                <a16:creationId xmlns:a16="http://schemas.microsoft.com/office/drawing/2014/main" id="{9544D965-261C-72BC-8E8E-56A03BE3B910}"/>
              </a:ext>
            </a:extLst>
          </p:cNvPr>
          <p:cNvCxnSpPr>
            <a:cxnSpLocks/>
          </p:cNvCxnSpPr>
          <p:nvPr/>
        </p:nvCxnSpPr>
        <p:spPr>
          <a:xfrm>
            <a:off x="4043435" y="1122404"/>
            <a:ext cx="0" cy="504979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E8B4A4CA-2B05-552C-271A-FBDD91B0FC31}"/>
              </a:ext>
            </a:extLst>
          </p:cNvPr>
          <p:cNvSpPr/>
          <p:nvPr/>
        </p:nvSpPr>
        <p:spPr>
          <a:xfrm>
            <a:off x="4463833" y="1122404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SpeedTip</a:t>
            </a:r>
            <a:r>
              <a:rPr lang="pt-BR" baseline="300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®</a:t>
            </a:r>
          </a:p>
        </p:txBody>
      </p:sp>
      <p:sp>
        <p:nvSpPr>
          <p:cNvPr id="16" name="Textfeld 9">
            <a:extLst>
              <a:ext uri="{FF2B5EF4-FFF2-40B4-BE49-F238E27FC236}">
                <a16:creationId xmlns:a16="http://schemas.microsoft.com/office/drawing/2014/main" id="{B46CBEDE-9EF9-2890-F5C6-8F5FCF94C4EE}"/>
              </a:ext>
            </a:extLst>
          </p:cNvPr>
          <p:cNvSpPr txBox="1"/>
          <p:nvPr/>
        </p:nvSpPr>
        <p:spPr>
          <a:xfrm>
            <a:off x="4812772" y="1690834"/>
            <a:ext cx="2558788" cy="812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Corte imediato do osso</a:t>
            </a:r>
            <a:br>
              <a:rPr lang="pt-BR" sz="1300" dirty="0">
                <a:latin typeface="Roboto Light"/>
                <a:cs typeface="Roboto Light"/>
              </a:rPr>
            </a:br>
            <a:endParaRPr lang="pt-BR" sz="1300" dirty="0">
              <a:latin typeface="Roboto Light"/>
              <a:cs typeface="Roboto Light"/>
            </a:endParaRPr>
          </a:p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Redução do torque de inserção graças à ponta poligonal</a:t>
            </a:r>
          </a:p>
        </p:txBody>
      </p:sp>
      <p:pic>
        <p:nvPicPr>
          <p:cNvPr id="18" name="Grafik 32">
            <a:extLst>
              <a:ext uri="{FF2B5EF4-FFF2-40B4-BE49-F238E27FC236}">
                <a16:creationId xmlns:a16="http://schemas.microsoft.com/office/drawing/2014/main" id="{1891804F-A95F-7DDA-6C62-B08272C555E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3833" y="4618878"/>
            <a:ext cx="3467735" cy="1154041"/>
          </a:xfrm>
          <a:prstGeom prst="rect">
            <a:avLst/>
          </a:prstGeom>
        </p:spPr>
      </p:pic>
      <p:cxnSp>
        <p:nvCxnSpPr>
          <p:cNvPr id="19" name="Straight Connector 305">
            <a:extLst>
              <a:ext uri="{FF2B5EF4-FFF2-40B4-BE49-F238E27FC236}">
                <a16:creationId xmlns:a16="http://schemas.microsoft.com/office/drawing/2014/main" id="{D422B55C-F072-174A-23C4-8850440DEA1B}"/>
              </a:ext>
            </a:extLst>
          </p:cNvPr>
          <p:cNvCxnSpPr>
            <a:cxnSpLocks/>
          </p:cNvCxnSpPr>
          <p:nvPr/>
        </p:nvCxnSpPr>
        <p:spPr>
          <a:xfrm>
            <a:off x="8122367" y="1122404"/>
            <a:ext cx="0" cy="504979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A15D43-DA60-C613-33B5-960028ED176C}"/>
              </a:ext>
            </a:extLst>
          </p:cNvPr>
          <p:cNvSpPr/>
          <p:nvPr/>
        </p:nvSpPr>
        <p:spPr>
          <a:xfrm>
            <a:off x="8568890" y="1122404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TriLock</a:t>
            </a:r>
            <a:r>
              <a:rPr lang="pt-BR" baseline="300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®</a:t>
            </a:r>
          </a:p>
        </p:txBody>
      </p:sp>
      <p:sp>
        <p:nvSpPr>
          <p:cNvPr id="25" name="Textfeld 22">
            <a:extLst>
              <a:ext uri="{FF2B5EF4-FFF2-40B4-BE49-F238E27FC236}">
                <a16:creationId xmlns:a16="http://schemas.microsoft.com/office/drawing/2014/main" id="{8C00A11E-F2BA-F45D-25D3-BF19B4C48FDA}"/>
              </a:ext>
            </a:extLst>
          </p:cNvPr>
          <p:cNvSpPr txBox="1"/>
          <p:nvPr/>
        </p:nvSpPr>
        <p:spPr>
          <a:xfrm>
            <a:off x="4511460" y="4396123"/>
            <a:ext cx="1516292" cy="2227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CH" sz="1250" dirty="0">
                <a:latin typeface="Roboto Light"/>
                <a:cs typeface="Roboto Light"/>
              </a:rPr>
              <a:t>Geometría poligonal</a:t>
            </a:r>
          </a:p>
        </p:txBody>
      </p:sp>
      <p:sp>
        <p:nvSpPr>
          <p:cNvPr id="26" name="Textfeld 22">
            <a:extLst>
              <a:ext uri="{FF2B5EF4-FFF2-40B4-BE49-F238E27FC236}">
                <a16:creationId xmlns:a16="http://schemas.microsoft.com/office/drawing/2014/main" id="{CFF3F98F-AB04-C73C-0A1A-D8156EF20FB0}"/>
              </a:ext>
            </a:extLst>
          </p:cNvPr>
          <p:cNvSpPr txBox="1"/>
          <p:nvPr/>
        </p:nvSpPr>
        <p:spPr>
          <a:xfrm>
            <a:off x="6165920" y="4405648"/>
            <a:ext cx="1516292" cy="2227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CH" sz="1250" dirty="0">
                <a:latin typeface="Roboto Light"/>
                <a:cs typeface="Roboto Light"/>
              </a:rPr>
              <a:t> Eixo cônico</a:t>
            </a:r>
          </a:p>
        </p:txBody>
      </p:sp>
      <p:sp>
        <p:nvSpPr>
          <p:cNvPr id="27" name="Textfeld 22">
            <a:extLst>
              <a:ext uri="{FF2B5EF4-FFF2-40B4-BE49-F238E27FC236}">
                <a16:creationId xmlns:a16="http://schemas.microsoft.com/office/drawing/2014/main" id="{D41622F1-108B-3669-32DC-7618588D2B31}"/>
              </a:ext>
            </a:extLst>
          </p:cNvPr>
          <p:cNvSpPr txBox="1"/>
          <p:nvPr/>
        </p:nvSpPr>
        <p:spPr>
          <a:xfrm>
            <a:off x="4248818" y="5815878"/>
            <a:ext cx="1516292" cy="2227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CH" sz="1250" dirty="0">
                <a:latin typeface="Roboto Light"/>
                <a:cs typeface="Roboto Light"/>
              </a:rPr>
              <a:t>Ponta autoperfurante</a:t>
            </a:r>
          </a:p>
        </p:txBody>
      </p:sp>
      <p:sp>
        <p:nvSpPr>
          <p:cNvPr id="28" name="Textfeld 22">
            <a:extLst>
              <a:ext uri="{FF2B5EF4-FFF2-40B4-BE49-F238E27FC236}">
                <a16:creationId xmlns:a16="http://schemas.microsoft.com/office/drawing/2014/main" id="{8FAA2A81-0BE5-939A-18D5-3A9CD29D1DEA}"/>
              </a:ext>
            </a:extLst>
          </p:cNvPr>
          <p:cNvSpPr txBox="1"/>
          <p:nvPr/>
        </p:nvSpPr>
        <p:spPr>
          <a:xfrm>
            <a:off x="6118293" y="5825403"/>
            <a:ext cx="1767558" cy="2227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CH" sz="1250" dirty="0">
                <a:latin typeface="Roboto Light"/>
                <a:cs typeface="Roboto Light"/>
              </a:rPr>
              <a:t>Rosca precisa e afiada</a:t>
            </a:r>
          </a:p>
        </p:txBody>
      </p:sp>
      <p:sp>
        <p:nvSpPr>
          <p:cNvPr id="29" name="Textfeld 9">
            <a:extLst>
              <a:ext uri="{FF2B5EF4-FFF2-40B4-BE49-F238E27FC236}">
                <a16:creationId xmlns:a16="http://schemas.microsoft.com/office/drawing/2014/main" id="{44FA5554-89C2-04B6-983C-BD8F3B3F9343}"/>
              </a:ext>
            </a:extLst>
          </p:cNvPr>
          <p:cNvSpPr txBox="1"/>
          <p:nvPr/>
        </p:nvSpPr>
        <p:spPr>
          <a:xfrm>
            <a:off x="9058869" y="1703983"/>
            <a:ext cx="2284303" cy="15530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Corte imediato do osso</a:t>
            </a:r>
          </a:p>
          <a:p>
            <a:pPr algn="ctr">
              <a:lnSpc>
                <a:spcPct val="120000"/>
              </a:lnSpc>
            </a:pPr>
            <a:endParaRPr lang="pt-BR" sz="1300" dirty="0">
              <a:latin typeface="Roboto Light"/>
              <a:cs typeface="Roboto Light"/>
            </a:endParaRPr>
          </a:p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Redução do torque de inserção graças à ponta poligonal</a:t>
            </a:r>
          </a:p>
        </p:txBody>
      </p:sp>
      <p:sp>
        <p:nvSpPr>
          <p:cNvPr id="31" name="Textfeld 22">
            <a:extLst>
              <a:ext uri="{FF2B5EF4-FFF2-40B4-BE49-F238E27FC236}">
                <a16:creationId xmlns:a16="http://schemas.microsoft.com/office/drawing/2014/main" id="{D99B13D8-CB45-31A3-54A9-11C782AD93CF}"/>
              </a:ext>
            </a:extLst>
          </p:cNvPr>
          <p:cNvSpPr txBox="1"/>
          <p:nvPr/>
        </p:nvSpPr>
        <p:spPr>
          <a:xfrm>
            <a:off x="10201021" y="3966324"/>
            <a:ext cx="1516292" cy="2227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CH" sz="1250" dirty="0">
                <a:latin typeface="Roboto Light"/>
                <a:cs typeface="Roboto Light"/>
              </a:rPr>
              <a:t>Ângulo variável ± 15°.</a:t>
            </a:r>
          </a:p>
        </p:txBody>
      </p:sp>
      <p:pic>
        <p:nvPicPr>
          <p:cNvPr id="32" name="Grafik 44">
            <a:extLst>
              <a:ext uri="{FF2B5EF4-FFF2-40B4-BE49-F238E27FC236}">
                <a16:creationId xmlns:a16="http://schemas.microsoft.com/office/drawing/2014/main" id="{E621253C-7CF5-D6A9-A13B-6AD5DFB2B92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3091" y="4662656"/>
            <a:ext cx="2716595" cy="991921"/>
          </a:xfrm>
          <a:prstGeom prst="rect">
            <a:avLst/>
          </a:prstGeom>
        </p:spPr>
      </p:pic>
      <p:sp>
        <p:nvSpPr>
          <p:cNvPr id="33" name="Textfeld 22">
            <a:extLst>
              <a:ext uri="{FF2B5EF4-FFF2-40B4-BE49-F238E27FC236}">
                <a16:creationId xmlns:a16="http://schemas.microsoft.com/office/drawing/2014/main" id="{33DCB604-42E0-E54C-7D9A-49547D0C4370}"/>
              </a:ext>
            </a:extLst>
          </p:cNvPr>
          <p:cNvSpPr txBox="1"/>
          <p:nvPr/>
        </p:nvSpPr>
        <p:spPr>
          <a:xfrm>
            <a:off x="9102793" y="5809732"/>
            <a:ext cx="2034265" cy="2289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CH" sz="1250" dirty="0">
                <a:latin typeface="Roboto Light"/>
                <a:cs typeface="Roboto Light"/>
              </a:rPr>
              <a:t>Sem zona de carga (verde)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F22C526-608D-7EAC-7E0D-FF0208D66E1C}"/>
              </a:ext>
            </a:extLst>
          </p:cNvPr>
          <p:cNvCxnSpPr>
            <a:cxnSpLocks/>
          </p:cNvCxnSpPr>
          <p:nvPr/>
        </p:nvCxnSpPr>
        <p:spPr>
          <a:xfrm>
            <a:off x="4694711" y="2024571"/>
            <a:ext cx="2584580" cy="0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3E6F402-5ADD-B6B2-834B-065ECE2F1C72}"/>
              </a:ext>
            </a:extLst>
          </p:cNvPr>
          <p:cNvCxnSpPr>
            <a:cxnSpLocks/>
          </p:cNvCxnSpPr>
          <p:nvPr/>
        </p:nvCxnSpPr>
        <p:spPr>
          <a:xfrm>
            <a:off x="587708" y="2268242"/>
            <a:ext cx="2843038" cy="0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A4BB098-9E94-34AA-2ECE-86F894474184}"/>
              </a:ext>
            </a:extLst>
          </p:cNvPr>
          <p:cNvCxnSpPr>
            <a:cxnSpLocks/>
          </p:cNvCxnSpPr>
          <p:nvPr/>
        </p:nvCxnSpPr>
        <p:spPr>
          <a:xfrm>
            <a:off x="8827635" y="2024571"/>
            <a:ext cx="2584580" cy="0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09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BD4D0-5467-2988-F29D-8F37B405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E8E10A0-FC23-48D4-CFB8-32071F32B5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14507" y="-354586"/>
            <a:ext cx="4310577" cy="806791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EC532F-458F-B8D2-C03F-F183B1C08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113" y="3059861"/>
            <a:ext cx="3895987" cy="814477"/>
          </a:xfrm>
        </p:spPr>
        <p:txBody>
          <a:bodyPr vert="horz" anchor="ctr">
            <a:normAutofit fontScale="90000"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Old Standard TT" panose="00000500000000000000" pitchFamily="2" charset="0"/>
              </a:rPr>
              <a:t>Midface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8BBC941-43FE-DDB1-4244-144087375B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2275" y="260350"/>
            <a:ext cx="1346200" cy="246543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01F8C724-AD4D-8E67-B016-717A47C846EA}"/>
              </a:ext>
            </a:extLst>
          </p:cNvPr>
          <p:cNvSpPr/>
          <p:nvPr/>
        </p:nvSpPr>
        <p:spPr>
          <a:xfrm>
            <a:off x="4991100" y="2193124"/>
            <a:ext cx="2733008" cy="2733008"/>
          </a:xfrm>
          <a:prstGeom prst="ellipse">
            <a:avLst/>
          </a:prstGeom>
          <a:solidFill>
            <a:schemeClr val="tx1"/>
          </a:solidFill>
          <a:ln>
            <a:solidFill>
              <a:srgbClr val="DEB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E913DD9E-4B5A-619E-8311-13C2E30849A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7284" y="2764266"/>
            <a:ext cx="1780639" cy="183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7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A5282-788A-C230-C247-4FA5F0440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>
            <a:extLst>
              <a:ext uri="{FF2B5EF4-FFF2-40B4-BE49-F238E27FC236}">
                <a16:creationId xmlns:a16="http://schemas.microsoft.com/office/drawing/2014/main" id="{D2012567-A354-5532-F588-D69C76224400}"/>
              </a:ext>
            </a:extLst>
          </p:cNvPr>
          <p:cNvSpPr>
            <a:spLocks/>
          </p:cNvSpPr>
          <p:nvPr/>
        </p:nvSpPr>
        <p:spPr>
          <a:xfrm>
            <a:off x="386723" y="3549767"/>
            <a:ext cx="2456292" cy="357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Material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E5B68FE9-003C-AE5B-ADF0-69920AC000FC}"/>
              </a:ext>
            </a:extLst>
          </p:cNvPr>
          <p:cNvSpPr>
            <a:spLocks/>
          </p:cNvSpPr>
          <p:nvPr/>
        </p:nvSpPr>
        <p:spPr>
          <a:xfrm>
            <a:off x="386723" y="4365477"/>
            <a:ext cx="2447850" cy="3573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Distância do orifícios</a:t>
            </a:r>
            <a:endParaRPr lang="pt-BR" sz="1300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3E05464-B925-E6F8-DC54-A2F18F669A86}"/>
              </a:ext>
            </a:extLst>
          </p:cNvPr>
          <p:cNvSpPr>
            <a:spLocks/>
          </p:cNvSpPr>
          <p:nvPr/>
        </p:nvSpPr>
        <p:spPr>
          <a:xfrm>
            <a:off x="386723" y="4007028"/>
            <a:ext cx="2447848" cy="3573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Espessura da placa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3727FC6B-E327-D38A-B5F3-5C3D5207B358}"/>
              </a:ext>
            </a:extLst>
          </p:cNvPr>
          <p:cNvSpPr>
            <a:spLocks/>
          </p:cNvSpPr>
          <p:nvPr/>
        </p:nvSpPr>
        <p:spPr>
          <a:xfrm>
            <a:off x="386723" y="4722837"/>
            <a:ext cx="2447849" cy="3620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Rigidez</a:t>
            </a:r>
            <a:endParaRPr lang="pt-BR" sz="1300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A05473B2-D465-6E79-590A-3E06DB906EF0}"/>
              </a:ext>
            </a:extLst>
          </p:cNvPr>
          <p:cNvSpPr>
            <a:spLocks/>
          </p:cNvSpPr>
          <p:nvPr/>
        </p:nvSpPr>
        <p:spPr>
          <a:xfrm>
            <a:off x="3152340" y="4007028"/>
            <a:ext cx="8474926" cy="35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796A7C01-C760-E5D3-C5D4-66B28DE30479}"/>
              </a:ext>
            </a:extLst>
          </p:cNvPr>
          <p:cNvSpPr>
            <a:spLocks/>
          </p:cNvSpPr>
          <p:nvPr/>
        </p:nvSpPr>
        <p:spPr>
          <a:xfrm>
            <a:off x="3129260" y="4727575"/>
            <a:ext cx="8474926" cy="35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CDC53C1B-EC29-3F33-F7C7-5E96F27E4232}"/>
              </a:ext>
            </a:extLst>
          </p:cNvPr>
          <p:cNvSpPr>
            <a:spLocks/>
          </p:cNvSpPr>
          <p:nvPr/>
        </p:nvSpPr>
        <p:spPr>
          <a:xfrm>
            <a:off x="3105355" y="5469617"/>
            <a:ext cx="8540989" cy="35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E20EE3E-6081-E10F-24F1-AB9B426CA13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7" name="Conector Reto 3">
            <a:extLst>
              <a:ext uri="{FF2B5EF4-FFF2-40B4-BE49-F238E27FC236}">
                <a16:creationId xmlns:a16="http://schemas.microsoft.com/office/drawing/2014/main" id="{80068AC7-882D-04E7-478F-8FAC06557E38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9">
            <a:extLst>
              <a:ext uri="{FF2B5EF4-FFF2-40B4-BE49-F238E27FC236}">
                <a16:creationId xmlns:a16="http://schemas.microsoft.com/office/drawing/2014/main" id="{F29C5C53-8C5A-0E60-A439-F028CB44301A}"/>
              </a:ext>
            </a:extLst>
          </p:cNvPr>
          <p:cNvSpPr txBox="1">
            <a:spLocks/>
          </p:cNvSpPr>
          <p:nvPr/>
        </p:nvSpPr>
        <p:spPr>
          <a:xfrm>
            <a:off x="254000" y="625706"/>
            <a:ext cx="6175375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Designs de placas: </a:t>
            </a:r>
            <a:r>
              <a:rPr lang="pt-BR" sz="3000" dirty="0" err="1">
                <a:latin typeface="Roboto Light (Corpo)"/>
              </a:rPr>
              <a:t>Mesh</a:t>
            </a:r>
            <a:endParaRPr lang="pt-BR" sz="3000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EECDF82A-4593-3A42-6F15-87E48EFEFE1F}"/>
              </a:ext>
            </a:extLst>
          </p:cNvPr>
          <p:cNvSpPr txBox="1">
            <a:spLocks/>
          </p:cNvSpPr>
          <p:nvPr/>
        </p:nvSpPr>
        <p:spPr>
          <a:xfrm>
            <a:off x="254000" y="345938"/>
            <a:ext cx="4899025" cy="30992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1200" dirty="0">
                <a:latin typeface="Roboto Light (Corpo)"/>
              </a:rPr>
              <a:t>MODUS | MODUS 2 Terço médio da face | Implantes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564D05F-12ED-2ACA-A9BA-81DF5EAD9FA7}"/>
              </a:ext>
            </a:extLst>
          </p:cNvPr>
          <p:cNvGrpSpPr/>
          <p:nvPr/>
        </p:nvGrpSpPr>
        <p:grpSpPr>
          <a:xfrm>
            <a:off x="6312296" y="1656249"/>
            <a:ext cx="2372013" cy="1619377"/>
            <a:chOff x="5029163" y="1407729"/>
            <a:chExt cx="2727183" cy="1861851"/>
          </a:xfrm>
        </p:grpSpPr>
        <p:pic>
          <p:nvPicPr>
            <p:cNvPr id="10" name="Grafik 37">
              <a:extLst>
                <a:ext uri="{FF2B5EF4-FFF2-40B4-BE49-F238E27FC236}">
                  <a16:creationId xmlns:a16="http://schemas.microsoft.com/office/drawing/2014/main" id="{26689C6A-6EB3-E55F-761D-D1012E5F0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066635" y="2557498"/>
              <a:ext cx="689711" cy="689711"/>
            </a:xfrm>
            <a:prstGeom prst="rect">
              <a:avLst/>
            </a:prstGeom>
          </p:spPr>
        </p:pic>
        <p:pic>
          <p:nvPicPr>
            <p:cNvPr id="11" name="Grafik 48">
              <a:extLst>
                <a:ext uri="{FF2B5EF4-FFF2-40B4-BE49-F238E27FC236}">
                  <a16:creationId xmlns:a16="http://schemas.microsoft.com/office/drawing/2014/main" id="{294ECE37-E82C-2B01-AACA-D7E9C7907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29163" y="1407729"/>
              <a:ext cx="1862401" cy="1861851"/>
            </a:xfrm>
            <a:prstGeom prst="rect">
              <a:avLst/>
            </a:prstGeom>
          </p:spPr>
        </p:pic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1B0758D-04DE-FEDD-8504-0D995FDB9A73}"/>
              </a:ext>
            </a:extLst>
          </p:cNvPr>
          <p:cNvGrpSpPr/>
          <p:nvPr/>
        </p:nvGrpSpPr>
        <p:grpSpPr>
          <a:xfrm>
            <a:off x="9335649" y="1682680"/>
            <a:ext cx="2343758" cy="1633323"/>
            <a:chOff x="8308831" y="1438118"/>
            <a:chExt cx="2694697" cy="1877885"/>
          </a:xfrm>
        </p:grpSpPr>
        <p:pic>
          <p:nvPicPr>
            <p:cNvPr id="12" name="Grafik 54">
              <a:extLst>
                <a:ext uri="{FF2B5EF4-FFF2-40B4-BE49-F238E27FC236}">
                  <a16:creationId xmlns:a16="http://schemas.microsoft.com/office/drawing/2014/main" id="{E4FCB908-0E0E-7A21-F10C-99C29FF10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19950" y="2592497"/>
              <a:ext cx="683578" cy="684237"/>
            </a:xfrm>
            <a:prstGeom prst="rect">
              <a:avLst/>
            </a:prstGeom>
          </p:spPr>
        </p:pic>
        <p:pic>
          <p:nvPicPr>
            <p:cNvPr id="13" name="Grafik 61">
              <a:extLst>
                <a:ext uri="{FF2B5EF4-FFF2-40B4-BE49-F238E27FC236}">
                  <a16:creationId xmlns:a16="http://schemas.microsoft.com/office/drawing/2014/main" id="{79B6672E-4A4A-1E9B-42F5-254CAB68A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08831" y="1438118"/>
              <a:ext cx="1877306" cy="1877885"/>
            </a:xfrm>
            <a:prstGeom prst="rect">
              <a:avLst/>
            </a:prstGeom>
          </p:spPr>
        </p:pic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E725083B-8666-DA37-76DF-C83730CA9D65}"/>
              </a:ext>
            </a:extLst>
          </p:cNvPr>
          <p:cNvGrpSpPr/>
          <p:nvPr/>
        </p:nvGrpSpPr>
        <p:grpSpPr>
          <a:xfrm>
            <a:off x="3217277" y="1656249"/>
            <a:ext cx="2385123" cy="1632336"/>
            <a:chOff x="1885899" y="1407729"/>
            <a:chExt cx="2742256" cy="1876751"/>
          </a:xfrm>
        </p:grpSpPr>
        <p:pic>
          <p:nvPicPr>
            <p:cNvPr id="14" name="Grafik 62">
              <a:extLst>
                <a:ext uri="{FF2B5EF4-FFF2-40B4-BE49-F238E27FC236}">
                  <a16:creationId xmlns:a16="http://schemas.microsoft.com/office/drawing/2014/main" id="{5EB23A54-BBC6-4BAF-0901-7D674C49F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8444" y="2570651"/>
              <a:ext cx="689711" cy="689711"/>
            </a:xfrm>
            <a:prstGeom prst="rect">
              <a:avLst/>
            </a:prstGeom>
          </p:spPr>
        </p:pic>
        <p:pic>
          <p:nvPicPr>
            <p:cNvPr id="15" name="Grafik 72" descr="Ein Bild, das draußen, Zaun enthält.&#10;&#10;Automatisch generierte Beschreibung">
              <a:extLst>
                <a:ext uri="{FF2B5EF4-FFF2-40B4-BE49-F238E27FC236}">
                  <a16:creationId xmlns:a16="http://schemas.microsoft.com/office/drawing/2014/main" id="{803009A1-4A94-FBDF-0CB2-6D27DDD11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5899" y="1407729"/>
              <a:ext cx="1911488" cy="1876751"/>
            </a:xfrm>
            <a:prstGeom prst="rect">
              <a:avLst/>
            </a:prstGeom>
          </p:spPr>
        </p:pic>
      </p:grpSp>
      <p:cxnSp>
        <p:nvCxnSpPr>
          <p:cNvPr id="20" name="Straight Connector 305">
            <a:extLst>
              <a:ext uri="{FF2B5EF4-FFF2-40B4-BE49-F238E27FC236}">
                <a16:creationId xmlns:a16="http://schemas.microsoft.com/office/drawing/2014/main" id="{958D9EFC-67D8-FD05-BADD-10FC6A041773}"/>
              </a:ext>
            </a:extLst>
          </p:cNvPr>
          <p:cNvCxnSpPr>
            <a:cxnSpLocks/>
          </p:cNvCxnSpPr>
          <p:nvPr/>
        </p:nvCxnSpPr>
        <p:spPr>
          <a:xfrm>
            <a:off x="5885797" y="1546681"/>
            <a:ext cx="0" cy="45494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6D2443C-3F6F-9701-DF8F-0C1231421E7C}"/>
              </a:ext>
            </a:extLst>
          </p:cNvPr>
          <p:cNvSpPr txBox="1">
            <a:spLocks/>
          </p:cNvSpPr>
          <p:nvPr/>
        </p:nvSpPr>
        <p:spPr>
          <a:xfrm>
            <a:off x="3431296" y="4067470"/>
            <a:ext cx="251499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0,25 mm </a:t>
            </a:r>
            <a:endParaRPr lang="en-ES" sz="1200" dirty="0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CBFD488-D155-AEEA-F25F-C0736273F67F}"/>
              </a:ext>
            </a:extLst>
          </p:cNvPr>
          <p:cNvSpPr txBox="1">
            <a:spLocks/>
          </p:cNvSpPr>
          <p:nvPr/>
        </p:nvSpPr>
        <p:spPr>
          <a:xfrm>
            <a:off x="3431296" y="4434570"/>
            <a:ext cx="2514998" cy="237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4 mm</a:t>
            </a:r>
            <a:endParaRPr lang="en-ES" sz="1200" dirty="0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50968973-F20E-57B7-FF57-2735C55A5EA7}"/>
              </a:ext>
            </a:extLst>
          </p:cNvPr>
          <p:cNvSpPr txBox="1">
            <a:spLocks/>
          </p:cNvSpPr>
          <p:nvPr/>
        </p:nvSpPr>
        <p:spPr>
          <a:xfrm>
            <a:off x="3431296" y="4806400"/>
            <a:ext cx="251499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 err="1"/>
              <a:t>Semi-rígida</a:t>
            </a:r>
            <a:endParaRPr lang="en-ES" sz="1200" dirty="0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E8ADCC89-EBBC-E7CE-64FC-BC4974682802}"/>
              </a:ext>
            </a:extLst>
          </p:cNvPr>
          <p:cNvSpPr txBox="1">
            <a:spLocks/>
          </p:cNvSpPr>
          <p:nvPr/>
        </p:nvSpPr>
        <p:spPr>
          <a:xfrm>
            <a:off x="3431296" y="5159553"/>
            <a:ext cx="2514998" cy="237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Sim</a:t>
            </a:r>
            <a:endParaRPr lang="en-ES" sz="1200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A6E55BAD-C0F6-F163-509D-2CC5C8154DB2}"/>
              </a:ext>
            </a:extLst>
          </p:cNvPr>
          <p:cNvSpPr txBox="1">
            <a:spLocks/>
          </p:cNvSpPr>
          <p:nvPr/>
        </p:nvSpPr>
        <p:spPr>
          <a:xfrm>
            <a:off x="3431296" y="5531383"/>
            <a:ext cx="251499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Sim</a:t>
            </a:r>
            <a:endParaRPr lang="en-ES" sz="1200" dirty="0"/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CDD83E33-F100-B7E8-9EF9-46FCBBF7665F}"/>
              </a:ext>
            </a:extLst>
          </p:cNvPr>
          <p:cNvSpPr txBox="1">
            <a:spLocks/>
          </p:cNvSpPr>
          <p:nvPr/>
        </p:nvSpPr>
        <p:spPr>
          <a:xfrm>
            <a:off x="3431296" y="5858957"/>
            <a:ext cx="251499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ES" sz="1200" dirty="0"/>
              <a:t>1,2 / 1,5 / 1,8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A1A71FA5-C6B5-143E-5E29-7D7697534B93}"/>
              </a:ext>
            </a:extLst>
          </p:cNvPr>
          <p:cNvSpPr txBox="1">
            <a:spLocks/>
          </p:cNvSpPr>
          <p:nvPr/>
        </p:nvSpPr>
        <p:spPr>
          <a:xfrm>
            <a:off x="6402447" y="4060095"/>
            <a:ext cx="201165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0,4 mm </a:t>
            </a:r>
            <a:endParaRPr lang="en-ES" sz="1200" dirty="0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F32AEE64-77F1-A90D-0861-A3A90127A50C}"/>
              </a:ext>
            </a:extLst>
          </p:cNvPr>
          <p:cNvSpPr txBox="1">
            <a:spLocks/>
          </p:cNvSpPr>
          <p:nvPr/>
        </p:nvSpPr>
        <p:spPr>
          <a:xfrm>
            <a:off x="6402447" y="4427195"/>
            <a:ext cx="2011658" cy="237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4 mm</a:t>
            </a:r>
            <a:endParaRPr lang="en-ES" sz="1200" dirty="0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20DF6CC5-25A2-7ED0-0AB3-E9373755DCBB}"/>
              </a:ext>
            </a:extLst>
          </p:cNvPr>
          <p:cNvSpPr txBox="1">
            <a:spLocks/>
          </p:cNvSpPr>
          <p:nvPr/>
        </p:nvSpPr>
        <p:spPr>
          <a:xfrm>
            <a:off x="6402447" y="4799025"/>
            <a:ext cx="1619854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 err="1"/>
              <a:t>Semi-rígida</a:t>
            </a:r>
            <a:endParaRPr lang="en-ES" sz="1200" dirty="0"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8B1CADE-3026-0FD5-9CC8-9E9813F6B5A9}"/>
              </a:ext>
            </a:extLst>
          </p:cNvPr>
          <p:cNvSpPr txBox="1">
            <a:spLocks/>
          </p:cNvSpPr>
          <p:nvPr/>
        </p:nvSpPr>
        <p:spPr>
          <a:xfrm>
            <a:off x="6402447" y="5152178"/>
            <a:ext cx="1885199" cy="237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Sim</a:t>
            </a:r>
            <a:endParaRPr lang="en-ES" sz="1200" dirty="0"/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DAF4925B-17DA-8056-1530-DD92D8A1B742}"/>
              </a:ext>
            </a:extLst>
          </p:cNvPr>
          <p:cNvSpPr txBox="1">
            <a:spLocks/>
          </p:cNvSpPr>
          <p:nvPr/>
        </p:nvSpPr>
        <p:spPr>
          <a:xfrm>
            <a:off x="6402447" y="5524008"/>
            <a:ext cx="201165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Sim</a:t>
            </a:r>
            <a:endParaRPr lang="en-ES" sz="1200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55BC32E-A65E-4F5F-612D-A3521766B39C}"/>
              </a:ext>
            </a:extLst>
          </p:cNvPr>
          <p:cNvSpPr txBox="1">
            <a:spLocks/>
          </p:cNvSpPr>
          <p:nvPr/>
        </p:nvSpPr>
        <p:spPr>
          <a:xfrm>
            <a:off x="6402447" y="5851582"/>
            <a:ext cx="2108935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ES" sz="1200" dirty="0"/>
              <a:t>1,2 / 1,5 / 1,8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358D1A3F-7166-D6DF-6AE2-4C5A29D48F21}"/>
              </a:ext>
            </a:extLst>
          </p:cNvPr>
          <p:cNvSpPr txBox="1">
            <a:spLocks/>
          </p:cNvSpPr>
          <p:nvPr/>
        </p:nvSpPr>
        <p:spPr>
          <a:xfrm>
            <a:off x="9444139" y="4060095"/>
            <a:ext cx="201165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0,6 mm </a:t>
            </a:r>
            <a:endParaRPr lang="en-ES" sz="1200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B0250532-5ED2-A9DD-F4B8-0DC8BF6FF037}"/>
              </a:ext>
            </a:extLst>
          </p:cNvPr>
          <p:cNvSpPr txBox="1">
            <a:spLocks/>
          </p:cNvSpPr>
          <p:nvPr/>
        </p:nvSpPr>
        <p:spPr>
          <a:xfrm>
            <a:off x="9444139" y="4427195"/>
            <a:ext cx="2011658" cy="237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5 mm</a:t>
            </a:r>
            <a:endParaRPr lang="en-ES" sz="1200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043884D-4BF7-2649-8364-C54AD926A25C}"/>
              </a:ext>
            </a:extLst>
          </p:cNvPr>
          <p:cNvSpPr txBox="1">
            <a:spLocks/>
          </p:cNvSpPr>
          <p:nvPr/>
        </p:nvSpPr>
        <p:spPr>
          <a:xfrm>
            <a:off x="9444139" y="4799025"/>
            <a:ext cx="1619854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 err="1"/>
              <a:t>Semi-rígida</a:t>
            </a:r>
            <a:endParaRPr lang="en-ES" sz="1200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38C5BB33-9D2C-B3A9-5A96-9ECDB74BDEE3}"/>
              </a:ext>
            </a:extLst>
          </p:cNvPr>
          <p:cNvSpPr txBox="1">
            <a:spLocks/>
          </p:cNvSpPr>
          <p:nvPr/>
        </p:nvSpPr>
        <p:spPr>
          <a:xfrm>
            <a:off x="9444139" y="5152178"/>
            <a:ext cx="1885199" cy="237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Sim</a:t>
            </a:r>
            <a:endParaRPr lang="en-ES" sz="1200" dirty="0"/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75509871-4D49-EAAF-E204-7414D02E5A23}"/>
              </a:ext>
            </a:extLst>
          </p:cNvPr>
          <p:cNvSpPr txBox="1">
            <a:spLocks/>
          </p:cNvSpPr>
          <p:nvPr/>
        </p:nvSpPr>
        <p:spPr>
          <a:xfrm>
            <a:off x="9444139" y="5524008"/>
            <a:ext cx="2011658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dirty="0"/>
              <a:t>Sim</a:t>
            </a:r>
            <a:endParaRPr lang="en-ES" sz="1200" dirty="0"/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2AB02763-82AB-D5AF-5F2E-FFDD6E1CD1BB}"/>
              </a:ext>
            </a:extLst>
          </p:cNvPr>
          <p:cNvSpPr txBox="1">
            <a:spLocks/>
          </p:cNvSpPr>
          <p:nvPr/>
        </p:nvSpPr>
        <p:spPr>
          <a:xfrm>
            <a:off x="9444139" y="5851582"/>
            <a:ext cx="2108935" cy="237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ES" sz="1200" dirty="0"/>
              <a:t>1,2 / 1,5 / 1,8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5AFB2F-243C-CB92-4DAE-E6426FB3FA2D}"/>
              </a:ext>
            </a:extLst>
          </p:cNvPr>
          <p:cNvSpPr/>
          <p:nvPr/>
        </p:nvSpPr>
        <p:spPr>
          <a:xfrm>
            <a:off x="3106907" y="3552391"/>
            <a:ext cx="2514998" cy="35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    Titânio (ASTM F67) </a:t>
            </a:r>
          </a:p>
        </p:txBody>
      </p:sp>
      <p:cxnSp>
        <p:nvCxnSpPr>
          <p:cNvPr id="91" name="Straight Connector 305">
            <a:extLst>
              <a:ext uri="{FF2B5EF4-FFF2-40B4-BE49-F238E27FC236}">
                <a16:creationId xmlns:a16="http://schemas.microsoft.com/office/drawing/2014/main" id="{94EEC8BA-122B-09EE-CFB8-55A93F9AD856}"/>
              </a:ext>
            </a:extLst>
          </p:cNvPr>
          <p:cNvCxnSpPr>
            <a:cxnSpLocks/>
          </p:cNvCxnSpPr>
          <p:nvPr/>
        </p:nvCxnSpPr>
        <p:spPr>
          <a:xfrm>
            <a:off x="8928579" y="1543532"/>
            <a:ext cx="0" cy="45494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tângulo 91">
            <a:extLst>
              <a:ext uri="{FF2B5EF4-FFF2-40B4-BE49-F238E27FC236}">
                <a16:creationId xmlns:a16="http://schemas.microsoft.com/office/drawing/2014/main" id="{0B74BE4F-49C5-B70C-4129-6BACCC03C55E}"/>
              </a:ext>
            </a:extLst>
          </p:cNvPr>
          <p:cNvSpPr/>
          <p:nvPr/>
        </p:nvSpPr>
        <p:spPr>
          <a:xfrm>
            <a:off x="6149689" y="3552391"/>
            <a:ext cx="2514998" cy="35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    Titânio (ASTM F67) </a:t>
            </a:r>
          </a:p>
        </p:txBody>
      </p:sp>
      <p:sp>
        <p:nvSpPr>
          <p:cNvPr id="93" name="Retângulo 92">
            <a:extLst>
              <a:ext uri="{FF2B5EF4-FFF2-40B4-BE49-F238E27FC236}">
                <a16:creationId xmlns:a16="http://schemas.microsoft.com/office/drawing/2014/main" id="{A3C3769B-1620-6795-48B3-A781B47216C6}"/>
              </a:ext>
            </a:extLst>
          </p:cNvPr>
          <p:cNvSpPr/>
          <p:nvPr/>
        </p:nvSpPr>
        <p:spPr>
          <a:xfrm>
            <a:off x="9192469" y="3552391"/>
            <a:ext cx="2514998" cy="35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    Titânio (ASTM F67) 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17ABCA48-78AF-71FC-8BC0-E1B01436C3B9}"/>
              </a:ext>
            </a:extLst>
          </p:cNvPr>
          <p:cNvSpPr>
            <a:spLocks/>
          </p:cNvSpPr>
          <p:nvPr/>
        </p:nvSpPr>
        <p:spPr>
          <a:xfrm>
            <a:off x="386723" y="5084935"/>
            <a:ext cx="2447850" cy="3573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Dobrável</a:t>
            </a:r>
            <a:endParaRPr lang="pt-BR" sz="1300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6" name="Retângulo 95">
            <a:extLst>
              <a:ext uri="{FF2B5EF4-FFF2-40B4-BE49-F238E27FC236}">
                <a16:creationId xmlns:a16="http://schemas.microsoft.com/office/drawing/2014/main" id="{1554E1F2-66E5-5A96-9CBC-1931B8D23D1F}"/>
              </a:ext>
            </a:extLst>
          </p:cNvPr>
          <p:cNvSpPr>
            <a:spLocks/>
          </p:cNvSpPr>
          <p:nvPr/>
        </p:nvSpPr>
        <p:spPr>
          <a:xfrm>
            <a:off x="395167" y="5442295"/>
            <a:ext cx="2439404" cy="3846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Cortável</a:t>
            </a:r>
            <a:endParaRPr lang="pt-BR" sz="1300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73AF4DA7-CB96-C305-2BDC-A8104ACEC704}"/>
              </a:ext>
            </a:extLst>
          </p:cNvPr>
          <p:cNvSpPr>
            <a:spLocks/>
          </p:cNvSpPr>
          <p:nvPr/>
        </p:nvSpPr>
        <p:spPr>
          <a:xfrm>
            <a:off x="386722" y="5826977"/>
            <a:ext cx="2447850" cy="3573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Diâmetros dos parafusos</a:t>
            </a:r>
            <a:endParaRPr lang="pt-BR" sz="1300" dirty="0">
              <a:solidFill>
                <a:srgbClr val="000000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2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Table 13">
            <a:extLst>
              <a:ext uri="{FF2B5EF4-FFF2-40B4-BE49-F238E27FC236}">
                <a16:creationId xmlns:a16="http://schemas.microsoft.com/office/drawing/2014/main" id="{31CD1CBA-671D-632A-189E-94B3A329C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870057"/>
              </p:ext>
            </p:extLst>
          </p:nvPr>
        </p:nvGraphicFramePr>
        <p:xfrm>
          <a:off x="7718789" y="4969075"/>
          <a:ext cx="3924617" cy="538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9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133748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828039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53887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SpeedTip HD4 </a:t>
                      </a:r>
                    </a:p>
                    <a:p>
                      <a:r>
                        <a:rPr lang="nl-NL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Ø 1,5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4, 5, 6, 7, 8, 9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52" name="Table 13">
            <a:extLst>
              <a:ext uri="{FF2B5EF4-FFF2-40B4-BE49-F238E27FC236}">
                <a16:creationId xmlns:a16="http://schemas.microsoft.com/office/drawing/2014/main" id="{F8CC9074-1048-9262-6AA2-F907A690E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4271"/>
              </p:ext>
            </p:extLst>
          </p:nvPr>
        </p:nvGraphicFramePr>
        <p:xfrm>
          <a:off x="7718789" y="4354910"/>
          <a:ext cx="3924617" cy="538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9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133748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828039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53887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HD4 Padrão </a:t>
                      </a:r>
                    </a:p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Ø 1,5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3, 4, 5, 6, 7, 8, 9, 11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1E2DA767-9D7A-26A8-5EDE-ADFF64326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228738"/>
              </p:ext>
            </p:extLst>
          </p:nvPr>
        </p:nvGraphicFramePr>
        <p:xfrm>
          <a:off x="7718789" y="3740746"/>
          <a:ext cx="3924617" cy="538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9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133748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828039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53887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HD4 Padrão </a:t>
                      </a:r>
                    </a:p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Ø 1,2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3, 4, 5, 6, 7, 8, 9, 11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489CA617-A834-3689-B497-FB54D0747D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24AC3E7E-B5C9-2A05-5918-F582139BC0B6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1C569771-D839-D390-EAD9-135142D3C0FD}"/>
              </a:ext>
            </a:extLst>
          </p:cNvPr>
          <p:cNvSpPr txBox="1">
            <a:spLocks/>
          </p:cNvSpPr>
          <p:nvPr/>
        </p:nvSpPr>
        <p:spPr>
          <a:xfrm>
            <a:off x="254000" y="612068"/>
            <a:ext cx="6175375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 sistema </a:t>
            </a:r>
            <a:r>
              <a:rPr lang="pt-BR" sz="3000" dirty="0">
                <a:latin typeface="Roboto Light" panose="02000000000000000000" pitchFamily="2" charset="0"/>
                <a:ea typeface="Roboto Light" panose="02000000000000000000" pitchFamily="2" charset="0"/>
              </a:rPr>
              <a:t>Midface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E63EB358-E775-7327-B953-3D9DDD083164}"/>
              </a:ext>
            </a:extLst>
          </p:cNvPr>
          <p:cNvGrpSpPr/>
          <p:nvPr/>
        </p:nvGrpSpPr>
        <p:grpSpPr>
          <a:xfrm>
            <a:off x="7434605" y="3739051"/>
            <a:ext cx="812364" cy="545712"/>
            <a:chOff x="7434605" y="3739051"/>
            <a:chExt cx="812364" cy="545712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9DFAEB27-ED87-32A7-2649-DE611AB76452}"/>
                </a:ext>
              </a:extLst>
            </p:cNvPr>
            <p:cNvSpPr/>
            <p:nvPr/>
          </p:nvSpPr>
          <p:spPr>
            <a:xfrm>
              <a:off x="7567931" y="3739051"/>
              <a:ext cx="545712" cy="54571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3" name="Grafik 51">
              <a:extLst>
                <a:ext uri="{FF2B5EF4-FFF2-40B4-BE49-F238E27FC236}">
                  <a16:creationId xmlns:a16="http://schemas.microsoft.com/office/drawing/2014/main" id="{07ADB25A-BDD3-7593-0A77-B88D89753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34605" y="3918678"/>
              <a:ext cx="812364" cy="197146"/>
            </a:xfrm>
            <a:prstGeom prst="rect">
              <a:avLst/>
            </a:prstGeom>
          </p:spPr>
        </p:pic>
      </p:grpSp>
      <p:sp>
        <p:nvSpPr>
          <p:cNvPr id="20" name="Retângulo 19">
            <a:extLst>
              <a:ext uri="{FF2B5EF4-FFF2-40B4-BE49-F238E27FC236}">
                <a16:creationId xmlns:a16="http://schemas.microsoft.com/office/drawing/2014/main" id="{01490FD2-A72E-8627-86FD-79BA8D8EFDA9}"/>
              </a:ext>
            </a:extLst>
          </p:cNvPr>
          <p:cNvSpPr/>
          <p:nvPr/>
        </p:nvSpPr>
        <p:spPr>
          <a:xfrm>
            <a:off x="249600" y="132242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 = 0,5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D7F2FD-C800-E4B7-BD63-107ECD17EA95}"/>
              </a:ext>
            </a:extLst>
          </p:cNvPr>
          <p:cNvSpPr/>
          <p:nvPr/>
        </p:nvSpPr>
        <p:spPr>
          <a:xfrm>
            <a:off x="249600" y="1322430"/>
            <a:ext cx="2007825" cy="492821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afik 11">
            <a:extLst>
              <a:ext uri="{FF2B5EF4-FFF2-40B4-BE49-F238E27FC236}">
                <a16:creationId xmlns:a16="http://schemas.microsoft.com/office/drawing/2014/main" id="{F67A8B14-8B5B-FABA-0A20-B57C2A5493B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975" y="1843075"/>
            <a:ext cx="1575969" cy="4322658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F25C6926-F88A-B80B-0245-85C068902E6F}"/>
              </a:ext>
            </a:extLst>
          </p:cNvPr>
          <p:cNvSpPr/>
          <p:nvPr/>
        </p:nvSpPr>
        <p:spPr>
          <a:xfrm>
            <a:off x="2349900" y="132531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 = 0,6 / 0,7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D51AE73-BA8D-68F5-7F17-09E31B70FCA2}"/>
              </a:ext>
            </a:extLst>
          </p:cNvPr>
          <p:cNvSpPr/>
          <p:nvPr/>
        </p:nvSpPr>
        <p:spPr>
          <a:xfrm>
            <a:off x="2349900" y="1325316"/>
            <a:ext cx="2007825" cy="492821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4E4483A-0634-115A-9325-C06885CB288A}"/>
              </a:ext>
            </a:extLst>
          </p:cNvPr>
          <p:cNvSpPr/>
          <p:nvPr/>
        </p:nvSpPr>
        <p:spPr>
          <a:xfrm>
            <a:off x="4463033" y="132531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 = 1,0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80BA5E6-C5ED-FA9F-DA0F-5E35C39B9A7C}"/>
              </a:ext>
            </a:extLst>
          </p:cNvPr>
          <p:cNvSpPr/>
          <p:nvPr/>
        </p:nvSpPr>
        <p:spPr>
          <a:xfrm>
            <a:off x="4463033" y="1325316"/>
            <a:ext cx="2007825" cy="492821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Grafik 13">
            <a:extLst>
              <a:ext uri="{FF2B5EF4-FFF2-40B4-BE49-F238E27FC236}">
                <a16:creationId xmlns:a16="http://schemas.microsoft.com/office/drawing/2014/main" id="{5717C1AB-1EAF-1361-2526-CDCB78152E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6934" y="1865151"/>
            <a:ext cx="1714337" cy="4165731"/>
          </a:xfrm>
          <a:prstGeom prst="rect">
            <a:avLst/>
          </a:prstGeom>
        </p:spPr>
      </p:pic>
      <p:pic>
        <p:nvPicPr>
          <p:cNvPr id="31" name="Grafik 15">
            <a:extLst>
              <a:ext uri="{FF2B5EF4-FFF2-40B4-BE49-F238E27FC236}">
                <a16:creationId xmlns:a16="http://schemas.microsoft.com/office/drawing/2014/main" id="{D0C37DC0-3D51-FB98-361E-9B9A27C234D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1136" y="1873859"/>
            <a:ext cx="1766454" cy="4333243"/>
          </a:xfrm>
          <a:prstGeom prst="rect">
            <a:avLst/>
          </a:prstGeom>
        </p:spPr>
      </p:pic>
      <p:sp>
        <p:nvSpPr>
          <p:cNvPr id="41" name="Rechteck 37">
            <a:extLst>
              <a:ext uri="{FF2B5EF4-FFF2-40B4-BE49-F238E27FC236}">
                <a16:creationId xmlns:a16="http://schemas.microsoft.com/office/drawing/2014/main" id="{13587FBA-6FBB-BEC5-5B1B-7448CF528979}"/>
              </a:ext>
            </a:extLst>
          </p:cNvPr>
          <p:cNvSpPr/>
          <p:nvPr/>
        </p:nvSpPr>
        <p:spPr bwMode="auto">
          <a:xfrm>
            <a:off x="7654663" y="6372761"/>
            <a:ext cx="326847" cy="45652"/>
          </a:xfrm>
          <a:prstGeom prst="rect">
            <a:avLst/>
          </a:prstGeom>
          <a:solidFill>
            <a:srgbClr val="D3003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08" tIns="22855" rIns="45708" bIns="22855" numCol="1" rtlCol="0" anchor="t" anchorCtr="0" compatLnSpc="1">
            <a:prstTxWarp prst="textNoShape">
              <a:avLst/>
            </a:prstTxWarp>
          </a:bodyPr>
          <a:lstStyle/>
          <a:p>
            <a:pPr defTabSz="457075" fontAlgn="base">
              <a:spcBef>
                <a:spcPct val="0"/>
              </a:spcBef>
              <a:spcAft>
                <a:spcPct val="0"/>
              </a:spcAft>
            </a:pPr>
            <a:endParaRPr lang="de-CH" sz="1200">
              <a:latin typeface="Arial" pitchFamily="34" charset="0"/>
            </a:endParaRPr>
          </a:p>
        </p:txBody>
      </p:sp>
      <p:sp>
        <p:nvSpPr>
          <p:cNvPr id="42" name="Textfeld 38">
            <a:extLst>
              <a:ext uri="{FF2B5EF4-FFF2-40B4-BE49-F238E27FC236}">
                <a16:creationId xmlns:a16="http://schemas.microsoft.com/office/drawing/2014/main" id="{FA28D820-6242-C9F5-72EF-4FB973542E45}"/>
              </a:ext>
            </a:extLst>
          </p:cNvPr>
          <p:cNvSpPr txBox="1"/>
          <p:nvPr/>
        </p:nvSpPr>
        <p:spPr>
          <a:xfrm>
            <a:off x="7929793" y="6271840"/>
            <a:ext cx="10982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Arial" pitchFamily="34" charset="0"/>
              </a:rPr>
              <a:t>Vermelho 1,2</a:t>
            </a:r>
          </a:p>
        </p:txBody>
      </p:sp>
      <p:sp>
        <p:nvSpPr>
          <p:cNvPr id="39" name="Rechteck 39">
            <a:extLst>
              <a:ext uri="{FF2B5EF4-FFF2-40B4-BE49-F238E27FC236}">
                <a16:creationId xmlns:a16="http://schemas.microsoft.com/office/drawing/2014/main" id="{3D41423B-1185-67E0-6F0B-D271601252E2}"/>
              </a:ext>
            </a:extLst>
          </p:cNvPr>
          <p:cNvSpPr/>
          <p:nvPr/>
        </p:nvSpPr>
        <p:spPr bwMode="auto">
          <a:xfrm>
            <a:off x="9087412" y="6371056"/>
            <a:ext cx="334704" cy="47357"/>
          </a:xfrm>
          <a:prstGeom prst="rect">
            <a:avLst/>
          </a:prstGeom>
          <a:solidFill>
            <a:srgbClr val="3FA132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08" tIns="22855" rIns="45708" bIns="22855" numCol="1" rtlCol="0" anchor="t" anchorCtr="0" compatLnSpc="1">
            <a:prstTxWarp prst="textNoShape">
              <a:avLst/>
            </a:prstTxWarp>
          </a:bodyPr>
          <a:lstStyle/>
          <a:p>
            <a:pPr defTabSz="457075" fontAlgn="base">
              <a:spcBef>
                <a:spcPct val="0"/>
              </a:spcBef>
              <a:spcAft>
                <a:spcPct val="0"/>
              </a:spcAft>
            </a:pPr>
            <a:endParaRPr lang="de-CH" sz="1200">
              <a:latin typeface="Arial" pitchFamily="34" charset="0"/>
            </a:endParaRP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1A199ADB-D424-E24D-BBF5-E054427F9D4C}"/>
              </a:ext>
            </a:extLst>
          </p:cNvPr>
          <p:cNvGrpSpPr/>
          <p:nvPr/>
        </p:nvGrpSpPr>
        <p:grpSpPr>
          <a:xfrm>
            <a:off x="10278169" y="6265248"/>
            <a:ext cx="1477242" cy="246221"/>
            <a:chOff x="10278169" y="6265248"/>
            <a:chExt cx="1477242" cy="246221"/>
          </a:xfrm>
        </p:grpSpPr>
        <p:sp>
          <p:nvSpPr>
            <p:cNvPr id="37" name="Rechteck 41">
              <a:extLst>
                <a:ext uri="{FF2B5EF4-FFF2-40B4-BE49-F238E27FC236}">
                  <a16:creationId xmlns:a16="http://schemas.microsoft.com/office/drawing/2014/main" id="{49E284A1-08EF-E83E-FC39-261D6020A584}"/>
                </a:ext>
              </a:extLst>
            </p:cNvPr>
            <p:cNvSpPr/>
            <p:nvPr/>
          </p:nvSpPr>
          <p:spPr bwMode="auto">
            <a:xfrm>
              <a:off x="10278169" y="6374083"/>
              <a:ext cx="342312" cy="45719"/>
            </a:xfrm>
            <a:prstGeom prst="rect">
              <a:avLst/>
            </a:prstGeom>
            <a:solidFill>
              <a:srgbClr val="FFEF00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/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1200">
                <a:latin typeface="Arial" pitchFamily="34" charset="0"/>
              </a:endParaRPr>
            </a:p>
          </p:txBody>
        </p:sp>
        <p:sp>
          <p:nvSpPr>
            <p:cNvPr id="38" name="Textfeld 42">
              <a:extLst>
                <a:ext uri="{FF2B5EF4-FFF2-40B4-BE49-F238E27FC236}">
                  <a16:creationId xmlns:a16="http://schemas.microsoft.com/office/drawing/2014/main" id="{D345DDFD-A599-BF75-EE87-85BB4A7E6806}"/>
                </a:ext>
              </a:extLst>
            </p:cNvPr>
            <p:cNvSpPr txBox="1"/>
            <p:nvPr/>
          </p:nvSpPr>
          <p:spPr>
            <a:xfrm>
              <a:off x="10580723" y="6265248"/>
              <a:ext cx="11746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latin typeface="Arial" pitchFamily="34" charset="0"/>
                </a:rPr>
                <a:t>Amarelo 1,8</a:t>
              </a:r>
            </a:p>
          </p:txBody>
        </p:sp>
      </p:grpSp>
      <p:grpSp>
        <p:nvGrpSpPr>
          <p:cNvPr id="56" name="Gruppieren 36">
            <a:extLst>
              <a:ext uri="{FF2B5EF4-FFF2-40B4-BE49-F238E27FC236}">
                <a16:creationId xmlns:a16="http://schemas.microsoft.com/office/drawing/2014/main" id="{671E95F6-BF19-A911-0DD9-092872268AD9}"/>
              </a:ext>
            </a:extLst>
          </p:cNvPr>
          <p:cNvGrpSpPr/>
          <p:nvPr/>
        </p:nvGrpSpPr>
        <p:grpSpPr>
          <a:xfrm>
            <a:off x="8246969" y="2448886"/>
            <a:ext cx="2731435" cy="877020"/>
            <a:chOff x="2314801" y="3757253"/>
            <a:chExt cx="17792025" cy="4914900"/>
          </a:xfrm>
        </p:grpSpPr>
        <p:pic>
          <p:nvPicPr>
            <p:cNvPr id="57" name="Grafik 43" descr="Ein Bild, das Metallwaren, Kette enthält.&#10;&#10;Automatisch generierte Beschreibung">
              <a:extLst>
                <a:ext uri="{FF2B5EF4-FFF2-40B4-BE49-F238E27FC236}">
                  <a16:creationId xmlns:a16="http://schemas.microsoft.com/office/drawing/2014/main" id="{D706F91A-7B11-32B7-4C4E-417984A81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14801" y="3757253"/>
              <a:ext cx="3979926" cy="4407408"/>
            </a:xfrm>
            <a:prstGeom prst="rect">
              <a:avLst/>
            </a:prstGeom>
          </p:spPr>
        </p:pic>
        <p:pic>
          <p:nvPicPr>
            <p:cNvPr id="58" name="Grafik 47" descr="Ein Bild, das Metallwaren, Kette enthält.&#10;&#10;Automatisch generierte Beschreibung">
              <a:extLst>
                <a:ext uri="{FF2B5EF4-FFF2-40B4-BE49-F238E27FC236}">
                  <a16:creationId xmlns:a16="http://schemas.microsoft.com/office/drawing/2014/main" id="{5EA78343-3927-B919-481F-B113B971C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85180" y="3757253"/>
              <a:ext cx="4450842" cy="4914900"/>
            </a:xfrm>
            <a:prstGeom prst="rect">
              <a:avLst/>
            </a:prstGeom>
          </p:spPr>
        </p:pic>
        <p:pic>
          <p:nvPicPr>
            <p:cNvPr id="59" name="Grafik 52" descr="Ein Bild, das Metallwaren enthält.&#10;&#10;Automatisch generierte Beschreibung">
              <a:extLst>
                <a:ext uri="{FF2B5EF4-FFF2-40B4-BE49-F238E27FC236}">
                  <a16:creationId xmlns:a16="http://schemas.microsoft.com/office/drawing/2014/main" id="{8E2DBB30-8F50-CAAC-9C82-F8ECB1E2F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26475" y="3757253"/>
              <a:ext cx="4062222" cy="4400550"/>
            </a:xfrm>
            <a:prstGeom prst="rect">
              <a:avLst/>
            </a:prstGeom>
          </p:spPr>
        </p:pic>
        <p:pic>
          <p:nvPicPr>
            <p:cNvPr id="60" name="Grafik 53" descr="Ein Bild, das Metallwaren enthält.&#10;&#10;Automatisch generierte Beschreibung">
              <a:extLst>
                <a:ext uri="{FF2B5EF4-FFF2-40B4-BE49-F238E27FC236}">
                  <a16:creationId xmlns:a16="http://schemas.microsoft.com/office/drawing/2014/main" id="{970581C0-E153-D873-8D19-8E331576B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345850" y="3758777"/>
              <a:ext cx="4760976" cy="4913376"/>
            </a:xfrm>
            <a:prstGeom prst="rect">
              <a:avLst/>
            </a:prstGeom>
          </p:spPr>
        </p:pic>
      </p:grpSp>
      <p:grpSp>
        <p:nvGrpSpPr>
          <p:cNvPr id="61" name="Gruppieren 54">
            <a:extLst>
              <a:ext uri="{FF2B5EF4-FFF2-40B4-BE49-F238E27FC236}">
                <a16:creationId xmlns:a16="http://schemas.microsoft.com/office/drawing/2014/main" id="{5E3ECD22-6F34-FC8B-469D-B601FB5FAEDD}"/>
              </a:ext>
            </a:extLst>
          </p:cNvPr>
          <p:cNvGrpSpPr/>
          <p:nvPr/>
        </p:nvGrpSpPr>
        <p:grpSpPr>
          <a:xfrm>
            <a:off x="8037875" y="1139787"/>
            <a:ext cx="3009123" cy="1236444"/>
            <a:chOff x="2314800" y="4644665"/>
            <a:chExt cx="18422192" cy="7278097"/>
          </a:xfrm>
          <a:noFill/>
        </p:grpSpPr>
        <p:pic>
          <p:nvPicPr>
            <p:cNvPr id="62" name="Grafik 55">
              <a:extLst>
                <a:ext uri="{FF2B5EF4-FFF2-40B4-BE49-F238E27FC236}">
                  <a16:creationId xmlns:a16="http://schemas.microsoft.com/office/drawing/2014/main" id="{4ADDD795-CAC2-4643-B967-B654EE729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28682" y="4745354"/>
              <a:ext cx="2255015" cy="2255015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63" name="Grafik 56" descr="Ein Bild, das draußen, Zaun enthält.&#10;&#10;Automatisch generierte Beschreibung">
              <a:extLst>
                <a:ext uri="{FF2B5EF4-FFF2-40B4-BE49-F238E27FC236}">
                  <a16:creationId xmlns:a16="http://schemas.microsoft.com/office/drawing/2014/main" id="{D9616F7C-0B47-BBD1-C43B-0856B3C30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14800" y="7253458"/>
              <a:ext cx="4671378" cy="4669304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64" name="Grafik 57">
              <a:extLst>
                <a:ext uri="{FF2B5EF4-FFF2-40B4-BE49-F238E27FC236}">
                  <a16:creationId xmlns:a16="http://schemas.microsoft.com/office/drawing/2014/main" id="{27BF60B7-4F87-84B0-C6F9-76DDAACEA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604435" y="4644665"/>
              <a:ext cx="2255015" cy="2255015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65" name="Grafik 67">
              <a:extLst>
                <a:ext uri="{FF2B5EF4-FFF2-40B4-BE49-F238E27FC236}">
                  <a16:creationId xmlns:a16="http://schemas.microsoft.com/office/drawing/2014/main" id="{33E700A2-3685-800C-7758-9F76B8193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90899" y="7152769"/>
              <a:ext cx="4670686" cy="4669304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66" name="Grafik 68">
              <a:extLst>
                <a:ext uri="{FF2B5EF4-FFF2-40B4-BE49-F238E27FC236}">
                  <a16:creationId xmlns:a16="http://schemas.microsoft.com/office/drawing/2014/main" id="{A3726326-16DF-0D4A-076D-108B507BC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485564" y="4646080"/>
              <a:ext cx="2251428" cy="2253600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67" name="Grafik 69">
              <a:extLst>
                <a:ext uri="{FF2B5EF4-FFF2-40B4-BE49-F238E27FC236}">
                  <a16:creationId xmlns:a16="http://schemas.microsoft.com/office/drawing/2014/main" id="{C7BB2D13-ED57-73F3-6EB0-D6DF5B8DD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066306" y="7153172"/>
              <a:ext cx="4670686" cy="4672128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68" name="Title 9">
            <a:extLst>
              <a:ext uri="{FF2B5EF4-FFF2-40B4-BE49-F238E27FC236}">
                <a16:creationId xmlns:a16="http://schemas.microsoft.com/office/drawing/2014/main" id="{FCD1FE88-1B25-37D9-5CCA-04AA7F33464D}"/>
              </a:ext>
            </a:extLst>
          </p:cNvPr>
          <p:cNvSpPr txBox="1">
            <a:spLocks/>
          </p:cNvSpPr>
          <p:nvPr/>
        </p:nvSpPr>
        <p:spPr>
          <a:xfrm>
            <a:off x="7117241" y="804872"/>
            <a:ext cx="4899025" cy="30992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>
                <a:latin typeface="Roboto Light (Corpo)"/>
              </a:rPr>
              <a:t>Malha e Placas do Assoalho Orbital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D3BCE6-FBB0-88BA-AD45-B52F0A7EA8D3}"/>
              </a:ext>
            </a:extLst>
          </p:cNvPr>
          <p:cNvSpPr txBox="1"/>
          <p:nvPr/>
        </p:nvSpPr>
        <p:spPr>
          <a:xfrm>
            <a:off x="7384385" y="3396059"/>
            <a:ext cx="1231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Parafusos</a:t>
            </a:r>
            <a:endParaRPr lang="en-ES" sz="1200" b="0" i="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27F36843-7861-A5D0-F643-633CF2C959C4}"/>
              </a:ext>
            </a:extLst>
          </p:cNvPr>
          <p:cNvGrpSpPr/>
          <p:nvPr/>
        </p:nvGrpSpPr>
        <p:grpSpPr>
          <a:xfrm>
            <a:off x="7434605" y="4360000"/>
            <a:ext cx="812364" cy="545712"/>
            <a:chOff x="7434605" y="4393657"/>
            <a:chExt cx="812364" cy="545712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396E8E3F-2781-A5EF-CB7B-2D666A8A6771}"/>
                </a:ext>
              </a:extLst>
            </p:cNvPr>
            <p:cNvSpPr/>
            <p:nvPr/>
          </p:nvSpPr>
          <p:spPr>
            <a:xfrm>
              <a:off x="7567931" y="4393657"/>
              <a:ext cx="545712" cy="54571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4" name="Grafik 58">
              <a:extLst>
                <a:ext uri="{FF2B5EF4-FFF2-40B4-BE49-F238E27FC236}">
                  <a16:creationId xmlns:a16="http://schemas.microsoft.com/office/drawing/2014/main" id="{259EFF6D-4E7F-C412-2A00-4C3866C3F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34605" y="4576872"/>
              <a:ext cx="812364" cy="196156"/>
            </a:xfrm>
            <a:prstGeom prst="rect">
              <a:avLst/>
            </a:prstGeom>
          </p:spPr>
        </p:pic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00614868-6AFF-657A-D692-06B5360683B0}"/>
              </a:ext>
            </a:extLst>
          </p:cNvPr>
          <p:cNvGrpSpPr/>
          <p:nvPr/>
        </p:nvGrpSpPr>
        <p:grpSpPr>
          <a:xfrm>
            <a:off x="7427819" y="4972496"/>
            <a:ext cx="819150" cy="545712"/>
            <a:chOff x="7427819" y="5124849"/>
            <a:chExt cx="819150" cy="545712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91C67DCD-32D8-569E-6BE0-EB0D47D81F30}"/>
                </a:ext>
              </a:extLst>
            </p:cNvPr>
            <p:cNvSpPr/>
            <p:nvPr/>
          </p:nvSpPr>
          <p:spPr>
            <a:xfrm>
              <a:off x="7573441" y="5124849"/>
              <a:ext cx="545712" cy="54571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260D819C-F241-DFC3-0125-006618BB4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27819" y="5256803"/>
              <a:ext cx="819150" cy="333375"/>
            </a:xfrm>
            <a:prstGeom prst="rect">
              <a:avLst/>
            </a:prstGeom>
          </p:spPr>
        </p:pic>
      </p:grpSp>
      <p:graphicFrame>
        <p:nvGraphicFramePr>
          <p:cNvPr id="54" name="Table 13">
            <a:extLst>
              <a:ext uri="{FF2B5EF4-FFF2-40B4-BE49-F238E27FC236}">
                <a16:creationId xmlns:a16="http://schemas.microsoft.com/office/drawing/2014/main" id="{78456A82-61E0-2930-44AE-626F890FC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955595"/>
              </p:ext>
            </p:extLst>
          </p:nvPr>
        </p:nvGraphicFramePr>
        <p:xfrm>
          <a:off x="7718789" y="5557460"/>
          <a:ext cx="3924617" cy="538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9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133748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828039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53887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HD4 Padrão</a:t>
                      </a:r>
                    </a:p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Ø 1,8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3, 4, 5, 6, 7, 8, 9, 11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pSp>
        <p:nvGrpSpPr>
          <p:cNvPr id="50" name="Agrupar 49">
            <a:extLst>
              <a:ext uri="{FF2B5EF4-FFF2-40B4-BE49-F238E27FC236}">
                <a16:creationId xmlns:a16="http://schemas.microsoft.com/office/drawing/2014/main" id="{7CBDB319-82CC-25F7-5CBD-5396868767F8}"/>
              </a:ext>
            </a:extLst>
          </p:cNvPr>
          <p:cNvGrpSpPr/>
          <p:nvPr/>
        </p:nvGrpSpPr>
        <p:grpSpPr>
          <a:xfrm>
            <a:off x="7407561" y="5582681"/>
            <a:ext cx="812364" cy="545712"/>
            <a:chOff x="7407561" y="5856041"/>
            <a:chExt cx="812364" cy="545712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E062F0D-9362-2509-4661-98EC5EF9FDFB}"/>
                </a:ext>
              </a:extLst>
            </p:cNvPr>
            <p:cNvSpPr/>
            <p:nvPr/>
          </p:nvSpPr>
          <p:spPr>
            <a:xfrm>
              <a:off x="7567931" y="5856041"/>
              <a:ext cx="545712" cy="54571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6" name="Grafik 59" descr="Ein Bild, das Zahnrad, Metallwaren enthält.&#10;&#10;Automatisch generierte Beschreibung">
              <a:extLst>
                <a:ext uri="{FF2B5EF4-FFF2-40B4-BE49-F238E27FC236}">
                  <a16:creationId xmlns:a16="http://schemas.microsoft.com/office/drawing/2014/main" id="{7FF14B2C-860E-0CB8-9F71-44BE74F2E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07561" y="6048556"/>
              <a:ext cx="812364" cy="197146"/>
            </a:xfrm>
            <a:prstGeom prst="rect">
              <a:avLst/>
            </a:prstGeom>
          </p:spPr>
        </p:pic>
      </p:grpSp>
      <p:sp>
        <p:nvSpPr>
          <p:cNvPr id="69" name="Textfeld 38">
            <a:extLst>
              <a:ext uri="{FF2B5EF4-FFF2-40B4-BE49-F238E27FC236}">
                <a16:creationId xmlns:a16="http://schemas.microsoft.com/office/drawing/2014/main" id="{E4A183E0-917F-9B55-5902-D2D71643D93B}"/>
              </a:ext>
            </a:extLst>
          </p:cNvPr>
          <p:cNvSpPr txBox="1"/>
          <p:nvPr/>
        </p:nvSpPr>
        <p:spPr>
          <a:xfrm>
            <a:off x="9367752" y="6265248"/>
            <a:ext cx="10982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Arial" pitchFamily="34" charset="0"/>
              </a:rPr>
              <a:t>Verde 1,5</a:t>
            </a:r>
          </a:p>
        </p:txBody>
      </p:sp>
    </p:spTree>
    <p:extLst>
      <p:ext uri="{BB962C8B-B14F-4D97-AF65-F5344CB8AC3E}">
        <p14:creationId xmlns:p14="http://schemas.microsoft.com/office/powerpoint/2010/main" val="284353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303">
            <a:extLst>
              <a:ext uri="{FF2B5EF4-FFF2-40B4-BE49-F238E27FC236}">
                <a16:creationId xmlns:a16="http://schemas.microsoft.com/office/drawing/2014/main" id="{18E51CA3-3CD7-CB0F-787E-B557049431A7}"/>
              </a:ext>
            </a:extLst>
          </p:cNvPr>
          <p:cNvCxnSpPr>
            <a:cxnSpLocks/>
          </p:cNvCxnSpPr>
          <p:nvPr/>
        </p:nvCxnSpPr>
        <p:spPr>
          <a:xfrm>
            <a:off x="9925876" y="4838161"/>
            <a:ext cx="0" cy="83531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03">
            <a:extLst>
              <a:ext uri="{FF2B5EF4-FFF2-40B4-BE49-F238E27FC236}">
                <a16:creationId xmlns:a16="http://schemas.microsoft.com/office/drawing/2014/main" id="{17CEA1FD-68F1-8019-A1A5-7B42D6667E6E}"/>
              </a:ext>
            </a:extLst>
          </p:cNvPr>
          <p:cNvCxnSpPr>
            <a:cxnSpLocks/>
          </p:cNvCxnSpPr>
          <p:nvPr/>
        </p:nvCxnSpPr>
        <p:spPr>
          <a:xfrm>
            <a:off x="1630017" y="3795391"/>
            <a:ext cx="349203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agem 18">
            <a:extLst>
              <a:ext uri="{FF2B5EF4-FFF2-40B4-BE49-F238E27FC236}">
                <a16:creationId xmlns:a16="http://schemas.microsoft.com/office/drawing/2014/main" id="{283F4462-4CC3-F0C3-5FD3-1D95E4BF763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9386" y="500819"/>
            <a:ext cx="5170598" cy="261115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F7D61D4-F492-C410-E381-FB1F77B53B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559" y="2626113"/>
            <a:ext cx="5909725" cy="35192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F8DC860-6388-DF7B-6784-A69840CBF48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8" name="Conector Reto 3">
            <a:extLst>
              <a:ext uri="{FF2B5EF4-FFF2-40B4-BE49-F238E27FC236}">
                <a16:creationId xmlns:a16="http://schemas.microsoft.com/office/drawing/2014/main" id="{F52B2B3E-B61B-7C41-E38C-5E47CAF89493}"/>
              </a:ext>
            </a:extLst>
          </p:cNvPr>
          <p:cNvCxnSpPr>
            <a:cxnSpLocks/>
          </p:cNvCxnSpPr>
          <p:nvPr/>
        </p:nvCxnSpPr>
        <p:spPr>
          <a:xfrm flipH="1">
            <a:off x="-675496" y="798141"/>
            <a:ext cx="677149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9">
            <a:extLst>
              <a:ext uri="{FF2B5EF4-FFF2-40B4-BE49-F238E27FC236}">
                <a16:creationId xmlns:a16="http://schemas.microsoft.com/office/drawing/2014/main" id="{0E374F82-5921-AFF3-4B84-81FCA1A08605}"/>
              </a:ext>
            </a:extLst>
          </p:cNvPr>
          <p:cNvSpPr txBox="1">
            <a:spLocks/>
          </p:cNvSpPr>
          <p:nvPr/>
        </p:nvSpPr>
        <p:spPr>
          <a:xfrm>
            <a:off x="254000" y="349829"/>
            <a:ext cx="5240946" cy="448310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Características gerais das placas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F992871-9C6E-1105-F352-D6D54E321B5D}"/>
              </a:ext>
            </a:extLst>
          </p:cNvPr>
          <p:cNvSpPr/>
          <p:nvPr/>
        </p:nvSpPr>
        <p:spPr>
          <a:xfrm>
            <a:off x="2292145" y="2982241"/>
            <a:ext cx="2805567" cy="683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Algumas placas têm barras nas áreas da ponte</a:t>
            </a:r>
          </a:p>
        </p:txBody>
      </p:sp>
      <p:sp>
        <p:nvSpPr>
          <p:cNvPr id="12" name="Textfeld 9">
            <a:extLst>
              <a:ext uri="{FF2B5EF4-FFF2-40B4-BE49-F238E27FC236}">
                <a16:creationId xmlns:a16="http://schemas.microsoft.com/office/drawing/2014/main" id="{4D1619D9-CB87-D326-0AD1-CA3111CE2A2A}"/>
              </a:ext>
            </a:extLst>
          </p:cNvPr>
          <p:cNvSpPr txBox="1"/>
          <p:nvPr/>
        </p:nvSpPr>
        <p:spPr>
          <a:xfrm>
            <a:off x="333286" y="1117116"/>
            <a:ext cx="5366759" cy="5664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.... adaptar-se a todas as regiões anatômicas do terço médio da face em termos de espessura óssea, cobertura de partes moles e estabilidade.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209F40D-7857-7FA5-9C1B-4BCB08A29D0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6762" y="3761282"/>
            <a:ext cx="4273222" cy="2157977"/>
          </a:xfrm>
          <a:prstGeom prst="rect">
            <a:avLst/>
          </a:prstGeom>
        </p:spPr>
      </p:pic>
      <p:cxnSp>
        <p:nvCxnSpPr>
          <p:cNvPr id="24" name="Straight Connector 303">
            <a:extLst>
              <a:ext uri="{FF2B5EF4-FFF2-40B4-BE49-F238E27FC236}">
                <a16:creationId xmlns:a16="http://schemas.microsoft.com/office/drawing/2014/main" id="{134CBA7C-5666-553C-D200-A6C967970583}"/>
              </a:ext>
            </a:extLst>
          </p:cNvPr>
          <p:cNvCxnSpPr>
            <a:cxnSpLocks/>
          </p:cNvCxnSpPr>
          <p:nvPr/>
        </p:nvCxnSpPr>
        <p:spPr>
          <a:xfrm>
            <a:off x="9803294" y="1838739"/>
            <a:ext cx="0" cy="83531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7600AFF1-3B50-C78E-8B8E-F6CBEEC2FA0E}"/>
              </a:ext>
            </a:extLst>
          </p:cNvPr>
          <p:cNvSpPr/>
          <p:nvPr/>
        </p:nvSpPr>
        <p:spPr>
          <a:xfrm>
            <a:off x="7173824" y="2674049"/>
            <a:ext cx="3468524" cy="683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Bordas arredondadas e superfície lisa para proteger os tecidos moles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68C2EBD-F4FD-8A19-FDE3-5350C1A07D87}"/>
              </a:ext>
            </a:extLst>
          </p:cNvPr>
          <p:cNvSpPr/>
          <p:nvPr/>
        </p:nvSpPr>
        <p:spPr>
          <a:xfrm>
            <a:off x="8524417" y="5673471"/>
            <a:ext cx="2805567" cy="683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Perfil baixo da placa (a partir de 0,5 mm de espessura)</a:t>
            </a:r>
          </a:p>
        </p:txBody>
      </p:sp>
    </p:spTree>
    <p:extLst>
      <p:ext uri="{BB962C8B-B14F-4D97-AF65-F5344CB8AC3E}">
        <p14:creationId xmlns:p14="http://schemas.microsoft.com/office/powerpoint/2010/main" val="22866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F8F65593-55B2-585C-B144-7B93DBA80D0F}"/>
              </a:ext>
            </a:extLst>
          </p:cNvPr>
          <p:cNvSpPr/>
          <p:nvPr/>
        </p:nvSpPr>
        <p:spPr>
          <a:xfrm>
            <a:off x="1024836" y="3113384"/>
            <a:ext cx="3531049" cy="8318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 design da placa permite o rebaixamento da cabeça do parafuso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D7DA85-4A2F-889E-1BCE-497F13CCB9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EADE2422-DD24-A36F-B384-C30E13BB48A8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E0C89610-EE58-567A-202A-F6F64373A11B}"/>
              </a:ext>
            </a:extLst>
          </p:cNvPr>
          <p:cNvSpPr txBox="1">
            <a:spLocks/>
          </p:cNvSpPr>
          <p:nvPr/>
        </p:nvSpPr>
        <p:spPr>
          <a:xfrm>
            <a:off x="254000" y="615807"/>
            <a:ext cx="6175375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Características gerais da malha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691E265-ED11-AB5C-E0F8-86CEA4E1377A}"/>
              </a:ext>
            </a:extLst>
          </p:cNvPr>
          <p:cNvGrpSpPr/>
          <p:nvPr/>
        </p:nvGrpSpPr>
        <p:grpSpPr>
          <a:xfrm>
            <a:off x="4687673" y="1784276"/>
            <a:ext cx="2816653" cy="4345432"/>
            <a:chOff x="4897382" y="1875001"/>
            <a:chExt cx="2436506" cy="3758955"/>
          </a:xfrm>
        </p:grpSpPr>
        <p:pic>
          <p:nvPicPr>
            <p:cNvPr id="8" name="Grafik 24">
              <a:extLst>
                <a:ext uri="{FF2B5EF4-FFF2-40B4-BE49-F238E27FC236}">
                  <a16:creationId xmlns:a16="http://schemas.microsoft.com/office/drawing/2014/main" id="{01DF44FE-49D9-ADEE-55E4-6D5BB7EE8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1313124">
              <a:off x="4897382" y="3196698"/>
              <a:ext cx="2436506" cy="2437258"/>
            </a:xfrm>
            <a:prstGeom prst="rect">
              <a:avLst/>
            </a:prstGeom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D1187B1A-8DF3-A582-FF9C-1B393C69E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498656" y="1875001"/>
              <a:ext cx="1233959" cy="1233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" name="Straight Connector 303">
            <a:extLst>
              <a:ext uri="{FF2B5EF4-FFF2-40B4-BE49-F238E27FC236}">
                <a16:creationId xmlns:a16="http://schemas.microsoft.com/office/drawing/2014/main" id="{58631BA3-6E74-29B4-7ABB-7CEC4EC95FC3}"/>
              </a:ext>
            </a:extLst>
          </p:cNvPr>
          <p:cNvCxnSpPr>
            <a:cxnSpLocks/>
          </p:cNvCxnSpPr>
          <p:nvPr/>
        </p:nvCxnSpPr>
        <p:spPr>
          <a:xfrm>
            <a:off x="1254034" y="2387157"/>
            <a:ext cx="403942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3">
            <a:extLst>
              <a:ext uri="{FF2B5EF4-FFF2-40B4-BE49-F238E27FC236}">
                <a16:creationId xmlns:a16="http://schemas.microsoft.com/office/drawing/2014/main" id="{16E9CADE-5059-D3AC-AD57-D6720E550933}"/>
              </a:ext>
            </a:extLst>
          </p:cNvPr>
          <p:cNvCxnSpPr>
            <a:cxnSpLocks/>
          </p:cNvCxnSpPr>
          <p:nvPr/>
        </p:nvCxnSpPr>
        <p:spPr>
          <a:xfrm>
            <a:off x="1024836" y="4061395"/>
            <a:ext cx="398259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303">
            <a:extLst>
              <a:ext uri="{FF2B5EF4-FFF2-40B4-BE49-F238E27FC236}">
                <a16:creationId xmlns:a16="http://schemas.microsoft.com/office/drawing/2014/main" id="{7E554EC8-80BC-6A93-8B64-F9D326F4E330}"/>
              </a:ext>
            </a:extLst>
          </p:cNvPr>
          <p:cNvCxnSpPr>
            <a:cxnSpLocks/>
          </p:cNvCxnSpPr>
          <p:nvPr/>
        </p:nvCxnSpPr>
        <p:spPr>
          <a:xfrm>
            <a:off x="1949937" y="5449208"/>
            <a:ext cx="319700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3">
            <a:extLst>
              <a:ext uri="{FF2B5EF4-FFF2-40B4-BE49-F238E27FC236}">
                <a16:creationId xmlns:a16="http://schemas.microsoft.com/office/drawing/2014/main" id="{C1EF9337-9C21-67AF-2BF2-46BF463BA416}"/>
              </a:ext>
            </a:extLst>
          </p:cNvPr>
          <p:cNvCxnSpPr>
            <a:cxnSpLocks/>
          </p:cNvCxnSpPr>
          <p:nvPr/>
        </p:nvCxnSpPr>
        <p:spPr>
          <a:xfrm>
            <a:off x="6955277" y="5014366"/>
            <a:ext cx="419262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03">
            <a:extLst>
              <a:ext uri="{FF2B5EF4-FFF2-40B4-BE49-F238E27FC236}">
                <a16:creationId xmlns:a16="http://schemas.microsoft.com/office/drawing/2014/main" id="{C58E2CA2-FC16-5C25-E5BE-9736852E53EF}"/>
              </a:ext>
            </a:extLst>
          </p:cNvPr>
          <p:cNvCxnSpPr>
            <a:cxnSpLocks/>
          </p:cNvCxnSpPr>
          <p:nvPr/>
        </p:nvCxnSpPr>
        <p:spPr>
          <a:xfrm>
            <a:off x="7466521" y="3465513"/>
            <a:ext cx="337981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03">
            <a:extLst>
              <a:ext uri="{FF2B5EF4-FFF2-40B4-BE49-F238E27FC236}">
                <a16:creationId xmlns:a16="http://schemas.microsoft.com/office/drawing/2014/main" id="{079FB478-D91F-2AC6-F65E-B30EAD50C0A7}"/>
              </a:ext>
            </a:extLst>
          </p:cNvPr>
          <p:cNvCxnSpPr>
            <a:cxnSpLocks/>
          </p:cNvCxnSpPr>
          <p:nvPr/>
        </p:nvCxnSpPr>
        <p:spPr>
          <a:xfrm>
            <a:off x="6955277" y="2250125"/>
            <a:ext cx="437744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C5E769C5-0191-ED68-C1EA-045CA05F1298}"/>
              </a:ext>
            </a:extLst>
          </p:cNvPr>
          <p:cNvGrpSpPr/>
          <p:nvPr/>
        </p:nvGrpSpPr>
        <p:grpSpPr>
          <a:xfrm>
            <a:off x="1435160" y="4848584"/>
            <a:ext cx="763128" cy="738644"/>
            <a:chOff x="1435160" y="4848584"/>
            <a:chExt cx="763128" cy="738644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4DD9AC44-1ADC-349F-AE11-ED7F544D87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35160" y="4848584"/>
              <a:ext cx="763128" cy="738644"/>
            </a:xfrm>
            <a:custGeom>
              <a:avLst/>
              <a:gdLst>
                <a:gd name="csX0" fmla="*/ 381564 w 763128"/>
                <a:gd name="csY0" fmla="*/ 0 h 738644"/>
                <a:gd name="csX1" fmla="*/ 763128 w 763128"/>
                <a:gd name="csY1" fmla="*/ 369322 h 738644"/>
                <a:gd name="csX2" fmla="*/ 381564 w 763128"/>
                <a:gd name="csY2" fmla="*/ 738644 h 738644"/>
                <a:gd name="csX3" fmla="*/ 0 w 763128"/>
                <a:gd name="csY3" fmla="*/ 369322 h 738644"/>
                <a:gd name="csX4" fmla="*/ 381564 w 763128"/>
                <a:gd name="csY4" fmla="*/ 0 h 738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3128" h="738644">
                  <a:moveTo>
                    <a:pt x="381564" y="0"/>
                  </a:moveTo>
                  <a:cubicBezTo>
                    <a:pt x="592296" y="0"/>
                    <a:pt x="763128" y="165351"/>
                    <a:pt x="763128" y="369322"/>
                  </a:cubicBezTo>
                  <a:cubicBezTo>
                    <a:pt x="763128" y="573293"/>
                    <a:pt x="592296" y="738644"/>
                    <a:pt x="381564" y="738644"/>
                  </a:cubicBezTo>
                  <a:cubicBezTo>
                    <a:pt x="170832" y="738644"/>
                    <a:pt x="0" y="573293"/>
                    <a:pt x="0" y="369322"/>
                  </a:cubicBezTo>
                  <a:cubicBezTo>
                    <a:pt x="0" y="165351"/>
                    <a:pt x="170832" y="0"/>
                    <a:pt x="381564" y="0"/>
                  </a:cubicBezTo>
                  <a:close/>
                </a:path>
              </a:pathLst>
            </a:custGeom>
          </p:spPr>
        </p:pic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3CA44C38-A3A5-79E6-FFFD-42AFADBDA227}"/>
                </a:ext>
              </a:extLst>
            </p:cNvPr>
            <p:cNvSpPr/>
            <p:nvPr/>
          </p:nvSpPr>
          <p:spPr>
            <a:xfrm>
              <a:off x="1451868" y="4851244"/>
              <a:ext cx="733952" cy="733952"/>
            </a:xfrm>
            <a:prstGeom prst="ellipse">
              <a:avLst/>
            </a:prstGeom>
            <a:noFill/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6" name="Retângulo 25">
            <a:extLst>
              <a:ext uri="{FF2B5EF4-FFF2-40B4-BE49-F238E27FC236}">
                <a16:creationId xmlns:a16="http://schemas.microsoft.com/office/drawing/2014/main" id="{F818A936-A3D1-36EE-A438-4A6BC38343A3}"/>
              </a:ext>
            </a:extLst>
          </p:cNvPr>
          <p:cNvSpPr/>
          <p:nvPr/>
        </p:nvSpPr>
        <p:spPr>
          <a:xfrm>
            <a:off x="2412620" y="4900622"/>
            <a:ext cx="2055948" cy="4268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Design de malha 3D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9A7FD84-406B-859F-779F-84BF9B40533C}"/>
              </a:ext>
            </a:extLst>
          </p:cNvPr>
          <p:cNvSpPr/>
          <p:nvPr/>
        </p:nvSpPr>
        <p:spPr>
          <a:xfrm>
            <a:off x="7677597" y="4221341"/>
            <a:ext cx="3473173" cy="65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Bordas arredondadas e superfície lisa para proteger tecidos moles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C22FC94-DC02-9E31-6B7B-F032F11AC7AD}"/>
              </a:ext>
            </a:extLst>
          </p:cNvPr>
          <p:cNvSpPr/>
          <p:nvPr/>
        </p:nvSpPr>
        <p:spPr>
          <a:xfrm>
            <a:off x="8462989" y="2708019"/>
            <a:ext cx="2459616" cy="65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Altura de perfil baixo: 0,25mm/0,4mm/0,6mm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DA9F749-B1E5-346F-8C2F-6D9149FCE58F}"/>
              </a:ext>
            </a:extLst>
          </p:cNvPr>
          <p:cNvSpPr/>
          <p:nvPr/>
        </p:nvSpPr>
        <p:spPr>
          <a:xfrm>
            <a:off x="8048933" y="1474002"/>
            <a:ext cx="3283790" cy="65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Dois tamanhos de placa, cada um com três espessuras diferentes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97BF210-A168-39B5-2C76-74159AB5903F}"/>
              </a:ext>
            </a:extLst>
          </p:cNvPr>
          <p:cNvSpPr/>
          <p:nvPr/>
        </p:nvSpPr>
        <p:spPr>
          <a:xfrm>
            <a:off x="1187793" y="1618442"/>
            <a:ext cx="3683316" cy="65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Dois cantos arredondados adjacentes para tamanho 50 x 50 mm</a:t>
            </a:r>
          </a:p>
        </p:txBody>
      </p:sp>
    </p:spTree>
    <p:extLst>
      <p:ext uri="{BB962C8B-B14F-4D97-AF65-F5344CB8AC3E}">
        <p14:creationId xmlns:p14="http://schemas.microsoft.com/office/powerpoint/2010/main" val="247404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197C-AAA7-0B6D-1291-7C1A24D4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FB13F7-0519-2CCA-08FB-EA6A3D3DCD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CA8F7496-D0BB-AB6D-1EB4-914F629F70BB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11788973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FD4EE7F0-8892-5C2D-D991-1DD576DA37F5}"/>
              </a:ext>
            </a:extLst>
          </p:cNvPr>
          <p:cNvSpPr txBox="1">
            <a:spLocks/>
          </p:cNvSpPr>
          <p:nvPr/>
        </p:nvSpPr>
        <p:spPr>
          <a:xfrm>
            <a:off x="254000" y="606062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Características gerais das placas do assoalho orbital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" name="Picture 6" descr="OPS_frei">
            <a:extLst>
              <a:ext uri="{FF2B5EF4-FFF2-40B4-BE49-F238E27FC236}">
                <a16:creationId xmlns:a16="http://schemas.microsoft.com/office/drawing/2014/main" id="{7217B9FF-D5D6-F5F1-83CC-E42DD4FE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07557" y="2799935"/>
            <a:ext cx="3243768" cy="236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303">
            <a:extLst>
              <a:ext uri="{FF2B5EF4-FFF2-40B4-BE49-F238E27FC236}">
                <a16:creationId xmlns:a16="http://schemas.microsoft.com/office/drawing/2014/main" id="{C7A63989-AD60-D27F-24A2-ED4F46A8CB24}"/>
              </a:ext>
            </a:extLst>
          </p:cNvPr>
          <p:cNvCxnSpPr>
            <a:cxnSpLocks/>
          </p:cNvCxnSpPr>
          <p:nvPr/>
        </p:nvCxnSpPr>
        <p:spPr>
          <a:xfrm>
            <a:off x="7384869" y="3509058"/>
            <a:ext cx="293419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03">
            <a:extLst>
              <a:ext uri="{FF2B5EF4-FFF2-40B4-BE49-F238E27FC236}">
                <a16:creationId xmlns:a16="http://schemas.microsoft.com/office/drawing/2014/main" id="{AF510905-4D69-E56A-9EDA-76266E6755B8}"/>
              </a:ext>
            </a:extLst>
          </p:cNvPr>
          <p:cNvCxnSpPr>
            <a:cxnSpLocks/>
          </p:cNvCxnSpPr>
          <p:nvPr/>
        </p:nvCxnSpPr>
        <p:spPr>
          <a:xfrm>
            <a:off x="1770434" y="3732987"/>
            <a:ext cx="295069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71E9F0CC-6ED3-D67D-2086-EB6482FD0C5A}"/>
              </a:ext>
            </a:extLst>
          </p:cNvPr>
          <p:cNvGrpSpPr/>
          <p:nvPr/>
        </p:nvGrpSpPr>
        <p:grpSpPr>
          <a:xfrm>
            <a:off x="2356439" y="3980102"/>
            <a:ext cx="2783034" cy="1961847"/>
            <a:chOff x="2222886" y="3728834"/>
            <a:chExt cx="2783034" cy="1961847"/>
          </a:xfrm>
        </p:grpSpPr>
        <p:cxnSp>
          <p:nvCxnSpPr>
            <p:cNvPr id="14" name="Straight Connector 303">
              <a:extLst>
                <a:ext uri="{FF2B5EF4-FFF2-40B4-BE49-F238E27FC236}">
                  <a16:creationId xmlns:a16="http://schemas.microsoft.com/office/drawing/2014/main" id="{959B854F-659A-D08D-85BD-7030E1352995}"/>
                </a:ext>
              </a:extLst>
            </p:cNvPr>
            <p:cNvCxnSpPr>
              <a:cxnSpLocks/>
            </p:cNvCxnSpPr>
            <p:nvPr/>
          </p:nvCxnSpPr>
          <p:spPr>
            <a:xfrm>
              <a:off x="5005920" y="3728834"/>
              <a:ext cx="0" cy="1961847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03">
              <a:extLst>
                <a:ext uri="{FF2B5EF4-FFF2-40B4-BE49-F238E27FC236}">
                  <a16:creationId xmlns:a16="http://schemas.microsoft.com/office/drawing/2014/main" id="{1844AA97-068B-0FBA-836F-27CD88A7F4E5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6" y="5690681"/>
              <a:ext cx="2783034" cy="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2D871EEA-052B-8071-1EF8-3640A7C5F7EE}"/>
              </a:ext>
            </a:extLst>
          </p:cNvPr>
          <p:cNvGrpSpPr/>
          <p:nvPr/>
        </p:nvGrpSpPr>
        <p:grpSpPr>
          <a:xfrm flipH="1">
            <a:off x="6892556" y="4647922"/>
            <a:ext cx="2796889" cy="1202988"/>
            <a:chOff x="2209031" y="4487693"/>
            <a:chExt cx="2796889" cy="1202988"/>
          </a:xfrm>
        </p:grpSpPr>
        <p:cxnSp>
          <p:nvCxnSpPr>
            <p:cNvPr id="37" name="Straight Connector 303">
              <a:extLst>
                <a:ext uri="{FF2B5EF4-FFF2-40B4-BE49-F238E27FC236}">
                  <a16:creationId xmlns:a16="http://schemas.microsoft.com/office/drawing/2014/main" id="{3BFC1D78-9CD4-D012-0BB0-D501E0A3E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5920" y="4487693"/>
              <a:ext cx="0" cy="1202988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03">
              <a:extLst>
                <a:ext uri="{FF2B5EF4-FFF2-40B4-BE49-F238E27FC236}">
                  <a16:creationId xmlns:a16="http://schemas.microsoft.com/office/drawing/2014/main" id="{17D013D9-518B-45D3-ABA1-6D2D61BA34A6}"/>
                </a:ext>
              </a:extLst>
            </p:cNvPr>
            <p:cNvCxnSpPr>
              <a:cxnSpLocks/>
            </p:cNvCxnSpPr>
            <p:nvPr/>
          </p:nvCxnSpPr>
          <p:spPr>
            <a:xfrm>
              <a:off x="2209031" y="5690681"/>
              <a:ext cx="2796889" cy="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33000DB0-064E-E037-86CB-08392D18CBE7}"/>
              </a:ext>
            </a:extLst>
          </p:cNvPr>
          <p:cNvGrpSpPr/>
          <p:nvPr/>
        </p:nvGrpSpPr>
        <p:grpSpPr>
          <a:xfrm flipV="1">
            <a:off x="1536970" y="2465355"/>
            <a:ext cx="4370381" cy="772584"/>
            <a:chOff x="635539" y="4510513"/>
            <a:chExt cx="4370381" cy="772584"/>
          </a:xfrm>
        </p:grpSpPr>
        <p:cxnSp>
          <p:nvCxnSpPr>
            <p:cNvPr id="40" name="Straight Connector 303">
              <a:extLst>
                <a:ext uri="{FF2B5EF4-FFF2-40B4-BE49-F238E27FC236}">
                  <a16:creationId xmlns:a16="http://schemas.microsoft.com/office/drawing/2014/main" id="{3D086B8D-79CF-8BE6-962B-9084595D9B27}"/>
                </a:ext>
              </a:extLst>
            </p:cNvPr>
            <p:cNvCxnSpPr>
              <a:cxnSpLocks/>
            </p:cNvCxnSpPr>
            <p:nvPr/>
          </p:nvCxnSpPr>
          <p:spPr>
            <a:xfrm>
              <a:off x="5005920" y="4510513"/>
              <a:ext cx="0" cy="772584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303">
              <a:extLst>
                <a:ext uri="{FF2B5EF4-FFF2-40B4-BE49-F238E27FC236}">
                  <a16:creationId xmlns:a16="http://schemas.microsoft.com/office/drawing/2014/main" id="{6D823151-965E-D9B0-A879-B1C28F507C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539" y="5283097"/>
              <a:ext cx="4370381" cy="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2B031B94-F636-637A-6EA7-BC4E4C717D22}"/>
              </a:ext>
            </a:extLst>
          </p:cNvPr>
          <p:cNvGrpSpPr/>
          <p:nvPr/>
        </p:nvGrpSpPr>
        <p:grpSpPr>
          <a:xfrm flipH="1" flipV="1">
            <a:off x="6402072" y="1503666"/>
            <a:ext cx="3621491" cy="1385449"/>
            <a:chOff x="1384429" y="4305232"/>
            <a:chExt cx="3621491" cy="1385449"/>
          </a:xfrm>
        </p:grpSpPr>
        <p:cxnSp>
          <p:nvCxnSpPr>
            <p:cNvPr id="43" name="Straight Connector 303">
              <a:extLst>
                <a:ext uri="{FF2B5EF4-FFF2-40B4-BE49-F238E27FC236}">
                  <a16:creationId xmlns:a16="http://schemas.microsoft.com/office/drawing/2014/main" id="{4FD4D993-F459-B2DD-300B-917F5DD2DD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5920" y="4305232"/>
              <a:ext cx="0" cy="1385449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303">
              <a:extLst>
                <a:ext uri="{FF2B5EF4-FFF2-40B4-BE49-F238E27FC236}">
                  <a16:creationId xmlns:a16="http://schemas.microsoft.com/office/drawing/2014/main" id="{5C32D02D-6FEF-D10B-8F4E-6D6EDABFB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4429" y="5690681"/>
              <a:ext cx="3621491" cy="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2504CDBA-D455-32E0-41DF-CAADB87605F8}"/>
              </a:ext>
            </a:extLst>
          </p:cNvPr>
          <p:cNvSpPr/>
          <p:nvPr/>
        </p:nvSpPr>
        <p:spPr>
          <a:xfrm>
            <a:off x="1536970" y="1323504"/>
            <a:ext cx="3600498" cy="1001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Linhas de corte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pré-posicionadas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permitem um corte sem pera ao longo da barra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E1B399A-7019-DB20-1BEA-008AF4B99D9E}"/>
              </a:ext>
            </a:extLst>
          </p:cNvPr>
          <p:cNvSpPr/>
          <p:nvPr/>
        </p:nvSpPr>
        <p:spPr>
          <a:xfrm>
            <a:off x="1757966" y="3209604"/>
            <a:ext cx="2068416" cy="4268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Design de malha 3D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8C5EC6F-2F87-16B0-5A01-FA398E38599D}"/>
              </a:ext>
            </a:extLst>
          </p:cNvPr>
          <p:cNvGrpSpPr/>
          <p:nvPr/>
        </p:nvGrpSpPr>
        <p:grpSpPr>
          <a:xfrm>
            <a:off x="1007306" y="3051256"/>
            <a:ext cx="763128" cy="738644"/>
            <a:chOff x="1435160" y="4848584"/>
            <a:chExt cx="763128" cy="738644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5B730982-5F2C-C20C-80B7-96877E0BB4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35160" y="4848584"/>
              <a:ext cx="763128" cy="738644"/>
            </a:xfrm>
            <a:custGeom>
              <a:avLst/>
              <a:gdLst>
                <a:gd name="csX0" fmla="*/ 381564 w 763128"/>
                <a:gd name="csY0" fmla="*/ 0 h 738644"/>
                <a:gd name="csX1" fmla="*/ 763128 w 763128"/>
                <a:gd name="csY1" fmla="*/ 369322 h 738644"/>
                <a:gd name="csX2" fmla="*/ 381564 w 763128"/>
                <a:gd name="csY2" fmla="*/ 738644 h 738644"/>
                <a:gd name="csX3" fmla="*/ 0 w 763128"/>
                <a:gd name="csY3" fmla="*/ 369322 h 738644"/>
                <a:gd name="csX4" fmla="*/ 381564 w 763128"/>
                <a:gd name="csY4" fmla="*/ 0 h 738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3128" h="738644">
                  <a:moveTo>
                    <a:pt x="381564" y="0"/>
                  </a:moveTo>
                  <a:cubicBezTo>
                    <a:pt x="592296" y="0"/>
                    <a:pt x="763128" y="165351"/>
                    <a:pt x="763128" y="369322"/>
                  </a:cubicBezTo>
                  <a:cubicBezTo>
                    <a:pt x="763128" y="573293"/>
                    <a:pt x="592296" y="738644"/>
                    <a:pt x="381564" y="738644"/>
                  </a:cubicBezTo>
                  <a:cubicBezTo>
                    <a:pt x="170832" y="738644"/>
                    <a:pt x="0" y="573293"/>
                    <a:pt x="0" y="369322"/>
                  </a:cubicBezTo>
                  <a:cubicBezTo>
                    <a:pt x="0" y="165351"/>
                    <a:pt x="170832" y="0"/>
                    <a:pt x="381564" y="0"/>
                  </a:cubicBezTo>
                  <a:close/>
                </a:path>
              </a:pathLst>
            </a:custGeom>
          </p:spPr>
        </p:pic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D48ED5F-83B0-4CBE-FC79-9AE870FD46CA}"/>
                </a:ext>
              </a:extLst>
            </p:cNvPr>
            <p:cNvSpPr/>
            <p:nvPr/>
          </p:nvSpPr>
          <p:spPr>
            <a:xfrm>
              <a:off x="1451868" y="4851244"/>
              <a:ext cx="733952" cy="733952"/>
            </a:xfrm>
            <a:prstGeom prst="ellipse">
              <a:avLst/>
            </a:prstGeom>
            <a:noFill/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DC9C16E4-3339-445C-8886-9C8C7DDE2821}"/>
              </a:ext>
            </a:extLst>
          </p:cNvPr>
          <p:cNvSpPr/>
          <p:nvPr/>
        </p:nvSpPr>
        <p:spPr>
          <a:xfrm>
            <a:off x="2356439" y="5418565"/>
            <a:ext cx="2464156" cy="4268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Barras estabilizadoras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41F07D1-2E97-637D-F6FB-F6749BF0C3CC}"/>
              </a:ext>
            </a:extLst>
          </p:cNvPr>
          <p:cNvSpPr/>
          <p:nvPr/>
        </p:nvSpPr>
        <p:spPr>
          <a:xfrm>
            <a:off x="7225289" y="5337671"/>
            <a:ext cx="2464156" cy="4268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Barras estabilizadoras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2113E6B-7503-F6C0-B0DC-C14C5E1A8B18}"/>
              </a:ext>
            </a:extLst>
          </p:cNvPr>
          <p:cNvSpPr/>
          <p:nvPr/>
        </p:nvSpPr>
        <p:spPr>
          <a:xfrm>
            <a:off x="8046045" y="2778769"/>
            <a:ext cx="2307855" cy="613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Altura de perfil baixo: 0,35 mm / 0,4 mm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8DA5351-F354-D731-A4BE-ACEDCCD44605}"/>
              </a:ext>
            </a:extLst>
          </p:cNvPr>
          <p:cNvSpPr/>
          <p:nvPr/>
        </p:nvSpPr>
        <p:spPr>
          <a:xfrm>
            <a:off x="7137072" y="1626326"/>
            <a:ext cx="2886491" cy="613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Quatro diferentes geometrias de implantes</a:t>
            </a:r>
          </a:p>
        </p:txBody>
      </p:sp>
    </p:spTree>
    <p:extLst>
      <p:ext uri="{BB962C8B-B14F-4D97-AF65-F5344CB8AC3E}">
        <p14:creationId xmlns:p14="http://schemas.microsoft.com/office/powerpoint/2010/main" val="13790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FA5D8B5-8116-3D99-3E06-95E5C60F5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0FA88E2E-42F6-C1F2-B672-17690CD41ABE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22FD70D7-8B11-B0F3-4856-DD689012C92C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dos parafusos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A58973-3D54-F991-709B-6EA69D38E3F4}"/>
              </a:ext>
            </a:extLst>
          </p:cNvPr>
          <p:cNvSpPr/>
          <p:nvPr/>
        </p:nvSpPr>
        <p:spPr>
          <a:xfrm>
            <a:off x="899980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1.2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9142684-BF2A-BFC0-7C71-8F0C5B568674}"/>
              </a:ext>
            </a:extLst>
          </p:cNvPr>
          <p:cNvSpPr/>
          <p:nvPr/>
        </p:nvSpPr>
        <p:spPr>
          <a:xfrm>
            <a:off x="3689632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1.5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1735FC-399C-66F1-1E81-3B3B8298BBF3}"/>
              </a:ext>
            </a:extLst>
          </p:cNvPr>
          <p:cNvSpPr/>
          <p:nvPr/>
        </p:nvSpPr>
        <p:spPr>
          <a:xfrm>
            <a:off x="6479284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8638D98-798B-BF7E-E776-C70EF86FAA7B}"/>
              </a:ext>
            </a:extLst>
          </p:cNvPr>
          <p:cNvSpPr/>
          <p:nvPr/>
        </p:nvSpPr>
        <p:spPr>
          <a:xfrm>
            <a:off x="9268935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4</a:t>
            </a:r>
          </a:p>
        </p:txBody>
      </p:sp>
      <p:pic>
        <p:nvPicPr>
          <p:cNvPr id="12" name="Grafik 34">
            <a:extLst>
              <a:ext uri="{FF2B5EF4-FFF2-40B4-BE49-F238E27FC236}">
                <a16:creationId xmlns:a16="http://schemas.microsoft.com/office/drawing/2014/main" id="{D7B62047-D89E-4722-E6C6-7948EFF250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24032" y="3303922"/>
            <a:ext cx="2159719" cy="524131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B148AC16-2B69-A62B-D761-8B7BFC7A4A95}"/>
              </a:ext>
            </a:extLst>
          </p:cNvPr>
          <p:cNvSpPr/>
          <p:nvPr/>
        </p:nvSpPr>
        <p:spPr>
          <a:xfrm>
            <a:off x="899980" y="1570080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feld 22">
            <a:extLst>
              <a:ext uri="{FF2B5EF4-FFF2-40B4-BE49-F238E27FC236}">
                <a16:creationId xmlns:a16="http://schemas.microsoft.com/office/drawing/2014/main" id="{87BDA057-7725-77FD-42E5-5802C197A780}"/>
              </a:ext>
            </a:extLst>
          </p:cNvPr>
          <p:cNvSpPr txBox="1"/>
          <p:nvPr/>
        </p:nvSpPr>
        <p:spPr>
          <a:xfrm>
            <a:off x="1027106" y="5149418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Parafuso Cortical 1.2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54FAE40-0E37-E8FB-95EA-28D02A0A60E2}"/>
              </a:ext>
            </a:extLst>
          </p:cNvPr>
          <p:cNvSpPr/>
          <p:nvPr/>
        </p:nvSpPr>
        <p:spPr>
          <a:xfrm>
            <a:off x="3689632" y="1570079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feld 22">
            <a:extLst>
              <a:ext uri="{FF2B5EF4-FFF2-40B4-BE49-F238E27FC236}">
                <a16:creationId xmlns:a16="http://schemas.microsoft.com/office/drawing/2014/main" id="{38A7ECC2-E67E-CC55-7ED2-1A9BA01EBC79}"/>
              </a:ext>
            </a:extLst>
          </p:cNvPr>
          <p:cNvSpPr txBox="1"/>
          <p:nvPr/>
        </p:nvSpPr>
        <p:spPr>
          <a:xfrm>
            <a:off x="3816758" y="5149417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Parafuso Cortical 1.5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172495C-876B-A888-9028-68668F624604}"/>
              </a:ext>
            </a:extLst>
          </p:cNvPr>
          <p:cNvSpPr/>
          <p:nvPr/>
        </p:nvSpPr>
        <p:spPr>
          <a:xfrm>
            <a:off x="6479284" y="1570078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feld 22">
            <a:extLst>
              <a:ext uri="{FF2B5EF4-FFF2-40B4-BE49-F238E27FC236}">
                <a16:creationId xmlns:a16="http://schemas.microsoft.com/office/drawing/2014/main" id="{0D8DAFBA-7F94-DDC2-396A-B66218A1CA78}"/>
              </a:ext>
            </a:extLst>
          </p:cNvPr>
          <p:cNvSpPr txBox="1"/>
          <p:nvPr/>
        </p:nvSpPr>
        <p:spPr>
          <a:xfrm>
            <a:off x="6606410" y="5149416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Parafuso cortical 1.8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D968818-D2D1-010B-66E1-431BD472B4ED}"/>
              </a:ext>
            </a:extLst>
          </p:cNvPr>
          <p:cNvSpPr/>
          <p:nvPr/>
        </p:nvSpPr>
        <p:spPr>
          <a:xfrm>
            <a:off x="9268936" y="1570077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7CF001D-9A22-6991-1258-FA52E4DE9BED}"/>
              </a:ext>
            </a:extLst>
          </p:cNvPr>
          <p:cNvSpPr txBox="1"/>
          <p:nvPr/>
        </p:nvSpPr>
        <p:spPr>
          <a:xfrm>
            <a:off x="9396062" y="5149415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300" dirty="0">
                <a:latin typeface="Roboto Light"/>
                <a:cs typeface="Roboto Light"/>
              </a:rPr>
              <a:t>Parafuso SpeedTip 1.5</a:t>
            </a:r>
          </a:p>
        </p:txBody>
      </p:sp>
      <p:pic>
        <p:nvPicPr>
          <p:cNvPr id="24" name="Grafik 37">
            <a:extLst>
              <a:ext uri="{FF2B5EF4-FFF2-40B4-BE49-F238E27FC236}">
                <a16:creationId xmlns:a16="http://schemas.microsoft.com/office/drawing/2014/main" id="{F3B7D49A-16ED-9472-4810-8E9839B5682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682038" y="3305241"/>
            <a:ext cx="2159719" cy="521493"/>
          </a:xfrm>
          <a:prstGeom prst="rect">
            <a:avLst/>
          </a:prstGeom>
        </p:spPr>
      </p:pic>
      <p:pic>
        <p:nvPicPr>
          <p:cNvPr id="28" name="Grafik 39" descr="Ein Bild, das Zahnrad, Metallwaren enthält.&#10;&#10;Automatisch generierte Beschreibung">
            <a:extLst>
              <a:ext uri="{FF2B5EF4-FFF2-40B4-BE49-F238E27FC236}">
                <a16:creationId xmlns:a16="http://schemas.microsoft.com/office/drawing/2014/main" id="{21206EE9-15CF-0622-9B06-EFB176873D1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403334" y="3303924"/>
            <a:ext cx="2159719" cy="524127"/>
          </a:xfrm>
          <a:prstGeom prst="rect">
            <a:avLst/>
          </a:prstGeom>
        </p:spPr>
      </p:pic>
      <p:pic>
        <p:nvPicPr>
          <p:cNvPr id="29" name="Grafik 40">
            <a:extLst>
              <a:ext uri="{FF2B5EF4-FFF2-40B4-BE49-F238E27FC236}">
                <a16:creationId xmlns:a16="http://schemas.microsoft.com/office/drawing/2014/main" id="{D72F67AE-5EA0-708B-B654-B5D1CBCCEB0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70242" y="2667557"/>
            <a:ext cx="805208" cy="1796861"/>
          </a:xfrm>
          <a:prstGeom prst="rect">
            <a:avLst/>
          </a:prstGeom>
        </p:spPr>
      </p:pic>
      <p:grpSp>
        <p:nvGrpSpPr>
          <p:cNvPr id="36" name="Agrupar 35">
            <a:extLst>
              <a:ext uri="{FF2B5EF4-FFF2-40B4-BE49-F238E27FC236}">
                <a16:creationId xmlns:a16="http://schemas.microsoft.com/office/drawing/2014/main" id="{B8E6EF9A-58D7-FBD6-DFE3-597CED5D5EE4}"/>
              </a:ext>
            </a:extLst>
          </p:cNvPr>
          <p:cNvGrpSpPr/>
          <p:nvPr/>
        </p:nvGrpSpPr>
        <p:grpSpPr>
          <a:xfrm>
            <a:off x="1134842" y="5097926"/>
            <a:ext cx="1502751" cy="361403"/>
            <a:chOff x="1134842" y="5097926"/>
            <a:chExt cx="1502751" cy="361403"/>
          </a:xfrm>
        </p:grpSpPr>
        <p:cxnSp>
          <p:nvCxnSpPr>
            <p:cNvPr id="33" name="Straight Connector 305">
              <a:extLst>
                <a:ext uri="{FF2B5EF4-FFF2-40B4-BE49-F238E27FC236}">
                  <a16:creationId xmlns:a16="http://schemas.microsoft.com/office/drawing/2014/main" id="{00637F42-5D40-5BAF-A9E6-C6EB5DB43F33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05">
              <a:extLst>
                <a:ext uri="{FF2B5EF4-FFF2-40B4-BE49-F238E27FC236}">
                  <a16:creationId xmlns:a16="http://schemas.microsoft.com/office/drawing/2014/main" id="{088F9442-ED0D-F001-FAAD-3311F4BB79B9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BFC38ECC-87FC-5680-7169-418DA2188544}"/>
              </a:ext>
            </a:extLst>
          </p:cNvPr>
          <p:cNvGrpSpPr/>
          <p:nvPr/>
        </p:nvGrpSpPr>
        <p:grpSpPr>
          <a:xfrm>
            <a:off x="3950875" y="5097926"/>
            <a:ext cx="1502751" cy="361403"/>
            <a:chOff x="1134842" y="5097926"/>
            <a:chExt cx="1502751" cy="361403"/>
          </a:xfrm>
        </p:grpSpPr>
        <p:cxnSp>
          <p:nvCxnSpPr>
            <p:cNvPr id="38" name="Straight Connector 305">
              <a:extLst>
                <a:ext uri="{FF2B5EF4-FFF2-40B4-BE49-F238E27FC236}">
                  <a16:creationId xmlns:a16="http://schemas.microsoft.com/office/drawing/2014/main" id="{A5818387-00A3-7AD0-8B36-4AE0F9F49E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05">
              <a:extLst>
                <a:ext uri="{FF2B5EF4-FFF2-40B4-BE49-F238E27FC236}">
                  <a16:creationId xmlns:a16="http://schemas.microsoft.com/office/drawing/2014/main" id="{6FD0ABBD-916E-3CB6-676F-B0B556419C50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CC2698B3-93E5-6389-22BD-18A11608677B}"/>
              </a:ext>
            </a:extLst>
          </p:cNvPr>
          <p:cNvGrpSpPr/>
          <p:nvPr/>
        </p:nvGrpSpPr>
        <p:grpSpPr>
          <a:xfrm>
            <a:off x="6766908" y="5097926"/>
            <a:ext cx="1502751" cy="361403"/>
            <a:chOff x="1134842" y="5097926"/>
            <a:chExt cx="1502751" cy="361403"/>
          </a:xfrm>
        </p:grpSpPr>
        <p:cxnSp>
          <p:nvCxnSpPr>
            <p:cNvPr id="41" name="Straight Connector 305">
              <a:extLst>
                <a:ext uri="{FF2B5EF4-FFF2-40B4-BE49-F238E27FC236}">
                  <a16:creationId xmlns:a16="http://schemas.microsoft.com/office/drawing/2014/main" id="{91BB859B-5F6B-0040-DC47-2BE605714010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305">
              <a:extLst>
                <a:ext uri="{FF2B5EF4-FFF2-40B4-BE49-F238E27FC236}">
                  <a16:creationId xmlns:a16="http://schemas.microsoft.com/office/drawing/2014/main" id="{48B9D5DC-47DA-29A8-77EB-553A43CA14EB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1CF396DB-CB68-6D1D-1395-16B6F2AE602A}"/>
              </a:ext>
            </a:extLst>
          </p:cNvPr>
          <p:cNvGrpSpPr/>
          <p:nvPr/>
        </p:nvGrpSpPr>
        <p:grpSpPr>
          <a:xfrm>
            <a:off x="9582941" y="5097926"/>
            <a:ext cx="1502751" cy="361403"/>
            <a:chOff x="1134842" y="5097926"/>
            <a:chExt cx="1502751" cy="361403"/>
          </a:xfrm>
        </p:grpSpPr>
        <p:cxnSp>
          <p:nvCxnSpPr>
            <p:cNvPr id="44" name="Straight Connector 305">
              <a:extLst>
                <a:ext uri="{FF2B5EF4-FFF2-40B4-BE49-F238E27FC236}">
                  <a16:creationId xmlns:a16="http://schemas.microsoft.com/office/drawing/2014/main" id="{AF479EC6-4ECC-2F43-0A9B-E6DC21F439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05">
              <a:extLst>
                <a:ext uri="{FF2B5EF4-FFF2-40B4-BE49-F238E27FC236}">
                  <a16:creationId xmlns:a16="http://schemas.microsoft.com/office/drawing/2014/main" id="{069FF933-C5B9-DCE8-F252-AE90E7AA2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14AABD49-1F21-BA3E-0EFC-08E9DFCC25CB}"/>
              </a:ext>
            </a:extLst>
          </p:cNvPr>
          <p:cNvSpPr/>
          <p:nvPr/>
        </p:nvSpPr>
        <p:spPr>
          <a:xfrm>
            <a:off x="6479280" y="1570077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1.8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141FFF-E874-A6CE-6202-FA40F99A1523}"/>
              </a:ext>
            </a:extLst>
          </p:cNvPr>
          <p:cNvSpPr/>
          <p:nvPr/>
        </p:nvSpPr>
        <p:spPr>
          <a:xfrm>
            <a:off x="9275051" y="1570077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</a:t>
            </a:r>
            <a:r>
              <a:rPr lang="pt-BR" sz="1400" dirty="0" err="1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SpeedTip</a:t>
            </a:r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1.5</a:t>
            </a:r>
          </a:p>
        </p:txBody>
      </p:sp>
    </p:spTree>
    <p:extLst>
      <p:ext uri="{BB962C8B-B14F-4D97-AF65-F5344CB8AC3E}">
        <p14:creationId xmlns:p14="http://schemas.microsoft.com/office/powerpoint/2010/main" val="425358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2623E-CD04-2770-A7AF-42F43204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4A78909-E8AF-74F4-9D61-61A69E16128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14507" y="-354586"/>
            <a:ext cx="4310577" cy="806791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6BE3A47-531F-AD91-E4D2-20E13EA3C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636" y="3059861"/>
            <a:ext cx="3895987" cy="814477"/>
          </a:xfrm>
        </p:spPr>
        <p:txBody>
          <a:bodyPr vert="horz" anchor="ctr">
            <a:normAutofit fontScale="90000"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Old Standard TT" panose="00000500000000000000" pitchFamily="2" charset="0"/>
              </a:rPr>
              <a:t>Mandible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F7929F-5C89-6352-D669-168AB9D5E0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2275" y="260350"/>
            <a:ext cx="1346200" cy="246543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40D4756C-7454-EEA5-ECCD-29B8E1C282B0}"/>
              </a:ext>
            </a:extLst>
          </p:cNvPr>
          <p:cNvSpPr/>
          <p:nvPr/>
        </p:nvSpPr>
        <p:spPr>
          <a:xfrm>
            <a:off x="4436623" y="2100595"/>
            <a:ext cx="2733008" cy="2733008"/>
          </a:xfrm>
          <a:prstGeom prst="ellipse">
            <a:avLst/>
          </a:prstGeom>
          <a:solidFill>
            <a:schemeClr val="tx1"/>
          </a:solidFill>
          <a:ln>
            <a:solidFill>
              <a:srgbClr val="DEB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6F048AE-C4B3-543A-9A04-74F3A0745F0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6341" y="1826741"/>
            <a:ext cx="3557729" cy="272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79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8E5396E-9932-1549-DEC8-4F458142F7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1DC20761-6704-4716-B140-3569871DBC85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C5C3E2DE-07D9-0F0E-AA04-6DE5F1A29C75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das placas de sistema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10" name="Straight Connector 305">
            <a:extLst>
              <a:ext uri="{FF2B5EF4-FFF2-40B4-BE49-F238E27FC236}">
                <a16:creationId xmlns:a16="http://schemas.microsoft.com/office/drawing/2014/main" id="{FABFA46E-F80F-7A83-E327-4DE663EB7E76}"/>
              </a:ext>
            </a:extLst>
          </p:cNvPr>
          <p:cNvCxnSpPr>
            <a:cxnSpLocks/>
          </p:cNvCxnSpPr>
          <p:nvPr/>
        </p:nvCxnSpPr>
        <p:spPr>
          <a:xfrm>
            <a:off x="6096000" y="1752153"/>
            <a:ext cx="0" cy="341545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30">
            <a:extLst>
              <a:ext uri="{FF2B5EF4-FFF2-40B4-BE49-F238E27FC236}">
                <a16:creationId xmlns:a16="http://schemas.microsoft.com/office/drawing/2014/main" id="{D86ED803-FB42-2F0A-CEC9-A4401EB7E649}"/>
              </a:ext>
            </a:extLst>
          </p:cNvPr>
          <p:cNvSpPr/>
          <p:nvPr/>
        </p:nvSpPr>
        <p:spPr>
          <a:xfrm>
            <a:off x="2446791" y="5634701"/>
            <a:ext cx="729841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*Material </a:t>
            </a:r>
            <a:r>
              <a:rPr lang="pt-BR" sz="1000" dirty="0" err="1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semi-rígido</a:t>
            </a:r>
            <a:r>
              <a:rPr lang="pt-BR" sz="10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é mais fácil de moldar do que material rígido com a mesma geometria de placa.</a:t>
            </a:r>
          </a:p>
        </p:txBody>
      </p:sp>
      <p:pic>
        <p:nvPicPr>
          <p:cNvPr id="13" name="Grafik 10">
            <a:extLst>
              <a:ext uri="{FF2B5EF4-FFF2-40B4-BE49-F238E27FC236}">
                <a16:creationId xmlns:a16="http://schemas.microsoft.com/office/drawing/2014/main" id="{5CB51C44-D27B-F090-F666-6F23501F52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5176" y="1353004"/>
            <a:ext cx="3674080" cy="2697941"/>
          </a:xfrm>
          <a:prstGeom prst="rect">
            <a:avLst/>
          </a:prstGeom>
        </p:spPr>
      </p:pic>
      <p:pic>
        <p:nvPicPr>
          <p:cNvPr id="14" name="Grafik 3">
            <a:extLst>
              <a:ext uri="{FF2B5EF4-FFF2-40B4-BE49-F238E27FC236}">
                <a16:creationId xmlns:a16="http://schemas.microsoft.com/office/drawing/2014/main" id="{3243449D-BE42-AAD3-D43A-8B6A6ECA826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0840" y="4023378"/>
            <a:ext cx="3037055" cy="304722"/>
          </a:xfrm>
          <a:prstGeom prst="rect">
            <a:avLst/>
          </a:prstGeom>
        </p:spPr>
      </p:pic>
      <p:pic>
        <p:nvPicPr>
          <p:cNvPr id="15" name="Grafik 9">
            <a:extLst>
              <a:ext uri="{FF2B5EF4-FFF2-40B4-BE49-F238E27FC236}">
                <a16:creationId xmlns:a16="http://schemas.microsoft.com/office/drawing/2014/main" id="{B8A1954A-83D4-3DC3-E20E-D2F887454F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3097" y="1674672"/>
            <a:ext cx="4407691" cy="243904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C31E1A4-5E54-BDB4-90CB-E8255DEBC32F}"/>
              </a:ext>
            </a:extLst>
          </p:cNvPr>
          <p:cNvSpPr/>
          <p:nvPr/>
        </p:nvSpPr>
        <p:spPr>
          <a:xfrm>
            <a:off x="1760463" y="4358119"/>
            <a:ext cx="3355270" cy="8272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TriLock Espessura da placa 1,3 mm,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semi-rígida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*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475E0D6-D7EC-97D6-EBCC-8F155AEB4C42}"/>
              </a:ext>
            </a:extLst>
          </p:cNvPr>
          <p:cNvSpPr/>
          <p:nvPr/>
        </p:nvSpPr>
        <p:spPr>
          <a:xfrm>
            <a:off x="6907258" y="4363748"/>
            <a:ext cx="4021998" cy="8272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de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fixaçãoEspessura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da placa 1,0 mm,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semi-rígida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* (azul), rígida (dourada)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28BA919-6AA8-DADF-4E5F-CE30792BB686}"/>
              </a:ext>
            </a:extLst>
          </p:cNvPr>
          <p:cNvCxnSpPr>
            <a:cxnSpLocks/>
          </p:cNvCxnSpPr>
          <p:nvPr/>
        </p:nvCxnSpPr>
        <p:spPr>
          <a:xfrm>
            <a:off x="3806630" y="5468642"/>
            <a:ext cx="4578741" cy="0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5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7343940-456B-2152-B735-F50DB46F29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695E849E-50C7-04C0-155A-D018EC3A7321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68966371-91FA-CE96-820C-54EAD2CFF0AF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dos parafusos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70D4E8D-F9A9-963C-D9B1-4BAA8285E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4196" y="1752153"/>
            <a:ext cx="4252595" cy="215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6">
            <a:extLst>
              <a:ext uri="{FF2B5EF4-FFF2-40B4-BE49-F238E27FC236}">
                <a16:creationId xmlns:a16="http://schemas.microsoft.com/office/drawing/2014/main" id="{F989202F-6578-88BB-9D23-39A57F1FF49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8336" y="1752153"/>
            <a:ext cx="4539374" cy="2320287"/>
          </a:xfrm>
          <a:prstGeom prst="rect">
            <a:avLst/>
          </a:prstGeom>
        </p:spPr>
      </p:pic>
      <p:cxnSp>
        <p:nvCxnSpPr>
          <p:cNvPr id="13" name="Straight Connector 305">
            <a:extLst>
              <a:ext uri="{FF2B5EF4-FFF2-40B4-BE49-F238E27FC236}">
                <a16:creationId xmlns:a16="http://schemas.microsoft.com/office/drawing/2014/main" id="{51118E14-031B-7CDF-1B0B-97B274AB2EF1}"/>
              </a:ext>
            </a:extLst>
          </p:cNvPr>
          <p:cNvCxnSpPr>
            <a:cxnSpLocks/>
          </p:cNvCxnSpPr>
          <p:nvPr/>
        </p:nvCxnSpPr>
        <p:spPr>
          <a:xfrm>
            <a:off x="6096000" y="1752153"/>
            <a:ext cx="0" cy="341545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30">
            <a:extLst>
              <a:ext uri="{FF2B5EF4-FFF2-40B4-BE49-F238E27FC236}">
                <a16:creationId xmlns:a16="http://schemas.microsoft.com/office/drawing/2014/main" id="{10BC9697-9F28-1E9D-E6A1-A002C2FF9445}"/>
              </a:ext>
            </a:extLst>
          </p:cNvPr>
          <p:cNvSpPr/>
          <p:nvPr/>
        </p:nvSpPr>
        <p:spPr>
          <a:xfrm>
            <a:off x="2446791" y="5634701"/>
            <a:ext cx="729841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*Material </a:t>
            </a:r>
            <a:r>
              <a:rPr lang="pt-BR" sz="1000" dirty="0" err="1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semi-rígido</a:t>
            </a:r>
            <a:r>
              <a:rPr lang="pt-BR" sz="1000" dirty="0">
                <a:solidFill>
                  <a:srgbClr val="00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é mais fácil de moldar do que material rígido com a mesma geometria de placa.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CE88C50-0275-DCD0-1382-FB75023604A6}"/>
              </a:ext>
            </a:extLst>
          </p:cNvPr>
          <p:cNvSpPr/>
          <p:nvPr/>
        </p:nvSpPr>
        <p:spPr>
          <a:xfrm>
            <a:off x="1450244" y="4358119"/>
            <a:ext cx="3600498" cy="8272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da Ponte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TriLock</a:t>
            </a:r>
            <a:endParaRPr lang="pt-BR" sz="160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Espessura da placa 2,0 mm </a:t>
            </a:r>
          </a:p>
          <a:p>
            <a:pPr algn="ctr"/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semi-rígida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*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37BF3B-1BB5-0766-142E-A366E9CF104D}"/>
              </a:ext>
            </a:extLst>
          </p:cNvPr>
          <p:cNvSpPr/>
          <p:nvPr/>
        </p:nvSpPr>
        <p:spPr>
          <a:xfrm>
            <a:off x="6815210" y="4358119"/>
            <a:ext cx="4150456" cy="8272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de mandíbula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TriLock</a:t>
            </a:r>
            <a:endParaRPr lang="pt-BR" sz="160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Espessura da placa 1,5 mm </a:t>
            </a:r>
          </a:p>
          <a:p>
            <a:pPr algn="ctr"/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semi-rígida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*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B3A40AD2-FE5B-BB7E-BEB3-66C2AC05E467}"/>
              </a:ext>
            </a:extLst>
          </p:cNvPr>
          <p:cNvCxnSpPr>
            <a:cxnSpLocks/>
          </p:cNvCxnSpPr>
          <p:nvPr/>
        </p:nvCxnSpPr>
        <p:spPr>
          <a:xfrm>
            <a:off x="3806630" y="5468642"/>
            <a:ext cx="4578741" cy="0"/>
          </a:xfrm>
          <a:prstGeom prst="line">
            <a:avLst/>
          </a:prstGeom>
          <a:ln w="1270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90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7537B828-BAF3-209A-8A41-3ED1A3D9A5F7}"/>
              </a:ext>
            </a:extLst>
          </p:cNvPr>
          <p:cNvSpPr/>
          <p:nvPr/>
        </p:nvSpPr>
        <p:spPr>
          <a:xfrm>
            <a:off x="3666971" y="2107366"/>
            <a:ext cx="1264502" cy="14864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M2-4692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B32E102-016D-2D0E-9D82-684A1F899549}"/>
              </a:ext>
            </a:extLst>
          </p:cNvPr>
          <p:cNvSpPr/>
          <p:nvPr/>
        </p:nvSpPr>
        <p:spPr>
          <a:xfrm>
            <a:off x="3666971" y="4981304"/>
            <a:ext cx="1264502" cy="12531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M2-4658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0F22DD19-51D9-3439-E068-7784F5A6D46B}"/>
              </a:ext>
            </a:extLst>
          </p:cNvPr>
          <p:cNvSpPr/>
          <p:nvPr/>
        </p:nvSpPr>
        <p:spPr>
          <a:xfrm>
            <a:off x="5795571" y="4885510"/>
            <a:ext cx="1264502" cy="1378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M2-4654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B52B4B3A-D770-3944-029F-265DF59FF58A}"/>
              </a:ext>
            </a:extLst>
          </p:cNvPr>
          <p:cNvSpPr/>
          <p:nvPr/>
        </p:nvSpPr>
        <p:spPr>
          <a:xfrm>
            <a:off x="7997872" y="4981304"/>
            <a:ext cx="1264502" cy="1282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M2-4656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62561B6-7E87-E213-497F-42E483B18A09}"/>
              </a:ext>
            </a:extLst>
          </p:cNvPr>
          <p:cNvSpPr/>
          <p:nvPr/>
        </p:nvSpPr>
        <p:spPr>
          <a:xfrm>
            <a:off x="10344359" y="4885509"/>
            <a:ext cx="1264502" cy="17131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M2-4660</a:t>
            </a:r>
          </a:p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M2-4662</a:t>
            </a:r>
          </a:p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M2-4664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30BA0A-E716-2146-A362-E3BEA34DBC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044A5A41-08B3-63CE-DCB0-CE8B013BD3AA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5022413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56E2D8CE-B039-E555-DEB2-800E6734C38F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condilares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E825123C-BFDD-E7CD-7E76-7DF020B72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048641"/>
              </p:ext>
            </p:extLst>
          </p:nvPr>
        </p:nvGraphicFramePr>
        <p:xfrm>
          <a:off x="594565" y="4311658"/>
          <a:ext cx="10273732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76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5881056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 de côndilo TriLock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1,3 mm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284349F6-43B2-C199-053A-645A1F619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28888"/>
              </p:ext>
            </p:extLst>
          </p:nvPr>
        </p:nvGraphicFramePr>
        <p:xfrm>
          <a:off x="594565" y="1641220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 de côndilo TriLock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1,5 mm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32" name="Imagem 31">
            <a:extLst>
              <a:ext uri="{FF2B5EF4-FFF2-40B4-BE49-F238E27FC236}">
                <a16:creationId xmlns:a16="http://schemas.microsoft.com/office/drawing/2014/main" id="{BAE59195-E267-2D31-54C9-732EC409A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2910" y="3762671"/>
            <a:ext cx="1952625" cy="1952625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A1FE0738-FB49-16FF-6F82-929B37B8F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1510" y="3762671"/>
            <a:ext cx="1952625" cy="1952625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7D86B4AD-FBE6-D025-C65B-9CD3D740B6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811" y="3734368"/>
            <a:ext cx="1952625" cy="1952625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971C426B-235B-88A8-BC44-C70B78B07E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9338" y="3762671"/>
            <a:ext cx="1952625" cy="1952625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56020E58-79E5-03C7-2EB7-93A936CD1C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2910" y="1171008"/>
            <a:ext cx="1952625" cy="195262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E8CCB0A-FD2C-A5BD-F4CA-A46274A60A2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9262" y="853704"/>
            <a:ext cx="3319565" cy="264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ECDA9-2224-A9F1-2212-C889F2C07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8CDF31F-F246-EDB7-C811-4F99E68B4F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7872" y="3695688"/>
            <a:ext cx="3651522" cy="2908310"/>
          </a:xfrm>
          <a:prstGeom prst="rect">
            <a:avLst/>
          </a:prstGeom>
        </p:spPr>
      </p:pic>
      <p:sp>
        <p:nvSpPr>
          <p:cNvPr id="46" name="Retângulo 45">
            <a:extLst>
              <a:ext uri="{FF2B5EF4-FFF2-40B4-BE49-F238E27FC236}">
                <a16:creationId xmlns:a16="http://schemas.microsoft.com/office/drawing/2014/main" id="{D7D15E3E-D927-7BAC-4C84-0E347F85B83C}"/>
              </a:ext>
            </a:extLst>
          </p:cNvPr>
          <p:cNvSpPr/>
          <p:nvPr/>
        </p:nvSpPr>
        <p:spPr>
          <a:xfrm>
            <a:off x="3666971" y="2107366"/>
            <a:ext cx="1264502" cy="14864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M2-4894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328C4B1-D1EB-6079-042E-66CB498D3EB3}"/>
              </a:ext>
            </a:extLst>
          </p:cNvPr>
          <p:cNvSpPr/>
          <p:nvPr/>
        </p:nvSpPr>
        <p:spPr>
          <a:xfrm>
            <a:off x="3666971" y="4981304"/>
            <a:ext cx="1264502" cy="12531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M2-4300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AD1562FA-14E1-769B-E020-DE58AC908BAE}"/>
              </a:ext>
            </a:extLst>
          </p:cNvPr>
          <p:cNvSpPr/>
          <p:nvPr/>
        </p:nvSpPr>
        <p:spPr>
          <a:xfrm>
            <a:off x="5795571" y="2215071"/>
            <a:ext cx="1264502" cy="1378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M2-4852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D9F531F3-4258-9399-FA2A-C66E90C6305C}"/>
              </a:ext>
            </a:extLst>
          </p:cNvPr>
          <p:cNvSpPr/>
          <p:nvPr/>
        </p:nvSpPr>
        <p:spPr>
          <a:xfrm>
            <a:off x="7997872" y="2310865"/>
            <a:ext cx="1264502" cy="1282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M2-4854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0A753F3-B53A-2C0F-30A1-C2453F8729B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CBF90F57-E87C-CE20-44C8-C3D503A87B6A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4687690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50FCFA75-BA16-8471-014E-860FD95D1327}"/>
              </a:ext>
            </a:extLst>
          </p:cNvPr>
          <p:cNvSpPr txBox="1">
            <a:spLocks/>
          </p:cNvSpPr>
          <p:nvPr/>
        </p:nvSpPr>
        <p:spPr>
          <a:xfrm>
            <a:off x="254001" y="623517"/>
            <a:ext cx="4303932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condilares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EA1CE0F7-CF1A-EDB2-52BF-CA9CC5062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530017"/>
              </p:ext>
            </p:extLst>
          </p:nvPr>
        </p:nvGraphicFramePr>
        <p:xfrm>
          <a:off x="594565" y="4311658"/>
          <a:ext cx="4558460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44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865816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da mandíbula, retas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15" name="Imagem 14">
            <a:extLst>
              <a:ext uri="{FF2B5EF4-FFF2-40B4-BE49-F238E27FC236}">
                <a16:creationId xmlns:a16="http://schemas.microsoft.com/office/drawing/2014/main" id="{3E947CCA-1348-4A59-9AD8-485885F00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1541" y="3762671"/>
            <a:ext cx="1952625" cy="1952625"/>
          </a:xfrm>
          <a:prstGeom prst="rect">
            <a:avLst/>
          </a:prstGeom>
        </p:spPr>
      </p:pic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03395E37-DEBC-1D6B-93CE-C69B2EC8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797554"/>
              </p:ext>
            </p:extLst>
          </p:nvPr>
        </p:nvGraphicFramePr>
        <p:xfrm>
          <a:off x="594565" y="1641220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condilares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A06E9037-9096-4D88-055F-69F6DC530F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2909" y="1171008"/>
            <a:ext cx="1952625" cy="19526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DA4E48C-C9DE-9806-4DA7-EA1F610726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183" y="1213895"/>
            <a:ext cx="1952625" cy="195262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ED5E595-AF96-6DEB-2F3E-880D0CD64F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810" y="1213895"/>
            <a:ext cx="195262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3D30F-2A15-5C6A-D15D-F50A51F6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3DEC82DF-53DD-EA60-D68B-1343DAE2D2EA}"/>
              </a:ext>
            </a:extLst>
          </p:cNvPr>
          <p:cNvSpPr/>
          <p:nvPr/>
        </p:nvSpPr>
        <p:spPr>
          <a:xfrm>
            <a:off x="10164005" y="2310865"/>
            <a:ext cx="1264502" cy="1282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M2-4884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16C6E28-5A9B-CCEC-62D2-8F51C9F14A73}"/>
              </a:ext>
            </a:extLst>
          </p:cNvPr>
          <p:cNvSpPr/>
          <p:nvPr/>
        </p:nvSpPr>
        <p:spPr>
          <a:xfrm>
            <a:off x="5831736" y="5017516"/>
            <a:ext cx="1264502" cy="15801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M2-4300 / M2-4384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43B2B070-3DB9-AFA4-7A43-8952814FAE56}"/>
              </a:ext>
            </a:extLst>
          </p:cNvPr>
          <p:cNvSpPr/>
          <p:nvPr/>
        </p:nvSpPr>
        <p:spPr>
          <a:xfrm>
            <a:off x="3666971" y="2107366"/>
            <a:ext cx="1264502" cy="14864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M2-4886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EC1E844-B718-EA56-4011-4240CEA8C62C}"/>
              </a:ext>
            </a:extLst>
          </p:cNvPr>
          <p:cNvSpPr/>
          <p:nvPr/>
        </p:nvSpPr>
        <p:spPr>
          <a:xfrm>
            <a:off x="3666971" y="4981304"/>
            <a:ext cx="1264502" cy="12531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M2-4300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D74FA807-FB0F-C5AD-FA20-42E163A24D1D}"/>
              </a:ext>
            </a:extLst>
          </p:cNvPr>
          <p:cNvSpPr/>
          <p:nvPr/>
        </p:nvSpPr>
        <p:spPr>
          <a:xfrm>
            <a:off x="5795571" y="2215071"/>
            <a:ext cx="1264502" cy="1378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M2-4882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C7BC5AB-CEF4-CD5A-F84F-A4B83C6DCD8F}"/>
              </a:ext>
            </a:extLst>
          </p:cNvPr>
          <p:cNvSpPr/>
          <p:nvPr/>
        </p:nvSpPr>
        <p:spPr>
          <a:xfrm>
            <a:off x="7997872" y="2310865"/>
            <a:ext cx="1264502" cy="1282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M2-4884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6FCC81-8CE9-C745-023A-0B3B59DBC46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7C631286-D511-7E84-DDD3-9295A4875544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832930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2F5C5F8F-0AF7-0ABE-0B6A-D716FB664421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no corpo: fraturas simples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584C2342-1CFA-3901-C9D8-899A65F7C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45085"/>
              </p:ext>
            </p:extLst>
          </p:nvPr>
        </p:nvGraphicFramePr>
        <p:xfrm>
          <a:off x="594565" y="4311658"/>
          <a:ext cx="4558460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44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865816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da mandíbula, retas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1E71F13D-4201-C439-3886-644FD65BC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944336"/>
              </p:ext>
            </p:extLst>
          </p:nvPr>
        </p:nvGraphicFramePr>
        <p:xfrm>
          <a:off x="594565" y="1641220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de compressão de rede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E730E46D-0CF9-D7F6-6BCE-89727707A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1541" y="1213894"/>
            <a:ext cx="1952625" cy="195262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EAEF2F1-15E3-6CAA-D606-086DA0CC7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7675" y="1213894"/>
            <a:ext cx="1952625" cy="195262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36BE50B-BD9B-2F06-95C1-E7475D2DB0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810" y="1204548"/>
            <a:ext cx="1952625" cy="195262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FA3CA1C-AF95-9D4B-F554-B45F221F9B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1541" y="3884333"/>
            <a:ext cx="1952625" cy="1952625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57AFE09-493C-B257-6940-0AEFB8140F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7675" y="3884333"/>
            <a:ext cx="1952625" cy="195262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AAF8A7C-9B59-739F-6FAD-DEF2560F7E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9944" y="1204547"/>
            <a:ext cx="1952625" cy="195262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DABBA745-D168-D801-A41D-9D5B55B0975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91" y="3256766"/>
            <a:ext cx="3671672" cy="367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7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EE51-BBB0-279F-2A2A-1C45D470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45BB7F31-E263-5110-82AE-970E3E57DD8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2485" y="3567376"/>
            <a:ext cx="3799331" cy="302905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79906A0-41D6-7105-FF02-CD3411E174F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5A5239F7-68E4-4D15-3C3D-7CB55CA7861F}"/>
              </a:ext>
            </a:extLst>
          </p:cNvPr>
          <p:cNvCxnSpPr>
            <a:cxnSpLocks/>
          </p:cNvCxnSpPr>
          <p:nvPr/>
        </p:nvCxnSpPr>
        <p:spPr>
          <a:xfrm flipH="1">
            <a:off x="-675496" y="1097959"/>
            <a:ext cx="780781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505EB5D9-88C2-A58E-664B-FE85BAF46229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no corpo: fraturas cominutas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2B63F77A-28E2-C98F-AE6A-DF86DC8AB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111522"/>
              </p:ext>
            </p:extLst>
          </p:nvPr>
        </p:nvGraphicFramePr>
        <p:xfrm>
          <a:off x="232615" y="1995212"/>
          <a:ext cx="3417629" cy="125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Grade Mediana TriLock</a:t>
                      </a:r>
                    </a:p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</a:t>
                      </a:r>
                      <a:r>
                        <a:rPr lang="pt-BR" sz="1400" b="0" i="0" dirty="0" err="1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Paramedianas</a:t>
                      </a:r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, Grade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1,3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Semi-rígida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39B38CCD-5CC3-9BBB-8E35-4D6325EB9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26696"/>
              </p:ext>
            </p:extLst>
          </p:nvPr>
        </p:nvGraphicFramePr>
        <p:xfrm>
          <a:off x="227013" y="4039064"/>
          <a:ext cx="3417629" cy="125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Grade Mediana</a:t>
                      </a:r>
                    </a:p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</a:t>
                      </a:r>
                      <a:r>
                        <a:rPr lang="pt-BR" sz="1400" b="0" i="0" dirty="0" err="1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Paramedianas</a:t>
                      </a:r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, Grade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Semi-rígida</a:t>
                      </a:r>
                      <a:endParaRPr lang="pt-BR" sz="11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23" name="Imagem 22">
            <a:extLst>
              <a:ext uri="{FF2B5EF4-FFF2-40B4-BE49-F238E27FC236}">
                <a16:creationId xmlns:a16="http://schemas.microsoft.com/office/drawing/2014/main" id="{05E6813E-AC2B-107A-26CC-48AFFEE00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2655" y="1693128"/>
            <a:ext cx="2933700" cy="168592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23469E0-0463-3DDD-ACE9-0B1416487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8925" y="1693127"/>
            <a:ext cx="2933700" cy="168592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30284B9-B5A0-585D-BD40-85110A89FF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2655" y="3821173"/>
            <a:ext cx="2933700" cy="168592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3C4B88D8-9538-E0C8-F78D-2DC36922DCF2}"/>
              </a:ext>
            </a:extLst>
          </p:cNvPr>
          <p:cNvSpPr txBox="1"/>
          <p:nvPr/>
        </p:nvSpPr>
        <p:spPr>
          <a:xfrm>
            <a:off x="6733545" y="1452042"/>
            <a:ext cx="2677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M2-4621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69248AB-E769-47DC-2D32-68284429EE03}"/>
              </a:ext>
            </a:extLst>
          </p:cNvPr>
          <p:cNvSpPr txBox="1"/>
          <p:nvPr/>
        </p:nvSpPr>
        <p:spPr>
          <a:xfrm>
            <a:off x="3625220" y="1451755"/>
            <a:ext cx="2677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M2-4613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4170A80-5E46-00A6-0909-A690DEFCF242}"/>
              </a:ext>
            </a:extLst>
          </p:cNvPr>
          <p:cNvSpPr txBox="1"/>
          <p:nvPr/>
        </p:nvSpPr>
        <p:spPr>
          <a:xfrm>
            <a:off x="3676020" y="3559563"/>
            <a:ext cx="2677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M2-4829</a:t>
            </a:r>
          </a:p>
        </p:txBody>
      </p:sp>
    </p:spTree>
    <p:extLst>
      <p:ext uri="{BB962C8B-B14F-4D97-AF65-F5344CB8AC3E}">
        <p14:creationId xmlns:p14="http://schemas.microsoft.com/office/powerpoint/2010/main" val="286599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1A98-73DE-64BF-8800-6A2E39C7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9ACB0F8-518E-7793-6E2B-4EE1982B57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4CFD18CB-4F11-D7CA-9913-C26B026DCCA4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8680013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260B5072-F53D-F6C8-6700-525C98902189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no corpo: fraturas cominutas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11BC9AC9-DDAB-E391-545E-32B39B959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408315"/>
              </p:ext>
            </p:extLst>
          </p:nvPr>
        </p:nvGraphicFramePr>
        <p:xfrm>
          <a:off x="232615" y="2904107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TriLock, anatômicas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1,5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70FB5FE-5F5A-C8DD-F52A-6EAEF7850978}"/>
              </a:ext>
            </a:extLst>
          </p:cNvPr>
          <p:cNvSpPr/>
          <p:nvPr/>
        </p:nvSpPr>
        <p:spPr>
          <a:xfrm>
            <a:off x="3219998" y="1503457"/>
            <a:ext cx="5408031" cy="2084130"/>
          </a:xfrm>
          <a:prstGeom prst="roundRect">
            <a:avLst>
              <a:gd name="adj" fmla="val 24437"/>
            </a:avLst>
          </a:prstGeom>
          <a:solidFill>
            <a:schemeClr val="bg1"/>
          </a:solidFill>
          <a:ln>
            <a:solidFill>
              <a:srgbClr val="DEB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3D20CCF-0995-245E-FFF7-C7A6C380B3EC}"/>
              </a:ext>
            </a:extLst>
          </p:cNvPr>
          <p:cNvSpPr/>
          <p:nvPr/>
        </p:nvSpPr>
        <p:spPr>
          <a:xfrm>
            <a:off x="3219997" y="3843060"/>
            <a:ext cx="5408031" cy="2084130"/>
          </a:xfrm>
          <a:prstGeom prst="roundRect">
            <a:avLst>
              <a:gd name="adj" fmla="val 24437"/>
            </a:avLst>
          </a:prstGeom>
          <a:solidFill>
            <a:schemeClr val="bg1"/>
          </a:solidFill>
          <a:ln>
            <a:solidFill>
              <a:srgbClr val="DEB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C168504-BF25-E1CB-AE58-EE30D360EFD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3619" y="1860710"/>
            <a:ext cx="5006529" cy="151927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B952480-5C15-6F1E-6C8E-545974DAAE5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1492" y="4141231"/>
            <a:ext cx="4982914" cy="148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1ABD-E12F-10FF-5E8E-2E3CA4F7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C07D708-2FA0-3BBB-F67C-4B525DCE40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538F82A0-3CF0-3052-5945-2F1C5BFF9024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C8216DF7-2A19-D5E6-4BFE-50358C004C55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de ramo e ângulo </a:t>
            </a: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1B5B2A34-FFD7-5A60-760F-AD45BD99D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23082"/>
              </p:ext>
            </p:extLst>
          </p:nvPr>
        </p:nvGraphicFramePr>
        <p:xfrm>
          <a:off x="232615" y="1995212"/>
          <a:ext cx="3417629" cy="125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TriLock,</a:t>
                      </a:r>
                    </a:p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Anatômicas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1,5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Semi-rígida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7FA7DA09-B7B4-9EA9-89F7-F8B5029F3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40385"/>
              </p:ext>
            </p:extLst>
          </p:nvPr>
        </p:nvGraphicFramePr>
        <p:xfrm>
          <a:off x="227013" y="4039064"/>
          <a:ext cx="3417629" cy="125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do Ângulo da Mandíbula TriLock, Grade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1,3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Semi-rígida</a:t>
                      </a:r>
                      <a:endParaRPr lang="pt-BR" sz="11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14" name="Imagem 13">
            <a:extLst>
              <a:ext uri="{FF2B5EF4-FFF2-40B4-BE49-F238E27FC236}">
                <a16:creationId xmlns:a16="http://schemas.microsoft.com/office/drawing/2014/main" id="{0E8A69D7-B022-F8C1-47A4-D5ED9BF705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2180" y="1734622"/>
            <a:ext cx="3221041" cy="1666984"/>
          </a:xfrm>
          <a:prstGeom prst="roundRect">
            <a:avLst>
              <a:gd name="adj" fmla="val 16012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F8EAFF93-BCE7-F096-4FC9-5B117E93012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7355" y="1729245"/>
            <a:ext cx="3237173" cy="1677738"/>
          </a:xfrm>
          <a:prstGeom prst="roundRect">
            <a:avLst>
              <a:gd name="adj" fmla="val 15845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DC53560E-28D8-657F-74E5-3720C65C543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8688" y="3836098"/>
            <a:ext cx="3221040" cy="1656075"/>
          </a:xfrm>
          <a:prstGeom prst="roundRect">
            <a:avLst>
              <a:gd name="adj" fmla="val 17437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B3F92136-425C-40F8-8290-059E9DB4BCF8}"/>
              </a:ext>
            </a:extLst>
          </p:cNvPr>
          <p:cNvSpPr txBox="1"/>
          <p:nvPr/>
        </p:nvSpPr>
        <p:spPr>
          <a:xfrm>
            <a:off x="3666495" y="1442570"/>
            <a:ext cx="30391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M2-4638 (direita) / M2-4637 (esquerda)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D412006-9664-234F-D5A8-B9F7A8C6B557}"/>
              </a:ext>
            </a:extLst>
          </p:cNvPr>
          <p:cNvSpPr txBox="1"/>
          <p:nvPr/>
        </p:nvSpPr>
        <p:spPr>
          <a:xfrm>
            <a:off x="6942134" y="1462588"/>
            <a:ext cx="30391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M2-4652 (direita) / M2-4651 (esquerda)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E3E3E47-2C3F-9E6B-5ED6-A368E04647F8}"/>
              </a:ext>
            </a:extLst>
          </p:cNvPr>
          <p:cNvSpPr txBox="1"/>
          <p:nvPr/>
        </p:nvSpPr>
        <p:spPr>
          <a:xfrm>
            <a:off x="3666495" y="5564334"/>
            <a:ext cx="30391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M2-4618 (direita) / M2-4617 (esquerda)</a:t>
            </a:r>
          </a:p>
        </p:txBody>
      </p:sp>
    </p:spTree>
    <p:extLst>
      <p:ext uri="{BB962C8B-B14F-4D97-AF65-F5344CB8AC3E}">
        <p14:creationId xmlns:p14="http://schemas.microsoft.com/office/powerpoint/2010/main" val="296940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64E61-87EA-83BF-57EF-976602E0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F120D69-FA52-57F7-FCEC-111C2C87799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940E1EBF-AE23-19E0-47AF-8F495837C952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AFA304F9-2A92-7D90-525B-95B2776EF970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de ramo e ângulo </a:t>
            </a: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58E3F538-AA4D-D11A-8A64-77C37D060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972920"/>
              </p:ext>
            </p:extLst>
          </p:nvPr>
        </p:nvGraphicFramePr>
        <p:xfrm>
          <a:off x="232615" y="1995212"/>
          <a:ext cx="3417629" cy="125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do ângulo da mandíbula, grade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DCA89841-99BF-029A-8C5D-B605F412C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588563"/>
              </p:ext>
            </p:extLst>
          </p:nvPr>
        </p:nvGraphicFramePr>
        <p:xfrm>
          <a:off x="227013" y="4039064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da mandíbula, retas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Rígido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E6296873-0383-5FAB-42F9-5DF5D56638F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579" y="1749876"/>
            <a:ext cx="3272485" cy="1616596"/>
          </a:xfrm>
          <a:prstGeom prst="roundRect">
            <a:avLst>
              <a:gd name="adj" fmla="val 16093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BA017A9-203E-1E24-DCFA-0737B5D39A9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8926" y="1758204"/>
            <a:ext cx="3194728" cy="1608268"/>
          </a:xfrm>
          <a:prstGeom prst="roundRect">
            <a:avLst>
              <a:gd name="adj" fmla="val 14549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25E2BDC-5425-7CF0-81B3-415A2AFF5FE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579" y="3765691"/>
            <a:ext cx="3272485" cy="1644721"/>
          </a:xfrm>
          <a:prstGeom prst="roundRect">
            <a:avLst>
              <a:gd name="adj" fmla="val 15788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56082E78-AF54-D52D-3662-860354E3389C}"/>
              </a:ext>
            </a:extLst>
          </p:cNvPr>
          <p:cNvSpPr txBox="1"/>
          <p:nvPr/>
        </p:nvSpPr>
        <p:spPr>
          <a:xfrm>
            <a:off x="3718243" y="1468547"/>
            <a:ext cx="2677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M2-4856 (direita) / M2-4843 (esquerda)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82C32FC-E544-410E-3069-06DEDED6CFD0}"/>
              </a:ext>
            </a:extLst>
          </p:cNvPr>
          <p:cNvSpPr txBox="1"/>
          <p:nvPr/>
        </p:nvSpPr>
        <p:spPr>
          <a:xfrm>
            <a:off x="7223443" y="1468547"/>
            <a:ext cx="2677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M2-4848 (direita) / M2-4847 (esquerda)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61BB91C-39F4-7582-4DD4-A1349D6498B8}"/>
              </a:ext>
            </a:extLst>
          </p:cNvPr>
          <p:cNvSpPr txBox="1"/>
          <p:nvPr/>
        </p:nvSpPr>
        <p:spPr>
          <a:xfrm>
            <a:off x="3718243" y="5410412"/>
            <a:ext cx="2677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M2-4324 / M2-4384</a:t>
            </a:r>
          </a:p>
        </p:txBody>
      </p:sp>
    </p:spTree>
    <p:extLst>
      <p:ext uri="{BB962C8B-B14F-4D97-AF65-F5344CB8AC3E}">
        <p14:creationId xmlns:p14="http://schemas.microsoft.com/office/powerpoint/2010/main" val="291047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8B03A8A-9A7F-5AB1-29FC-1C64D83027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F1C7D426-E28A-F162-993C-B6BFC3CCCF80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BB2A26D6-D229-75D7-1E7C-F45BE4D39E9D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Fraturas atróficas da mandíbula</a:t>
            </a:r>
          </a:p>
        </p:txBody>
      </p:sp>
      <p:cxnSp>
        <p:nvCxnSpPr>
          <p:cNvPr id="8" name="Conector Reto 3">
            <a:extLst>
              <a:ext uri="{FF2B5EF4-FFF2-40B4-BE49-F238E27FC236}">
                <a16:creationId xmlns:a16="http://schemas.microsoft.com/office/drawing/2014/main" id="{E0A551E8-C2FA-BCCB-D557-BC751821B71D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D1CA38BD-D64B-A0D0-8128-16348E68D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994662"/>
              </p:ext>
            </p:extLst>
          </p:nvPr>
        </p:nvGraphicFramePr>
        <p:xfrm>
          <a:off x="232615" y="2169867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</a:t>
                      </a:r>
                      <a:r>
                        <a:rPr lang="pt-BR" sz="1400" b="0" i="0" dirty="0" err="1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TriLock,Anatomica</a:t>
                      </a:r>
                      <a:endParaRPr lang="pt-BR" sz="1400" b="0" i="0" dirty="0">
                        <a:solidFill>
                          <a:srgbClr val="DEBE5C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1,5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BBC7704B-E287-3D98-948F-09B4CDB94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77250"/>
              </p:ext>
            </p:extLst>
          </p:nvPr>
        </p:nvGraphicFramePr>
        <p:xfrm>
          <a:off x="227013" y="4881874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TriLock </a:t>
                      </a:r>
                      <a:r>
                        <a:rPr lang="pt-BR" sz="1400" b="0" i="0" dirty="0" err="1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Pencilbone</a:t>
                      </a:r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, Grade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1,3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Semi-rígido</a:t>
                      </a:r>
                      <a:endParaRPr lang="pt-BR" sz="11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18" name="Imagem 17">
            <a:extLst>
              <a:ext uri="{FF2B5EF4-FFF2-40B4-BE49-F238E27FC236}">
                <a16:creationId xmlns:a16="http://schemas.microsoft.com/office/drawing/2014/main" id="{0D69F9ED-118A-C0DC-5A74-3C0595867E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9582" y="1353004"/>
            <a:ext cx="5312836" cy="2731702"/>
          </a:xfrm>
          <a:prstGeom prst="roundRect">
            <a:avLst>
              <a:gd name="adj" fmla="val 15219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0A8C689-0160-682A-3A46-F94BEC4F5A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9582" y="4415244"/>
            <a:ext cx="5936241" cy="2031234"/>
          </a:xfrm>
          <a:prstGeom prst="roundRect">
            <a:avLst>
              <a:gd name="adj" fmla="val 17120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A2C9D55-5F79-0306-E6B0-CF06A97540B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7827" y="1528241"/>
            <a:ext cx="2760648" cy="215690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112AFB1-51CC-78DF-7450-E3AC244C1DE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1168" y="4527945"/>
            <a:ext cx="2267307" cy="18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2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C8E3-52E2-BFB3-E987-F9D9A901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224FACC-2443-5D9B-CD79-AF53613853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D6DF22BF-9CA6-BE6C-F626-817F7C5A6E09}"/>
              </a:ext>
            </a:extLst>
          </p:cNvPr>
          <p:cNvCxnSpPr>
            <a:cxnSpLocks/>
          </p:cNvCxnSpPr>
          <p:nvPr/>
        </p:nvCxnSpPr>
        <p:spPr>
          <a:xfrm flipH="1">
            <a:off x="-990600" y="1083891"/>
            <a:ext cx="4949355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B2919710-F960-6785-B1BC-4091A21C1C30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Reconstrução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5E30F0B0-0A5E-7112-E471-390E1275A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263073"/>
              </p:ext>
            </p:extLst>
          </p:nvPr>
        </p:nvGraphicFramePr>
        <p:xfrm>
          <a:off x="225426" y="3104036"/>
          <a:ext cx="311784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199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TriLock, anatômicas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1,5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932D3A27-F87F-8156-FE2C-EBEB23DEA5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0906" y="1544265"/>
            <a:ext cx="6090187" cy="4112177"/>
          </a:xfrm>
          <a:prstGeom prst="roundRect">
            <a:avLst>
              <a:gd name="adj" fmla="val 13690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2567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AE2E-96C4-341D-9535-31BD20970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8A061A2-C031-BAE8-ECAD-2D54574305A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117987B3-0DFF-81F0-31BA-FB2F18D2C8F1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Reconstrução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" name="Conector Reto 3">
            <a:extLst>
              <a:ext uri="{FF2B5EF4-FFF2-40B4-BE49-F238E27FC236}">
                <a16:creationId xmlns:a16="http://schemas.microsoft.com/office/drawing/2014/main" id="{0ED17873-582C-0B0E-AD52-A9D6452C9C5E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3">
            <a:extLst>
              <a:ext uri="{FF2B5EF4-FFF2-40B4-BE49-F238E27FC236}">
                <a16:creationId xmlns:a16="http://schemas.microsoft.com/office/drawing/2014/main" id="{6085F477-355E-6547-C14E-38725E68FED3}"/>
              </a:ext>
            </a:extLst>
          </p:cNvPr>
          <p:cNvCxnSpPr>
            <a:cxnSpLocks/>
          </p:cNvCxnSpPr>
          <p:nvPr/>
        </p:nvCxnSpPr>
        <p:spPr>
          <a:xfrm flipH="1">
            <a:off x="-1407753" y="1083891"/>
            <a:ext cx="5486071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29490F54-35DF-380F-AACE-3714C3BF4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71657"/>
              </p:ext>
            </p:extLst>
          </p:nvPr>
        </p:nvGraphicFramePr>
        <p:xfrm>
          <a:off x="232615" y="2169867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TriLock, Grade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1,3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 err="1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graphicFrame>
        <p:nvGraphicFramePr>
          <p:cNvPr id="11" name="Table 13">
            <a:extLst>
              <a:ext uri="{FF2B5EF4-FFF2-40B4-BE49-F238E27FC236}">
                <a16:creationId xmlns:a16="http://schemas.microsoft.com/office/drawing/2014/main" id="{AC1736BB-4432-7779-C134-EAA558B3D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93463"/>
              </p:ext>
            </p:extLst>
          </p:nvPr>
        </p:nvGraphicFramePr>
        <p:xfrm>
          <a:off x="227013" y="4881874"/>
          <a:ext cx="341762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437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37119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da mandíbula, retas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1,0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Rígido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15" name="Imagem 14">
            <a:extLst>
              <a:ext uri="{FF2B5EF4-FFF2-40B4-BE49-F238E27FC236}">
                <a16:creationId xmlns:a16="http://schemas.microsoft.com/office/drawing/2014/main" id="{3EC438F2-9CD8-5C0D-5819-3310EB9F067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5583" y="1109947"/>
            <a:ext cx="4341685" cy="3217815"/>
          </a:xfrm>
          <a:prstGeom prst="roundRect">
            <a:avLst>
              <a:gd name="adj" fmla="val 1303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108E0EC-3E9A-50CA-A208-1DCD56F8D0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5583" y="4607776"/>
            <a:ext cx="4665241" cy="1646172"/>
          </a:xfrm>
          <a:prstGeom prst="roundRect">
            <a:avLst>
              <a:gd name="adj" fmla="val 18430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20894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B60E0-7D7E-CE07-6A22-28F009C8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CD76EDC-680E-1954-12BB-E8C34814C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8C69907E-1DBE-3E0C-DFB8-30A4935FA2D5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5857875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9BDE1B93-D5DB-20C1-27DE-4C9D238F00D9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Ponte de um defeito ósseo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6FC355AC-3C49-BB92-FAEE-3DC9B10B2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654431"/>
              </p:ext>
            </p:extLst>
          </p:nvPr>
        </p:nvGraphicFramePr>
        <p:xfrm>
          <a:off x="225426" y="3104036"/>
          <a:ext cx="311784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199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da Ponte TriLock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2,0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D88F9521-6754-CBE6-8778-6DDADA31E0B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0021" y="1544265"/>
            <a:ext cx="5517606" cy="4567641"/>
          </a:xfrm>
          <a:prstGeom prst="roundRect">
            <a:avLst>
              <a:gd name="adj" fmla="val 10679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98143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1E8F-FD27-670A-7838-F0FB7C83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C9C0F26-D3AD-3DD3-A111-71F2D9E287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681D7467-3D4E-5B71-4FBE-2E4294028B0E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5857875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04D073D0-4CAA-44CA-7FE8-792D90DB7057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Ponte de um defeito ósseo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396FECAC-2E38-FDDE-9B61-CB6F50994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799140"/>
              </p:ext>
            </p:extLst>
          </p:nvPr>
        </p:nvGraphicFramePr>
        <p:xfrm>
          <a:off x="225426" y="3104036"/>
          <a:ext cx="3117849" cy="109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199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365992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DEBE5C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Placas da Ponte TriLock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Espessura da placa: 2,0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4871"/>
                  </a:ext>
                </a:extLst>
              </a:tr>
              <a:tr h="365992">
                <a:tc>
                  <a:txBody>
                    <a:bodyPr/>
                    <a:lstStyle/>
                    <a:p>
                      <a:r>
                        <a:rPr lang="pt-BR" sz="1100" dirty="0"/>
                        <a:t>Semi-rígido</a:t>
                      </a:r>
                      <a:endParaRPr lang="pt-BR" sz="11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00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901"/>
                  </a:ext>
                </a:extLst>
              </a:tr>
            </a:tbl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A9F90CA6-DCF5-D9DA-963C-0A33724C9B6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1265" y="1362529"/>
            <a:ext cx="5875469" cy="4665241"/>
          </a:xfrm>
          <a:prstGeom prst="roundRect">
            <a:avLst>
              <a:gd name="adj" fmla="val 10432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15028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5">
            <a:extLst>
              <a:ext uri="{FF2B5EF4-FFF2-40B4-BE49-F238E27FC236}">
                <a16:creationId xmlns:a16="http://schemas.microsoft.com/office/drawing/2014/main" id="{C993FF17-A240-BBD1-0565-F973AC9752E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1366" y="4827552"/>
            <a:ext cx="2351360" cy="1695098"/>
          </a:xfrm>
          <a:prstGeom prst="rect">
            <a:avLst/>
          </a:prstGeom>
        </p:spPr>
      </p:pic>
      <p:pic>
        <p:nvPicPr>
          <p:cNvPr id="18" name="Grafik 7">
            <a:extLst>
              <a:ext uri="{FF2B5EF4-FFF2-40B4-BE49-F238E27FC236}">
                <a16:creationId xmlns:a16="http://schemas.microsoft.com/office/drawing/2014/main" id="{B4196424-7A6E-FEA7-71CA-A4721F97DA6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9366" y="5714355"/>
            <a:ext cx="1522316" cy="519594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41DE349-9771-FC36-00FD-0458E7E48A82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5857875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FC568A50-0045-E0D0-605D-5D3758C50E1C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Placas da Ponte TriLock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7" name="Straight Connector 305">
            <a:extLst>
              <a:ext uri="{FF2B5EF4-FFF2-40B4-BE49-F238E27FC236}">
                <a16:creationId xmlns:a16="http://schemas.microsoft.com/office/drawing/2014/main" id="{1B20A23B-66A1-8611-C9C7-7A3F43213665}"/>
              </a:ext>
            </a:extLst>
          </p:cNvPr>
          <p:cNvCxnSpPr>
            <a:cxnSpLocks/>
          </p:cNvCxnSpPr>
          <p:nvPr/>
        </p:nvCxnSpPr>
        <p:spPr>
          <a:xfrm>
            <a:off x="6096000" y="1415495"/>
            <a:ext cx="0" cy="454597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fik 6">
            <a:extLst>
              <a:ext uri="{FF2B5EF4-FFF2-40B4-BE49-F238E27FC236}">
                <a16:creationId xmlns:a16="http://schemas.microsoft.com/office/drawing/2014/main" id="{03447B62-6D45-1033-49D9-94D7317F0DB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651" y="2697067"/>
            <a:ext cx="4861200" cy="820327"/>
          </a:xfrm>
          <a:prstGeom prst="rect">
            <a:avLst/>
          </a:prstGeom>
        </p:spPr>
      </p:pic>
      <p:pic>
        <p:nvPicPr>
          <p:cNvPr id="9" name="Grafik 10">
            <a:extLst>
              <a:ext uri="{FF2B5EF4-FFF2-40B4-BE49-F238E27FC236}">
                <a16:creationId xmlns:a16="http://schemas.microsoft.com/office/drawing/2014/main" id="{1A664B46-1B7D-824C-4A53-23B6AB957D6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904" y="2139006"/>
            <a:ext cx="4015052" cy="456008"/>
          </a:xfrm>
          <a:prstGeom prst="rect">
            <a:avLst/>
          </a:prstGeom>
        </p:spPr>
      </p:pic>
      <p:pic>
        <p:nvPicPr>
          <p:cNvPr id="12" name="Grafik 12">
            <a:extLst>
              <a:ext uri="{FF2B5EF4-FFF2-40B4-BE49-F238E27FC236}">
                <a16:creationId xmlns:a16="http://schemas.microsoft.com/office/drawing/2014/main" id="{AA991593-18DF-3BDA-4049-61C872E0828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9516" y="2697067"/>
            <a:ext cx="3910580" cy="1401291"/>
          </a:xfrm>
          <a:prstGeom prst="rect">
            <a:avLst/>
          </a:prstGeom>
        </p:spPr>
      </p:pic>
      <p:pic>
        <p:nvPicPr>
          <p:cNvPr id="13" name="Grafik 14">
            <a:extLst>
              <a:ext uri="{FF2B5EF4-FFF2-40B4-BE49-F238E27FC236}">
                <a16:creationId xmlns:a16="http://schemas.microsoft.com/office/drawing/2014/main" id="{1BE428BA-F5A0-FCE9-EE8D-E3B21DCEE14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4385" y="2177807"/>
            <a:ext cx="3127297" cy="1426830"/>
          </a:xfrm>
          <a:prstGeom prst="rect">
            <a:avLst/>
          </a:prstGeom>
        </p:spPr>
      </p:pic>
      <p:pic>
        <p:nvPicPr>
          <p:cNvPr id="14" name="Grafik 8">
            <a:extLst>
              <a:ext uri="{FF2B5EF4-FFF2-40B4-BE49-F238E27FC236}">
                <a16:creationId xmlns:a16="http://schemas.microsoft.com/office/drawing/2014/main" id="{ED5F0C9C-162A-6B01-6C62-22DF1C34377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2221" y="4929512"/>
            <a:ext cx="1175014" cy="1265514"/>
          </a:xfrm>
          <a:prstGeom prst="rect">
            <a:avLst/>
          </a:prstGeom>
        </p:spPr>
      </p:pic>
      <p:pic>
        <p:nvPicPr>
          <p:cNvPr id="15" name="Grafik 9">
            <a:extLst>
              <a:ext uri="{FF2B5EF4-FFF2-40B4-BE49-F238E27FC236}">
                <a16:creationId xmlns:a16="http://schemas.microsoft.com/office/drawing/2014/main" id="{511F136C-9837-1D60-6255-A4B7FDB7C05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738130" y="5059039"/>
            <a:ext cx="955068" cy="107907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6CD098CB-1DB3-F956-BCA8-46BAD5130BD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CD04A42-CC56-D162-E746-BD22D1DDC387}"/>
              </a:ext>
            </a:extLst>
          </p:cNvPr>
          <p:cNvSpPr/>
          <p:nvPr/>
        </p:nvSpPr>
        <p:spPr>
          <a:xfrm>
            <a:off x="1298450" y="1542559"/>
            <a:ext cx="3842107" cy="413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Defeitos centrais e duplamente laterais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E813055-D8A2-2D26-CA3E-84176B52FD8E}"/>
              </a:ext>
            </a:extLst>
          </p:cNvPr>
          <p:cNvSpPr/>
          <p:nvPr/>
        </p:nvSpPr>
        <p:spPr>
          <a:xfrm>
            <a:off x="7019926" y="1542559"/>
            <a:ext cx="3842107" cy="413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Defeitos laterais/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hemimandibulares</a:t>
            </a:r>
            <a:endParaRPr lang="pt-BR" sz="160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19E7A23-86DB-A667-C3CB-1F02643E2FEA}"/>
              </a:ext>
            </a:extLst>
          </p:cNvPr>
          <p:cNvSpPr/>
          <p:nvPr/>
        </p:nvSpPr>
        <p:spPr>
          <a:xfrm>
            <a:off x="7263752" y="4290877"/>
            <a:ext cx="3842107" cy="413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Adaptador C para placas de ponte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7AC76AA-FEBA-53DD-557F-C95DDC76D405}"/>
              </a:ext>
            </a:extLst>
          </p:cNvPr>
          <p:cNvSpPr/>
          <p:nvPr/>
        </p:nvSpPr>
        <p:spPr>
          <a:xfrm>
            <a:off x="1358544" y="3894952"/>
            <a:ext cx="3842107" cy="9010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Prótese temporomandibular temporária com elemento transportador</a:t>
            </a:r>
          </a:p>
        </p:txBody>
      </p:sp>
    </p:spTree>
    <p:extLst>
      <p:ext uri="{BB962C8B-B14F-4D97-AF65-F5344CB8AC3E}">
        <p14:creationId xmlns:p14="http://schemas.microsoft.com/office/powerpoint/2010/main" val="399048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A73131-77A1-C9D6-7484-37C0E53B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9">
            <a:extLst>
              <a:ext uri="{FF2B5EF4-FFF2-40B4-BE49-F238E27FC236}">
                <a16:creationId xmlns:a16="http://schemas.microsoft.com/office/drawing/2014/main" id="{F94B7ED5-0B96-DF05-4289-ECA338A5D62A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Placas de mandíbula TriLock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7FA67950-69F2-E497-B018-F24644159F89}"/>
              </a:ext>
            </a:extLst>
          </p:cNvPr>
          <p:cNvSpPr txBox="1">
            <a:spLocks/>
          </p:cNvSpPr>
          <p:nvPr/>
        </p:nvSpPr>
        <p:spPr>
          <a:xfrm>
            <a:off x="254000" y="354404"/>
            <a:ext cx="4899025" cy="30992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1200" dirty="0">
                <a:latin typeface="Roboto Light (Corpo)"/>
              </a:rPr>
              <a:t>MODUS | MODUS 2 Mandíbula | Implantes</a:t>
            </a:r>
          </a:p>
        </p:txBody>
      </p:sp>
      <p:pic>
        <p:nvPicPr>
          <p:cNvPr id="2" name="Grafik 12">
            <a:extLst>
              <a:ext uri="{FF2B5EF4-FFF2-40B4-BE49-F238E27FC236}">
                <a16:creationId xmlns:a16="http://schemas.microsoft.com/office/drawing/2014/main" id="{3C335E0F-B600-2AE0-CB48-90B8809FC9C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177" y="2127661"/>
            <a:ext cx="465369" cy="466958"/>
          </a:xfrm>
          <a:prstGeom prst="rect">
            <a:avLst/>
          </a:prstGeom>
        </p:spPr>
      </p:pic>
      <p:pic>
        <p:nvPicPr>
          <p:cNvPr id="3" name="Grafik 27">
            <a:extLst>
              <a:ext uri="{FF2B5EF4-FFF2-40B4-BE49-F238E27FC236}">
                <a16:creationId xmlns:a16="http://schemas.microsoft.com/office/drawing/2014/main" id="{A76CC830-D10E-8CCC-A5FF-24F8B2C3C4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9151" y="2247292"/>
            <a:ext cx="824322" cy="173123"/>
          </a:xfrm>
          <a:prstGeom prst="rect">
            <a:avLst/>
          </a:prstGeom>
        </p:spPr>
      </p:pic>
      <p:pic>
        <p:nvPicPr>
          <p:cNvPr id="22" name="Grafik 29">
            <a:extLst>
              <a:ext uri="{FF2B5EF4-FFF2-40B4-BE49-F238E27FC236}">
                <a16:creationId xmlns:a16="http://schemas.microsoft.com/office/drawing/2014/main" id="{A556E17A-4F39-6A32-ED72-7329E0A3185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7188" y="2247291"/>
            <a:ext cx="1249983" cy="173123"/>
          </a:xfrm>
          <a:prstGeom prst="rect">
            <a:avLst/>
          </a:prstGeom>
        </p:spPr>
      </p:pic>
      <p:cxnSp>
        <p:nvCxnSpPr>
          <p:cNvPr id="24" name="Straight Connector 305">
            <a:extLst>
              <a:ext uri="{FF2B5EF4-FFF2-40B4-BE49-F238E27FC236}">
                <a16:creationId xmlns:a16="http://schemas.microsoft.com/office/drawing/2014/main" id="{E196E2D1-DB96-53D7-8A35-B0841456F887}"/>
              </a:ext>
            </a:extLst>
          </p:cNvPr>
          <p:cNvCxnSpPr>
            <a:cxnSpLocks/>
          </p:cNvCxnSpPr>
          <p:nvPr/>
        </p:nvCxnSpPr>
        <p:spPr>
          <a:xfrm>
            <a:off x="8109171" y="1304679"/>
            <a:ext cx="0" cy="470373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fik 15">
            <a:extLst>
              <a:ext uri="{FF2B5EF4-FFF2-40B4-BE49-F238E27FC236}">
                <a16:creationId xmlns:a16="http://schemas.microsoft.com/office/drawing/2014/main" id="{EC1D9EF4-64BC-A05D-6616-D4DE0A26846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8871" y="2428943"/>
            <a:ext cx="945033" cy="740144"/>
          </a:xfrm>
          <a:prstGeom prst="rect">
            <a:avLst/>
          </a:prstGeom>
        </p:spPr>
      </p:pic>
      <p:cxnSp>
        <p:nvCxnSpPr>
          <p:cNvPr id="29" name="Straight Connector 305">
            <a:extLst>
              <a:ext uri="{FF2B5EF4-FFF2-40B4-BE49-F238E27FC236}">
                <a16:creationId xmlns:a16="http://schemas.microsoft.com/office/drawing/2014/main" id="{C6F19B47-F777-CEAF-3884-8B59DF981DF8}"/>
              </a:ext>
            </a:extLst>
          </p:cNvPr>
          <p:cNvCxnSpPr>
            <a:cxnSpLocks/>
          </p:cNvCxnSpPr>
          <p:nvPr/>
        </p:nvCxnSpPr>
        <p:spPr>
          <a:xfrm>
            <a:off x="4119995" y="1541839"/>
            <a:ext cx="0" cy="14217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Grafik 4">
            <a:extLst>
              <a:ext uri="{FF2B5EF4-FFF2-40B4-BE49-F238E27FC236}">
                <a16:creationId xmlns:a16="http://schemas.microsoft.com/office/drawing/2014/main" id="{1AE16807-A438-438E-7AB5-E1A1D5EF020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6877" y="4185314"/>
            <a:ext cx="3672996" cy="1478506"/>
          </a:xfrm>
          <a:prstGeom prst="rect">
            <a:avLst/>
          </a:prstGeom>
        </p:spPr>
      </p:pic>
      <p:cxnSp>
        <p:nvCxnSpPr>
          <p:cNvPr id="34" name="Straight Connector 305">
            <a:extLst>
              <a:ext uri="{FF2B5EF4-FFF2-40B4-BE49-F238E27FC236}">
                <a16:creationId xmlns:a16="http://schemas.microsoft.com/office/drawing/2014/main" id="{7B6FF2C7-9662-2404-8D1F-E381B56790BF}"/>
              </a:ext>
            </a:extLst>
          </p:cNvPr>
          <p:cNvCxnSpPr>
            <a:cxnSpLocks/>
          </p:cNvCxnSpPr>
          <p:nvPr/>
        </p:nvCxnSpPr>
        <p:spPr>
          <a:xfrm>
            <a:off x="8540393" y="3429000"/>
            <a:ext cx="3034647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Grafik 6">
            <a:extLst>
              <a:ext uri="{FF2B5EF4-FFF2-40B4-BE49-F238E27FC236}">
                <a16:creationId xmlns:a16="http://schemas.microsoft.com/office/drawing/2014/main" id="{2FC0784D-1AFB-5473-CDD8-286EE25209A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9850" y="5016267"/>
            <a:ext cx="1755061" cy="360542"/>
          </a:xfrm>
          <a:prstGeom prst="rect">
            <a:avLst/>
          </a:prstGeom>
        </p:spPr>
      </p:pic>
      <p:pic>
        <p:nvPicPr>
          <p:cNvPr id="39" name="Grafik 8">
            <a:extLst>
              <a:ext uri="{FF2B5EF4-FFF2-40B4-BE49-F238E27FC236}">
                <a16:creationId xmlns:a16="http://schemas.microsoft.com/office/drawing/2014/main" id="{6847E820-F753-A55C-94E9-589C043C45E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8572" y="4108815"/>
            <a:ext cx="1980599" cy="625787"/>
          </a:xfrm>
          <a:prstGeom prst="rect">
            <a:avLst/>
          </a:prstGeom>
        </p:spPr>
      </p:pic>
      <p:pic>
        <p:nvPicPr>
          <p:cNvPr id="40" name="Grafik 10">
            <a:extLst>
              <a:ext uri="{FF2B5EF4-FFF2-40B4-BE49-F238E27FC236}">
                <a16:creationId xmlns:a16="http://schemas.microsoft.com/office/drawing/2014/main" id="{7DE23D26-8A3A-FAA4-E1A9-2ECB66E3841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6930" y="5016267"/>
            <a:ext cx="1643881" cy="995858"/>
          </a:xfrm>
          <a:prstGeom prst="rect">
            <a:avLst/>
          </a:prstGeom>
        </p:spPr>
      </p:pic>
      <p:cxnSp>
        <p:nvCxnSpPr>
          <p:cNvPr id="41" name="Straight Connector 305">
            <a:extLst>
              <a:ext uri="{FF2B5EF4-FFF2-40B4-BE49-F238E27FC236}">
                <a16:creationId xmlns:a16="http://schemas.microsoft.com/office/drawing/2014/main" id="{3C62EF70-DDB9-7993-F3D1-E8510986CAE6}"/>
              </a:ext>
            </a:extLst>
          </p:cNvPr>
          <p:cNvCxnSpPr>
            <a:cxnSpLocks/>
          </p:cNvCxnSpPr>
          <p:nvPr/>
        </p:nvCxnSpPr>
        <p:spPr>
          <a:xfrm>
            <a:off x="638175" y="3429000"/>
            <a:ext cx="7048500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3">
            <a:extLst>
              <a:ext uri="{FF2B5EF4-FFF2-40B4-BE49-F238E27FC236}">
                <a16:creationId xmlns:a16="http://schemas.microsoft.com/office/drawing/2014/main" id="{067FB94C-9637-30CA-5F2D-92F3FF0D6D5E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5857875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Imagem 44">
            <a:extLst>
              <a:ext uri="{FF2B5EF4-FFF2-40B4-BE49-F238E27FC236}">
                <a16:creationId xmlns:a16="http://schemas.microsoft.com/office/drawing/2014/main" id="{D46C7C04-F622-426C-16FC-ECB2487CC50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67CC073-60AC-586F-5EB3-CF292B6C0799}"/>
              </a:ext>
            </a:extLst>
          </p:cNvPr>
          <p:cNvSpPr/>
          <p:nvPr/>
        </p:nvSpPr>
        <p:spPr>
          <a:xfrm>
            <a:off x="753307" y="1559055"/>
            <a:ext cx="2744202" cy="413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de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cóndilos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TriLock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93BF77F-D7E4-1C43-07CF-E442815FC646}"/>
              </a:ext>
            </a:extLst>
          </p:cNvPr>
          <p:cNvSpPr/>
          <p:nvPr/>
        </p:nvSpPr>
        <p:spPr>
          <a:xfrm>
            <a:off x="4723899" y="1559055"/>
            <a:ext cx="2744202" cy="413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TriLock,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rectas</a:t>
            </a:r>
            <a:endParaRPr lang="pt-BR" sz="160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E04D29E-9A50-62F4-B180-643F05E27205}"/>
              </a:ext>
            </a:extLst>
          </p:cNvPr>
          <p:cNvSpPr/>
          <p:nvPr/>
        </p:nvSpPr>
        <p:spPr>
          <a:xfrm>
            <a:off x="8713074" y="1470096"/>
            <a:ext cx="2744202" cy="6056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de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ángulo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de mandíbula TriLock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BB62B43-BAFB-68AB-7473-7E5489AA3DEC}"/>
              </a:ext>
            </a:extLst>
          </p:cNvPr>
          <p:cNvSpPr/>
          <p:nvPr/>
        </p:nvSpPr>
        <p:spPr>
          <a:xfrm>
            <a:off x="2311312" y="3655458"/>
            <a:ext cx="4387455" cy="413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de mandíbula TriLock, anatómicas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0360363-B7FF-3BC6-DC4E-1203B928A527}"/>
              </a:ext>
            </a:extLst>
          </p:cNvPr>
          <p:cNvSpPr/>
          <p:nvPr/>
        </p:nvSpPr>
        <p:spPr>
          <a:xfrm>
            <a:off x="8898065" y="3685869"/>
            <a:ext cx="2431414" cy="413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de </a:t>
            </a:r>
            <a:r>
              <a:rPr lang="pt-BR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rejilla</a:t>
            </a: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TriLock</a:t>
            </a:r>
          </a:p>
        </p:txBody>
      </p:sp>
    </p:spTree>
    <p:extLst>
      <p:ext uri="{BB962C8B-B14F-4D97-AF65-F5344CB8AC3E}">
        <p14:creationId xmlns:p14="http://schemas.microsoft.com/office/powerpoint/2010/main" val="215058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3C8AD2-C466-C29D-EF17-494590D1B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9" descr="F:\Global Products\Projekte\09147 - MODUS Mandibula\F_Limited Release\Bilder LR Sets\Ordering_Information_Trauma_Reco_2.0_2\Links\M-4849.tif">
            <a:extLst>
              <a:ext uri="{FF2B5EF4-FFF2-40B4-BE49-F238E27FC236}">
                <a16:creationId xmlns:a16="http://schemas.microsoft.com/office/drawing/2014/main" id="{B0244DAE-9044-60CE-3922-AB20C8289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9271" y="2821121"/>
            <a:ext cx="2667371" cy="1299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F3317086-20F4-6BFD-61F7-91D4751EC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76865" y="4179938"/>
            <a:ext cx="1732183" cy="81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A65973C-92DE-21F7-485C-3484E32D408A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Placas de mandíbula TriLock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43027D03-24BB-1CC0-32EA-CB13063B3DC7}"/>
              </a:ext>
            </a:extLst>
          </p:cNvPr>
          <p:cNvSpPr txBox="1">
            <a:spLocks/>
          </p:cNvSpPr>
          <p:nvPr/>
        </p:nvSpPr>
        <p:spPr>
          <a:xfrm>
            <a:off x="254000" y="354404"/>
            <a:ext cx="4899025" cy="30992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1200" dirty="0">
                <a:latin typeface="Roboto Light (Corpo)"/>
              </a:rPr>
              <a:t>MODUS | MODUS 2 Mandíbula | Implantes</a:t>
            </a: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0F8548C8-AE78-93BC-7FF2-A341132E12D1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5857875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6">
            <a:extLst>
              <a:ext uri="{FF2B5EF4-FFF2-40B4-BE49-F238E27FC236}">
                <a16:creationId xmlns:a16="http://schemas.microsoft.com/office/drawing/2014/main" id="{C79002EA-3F93-B7BB-1EA0-ACFF16692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9016" y="3336285"/>
            <a:ext cx="1235265" cy="605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84370CFF-6C01-C72A-6400-0220F2A42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203758" y="4083807"/>
            <a:ext cx="445781" cy="76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 descr="F:\Global Products\Projekte\09147 - MODUS Mandibula\F_Limited Release\Bilder LR Sets\Ordering_Information_Trauma_Reco_2.0_2\Links\M-4839.tif">
            <a:extLst>
              <a:ext uri="{FF2B5EF4-FFF2-40B4-BE49-F238E27FC236}">
                <a16:creationId xmlns:a16="http://schemas.microsoft.com/office/drawing/2014/main" id="{ECA0A3DA-4B17-AA0E-BD70-1B352908B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45836" y="3425837"/>
            <a:ext cx="1547689" cy="82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898F7BDB-18DF-039D-CAA9-8E7765C6F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54948" y="4428756"/>
            <a:ext cx="1154292" cy="207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405AD4CC-E05C-9922-1B8E-BE512F84C5D3}"/>
              </a:ext>
            </a:extLst>
          </p:cNvPr>
          <p:cNvGrpSpPr/>
          <p:nvPr/>
        </p:nvGrpSpPr>
        <p:grpSpPr>
          <a:xfrm>
            <a:off x="1250583" y="1912979"/>
            <a:ext cx="2007825" cy="4204031"/>
            <a:chOff x="899980" y="1912979"/>
            <a:chExt cx="2007825" cy="4204031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0B76771A-77D0-1264-F1C3-87813BA64E40}"/>
                </a:ext>
              </a:extLst>
            </p:cNvPr>
            <p:cNvSpPr/>
            <p:nvPr/>
          </p:nvSpPr>
          <p:spPr>
            <a:xfrm>
              <a:off x="899980" y="1912979"/>
              <a:ext cx="2007825" cy="4124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rgbClr val="DEBE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Placas </a:t>
              </a:r>
              <a:r>
                <a:rPr lang="pt-BR" dirty="0" err="1">
                  <a:solidFill>
                    <a:srgbClr val="DEBE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cóndilas</a:t>
              </a:r>
              <a:endPara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2AD5921-2059-88E9-47B7-8A07C54D2EA7}"/>
                </a:ext>
              </a:extLst>
            </p:cNvPr>
            <p:cNvSpPr/>
            <p:nvPr/>
          </p:nvSpPr>
          <p:spPr>
            <a:xfrm>
              <a:off x="899980" y="1912980"/>
              <a:ext cx="2007825" cy="420403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6" name="Picture 4">
            <a:extLst>
              <a:ext uri="{FF2B5EF4-FFF2-40B4-BE49-F238E27FC236}">
                <a16:creationId xmlns:a16="http://schemas.microsoft.com/office/drawing/2014/main" id="{6A82EB2D-C553-388E-CF9C-B107BE04E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1109" y="3470725"/>
            <a:ext cx="1091728" cy="1061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626EDC0B-4B5B-DD65-476A-3514B3367FEA}"/>
              </a:ext>
            </a:extLst>
          </p:cNvPr>
          <p:cNvSpPr/>
          <p:nvPr/>
        </p:nvSpPr>
        <p:spPr>
          <a:xfrm>
            <a:off x="3797384" y="19129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Placas de </a:t>
            </a:r>
            <a:r>
              <a:rPr lang="pt-BR" dirty="0" err="1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rejilla</a:t>
            </a:r>
            <a:endParaRPr lang="pt-BR" dirty="0">
              <a:solidFill>
                <a:srgbClr val="DEBE5C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F610045-F236-81BB-396E-A20863A0C7CB}"/>
              </a:ext>
            </a:extLst>
          </p:cNvPr>
          <p:cNvSpPr/>
          <p:nvPr/>
        </p:nvSpPr>
        <p:spPr>
          <a:xfrm>
            <a:off x="3797384" y="1912980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D6F904F7-5432-F354-8868-D08FF9F67488}"/>
              </a:ext>
            </a:extLst>
          </p:cNvPr>
          <p:cNvGrpSpPr/>
          <p:nvPr/>
        </p:nvGrpSpPr>
        <p:grpSpPr>
          <a:xfrm>
            <a:off x="6344185" y="1912979"/>
            <a:ext cx="2007825" cy="4204031"/>
            <a:chOff x="6038723" y="1912979"/>
            <a:chExt cx="2007825" cy="4204031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6CEC0D4C-3C3C-1A71-7371-5C28EB3806AA}"/>
                </a:ext>
              </a:extLst>
            </p:cNvPr>
            <p:cNvSpPr/>
            <p:nvPr/>
          </p:nvSpPr>
          <p:spPr>
            <a:xfrm>
              <a:off x="6038723" y="1912979"/>
              <a:ext cx="2007825" cy="4245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rgbClr val="DEBE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Placas de compresión </a:t>
              </a:r>
              <a:br>
                <a:rPr lang="es-ES" sz="1200" dirty="0">
                  <a:solidFill>
                    <a:srgbClr val="DEBE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</a:br>
              <a:r>
                <a:rPr lang="es-ES" sz="1200" dirty="0">
                  <a:solidFill>
                    <a:srgbClr val="DEBE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de rejilla</a:t>
              </a: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AA373A7B-E7E2-6794-10A5-77392B143CF9}"/>
                </a:ext>
              </a:extLst>
            </p:cNvPr>
            <p:cNvSpPr/>
            <p:nvPr/>
          </p:nvSpPr>
          <p:spPr>
            <a:xfrm>
              <a:off x="6038723" y="1912980"/>
              <a:ext cx="2007825" cy="420403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D7F0BDE5-AF2A-16A6-170B-315864BE8314}"/>
              </a:ext>
            </a:extLst>
          </p:cNvPr>
          <p:cNvGrpSpPr/>
          <p:nvPr/>
        </p:nvGrpSpPr>
        <p:grpSpPr>
          <a:xfrm>
            <a:off x="8890986" y="1925039"/>
            <a:ext cx="2007825" cy="4204031"/>
            <a:chOff x="8540383" y="1925039"/>
            <a:chExt cx="2007825" cy="4204031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0218EB19-FA16-188C-8C7F-BB3C0AA74C40}"/>
                </a:ext>
              </a:extLst>
            </p:cNvPr>
            <p:cNvSpPr/>
            <p:nvPr/>
          </p:nvSpPr>
          <p:spPr>
            <a:xfrm>
              <a:off x="8540383" y="1925039"/>
              <a:ext cx="2007825" cy="4124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rgbClr val="DEBE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Placas </a:t>
              </a:r>
              <a:r>
                <a:rPr lang="pt-BR" dirty="0" err="1">
                  <a:solidFill>
                    <a:srgbClr val="DEBE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Rectas</a:t>
              </a:r>
              <a:endPara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0D178DA-1D2D-4E20-514A-1FA5B24F0788}"/>
                </a:ext>
              </a:extLst>
            </p:cNvPr>
            <p:cNvSpPr/>
            <p:nvPr/>
          </p:nvSpPr>
          <p:spPr>
            <a:xfrm>
              <a:off x="8540383" y="1925040"/>
              <a:ext cx="2007825" cy="420403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9" name="Imagem 38">
            <a:extLst>
              <a:ext uri="{FF2B5EF4-FFF2-40B4-BE49-F238E27FC236}">
                <a16:creationId xmlns:a16="http://schemas.microsoft.com/office/drawing/2014/main" id="{7BFCD2D0-E126-FE2B-A946-40EA632B154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9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9E787F4-E50D-2601-D67A-F767469A3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6425" y="1386731"/>
            <a:ext cx="8439150" cy="480060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50C0FEB0-EFCF-296E-C933-24137611A76F}"/>
              </a:ext>
            </a:extLst>
          </p:cNvPr>
          <p:cNvSpPr txBox="1">
            <a:spLocks/>
          </p:cNvSpPr>
          <p:nvPr/>
        </p:nvSpPr>
        <p:spPr>
          <a:xfrm>
            <a:off x="254000" y="623517"/>
            <a:ext cx="913319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Características da placa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6F9AD2C1-CC18-A6D6-5342-FD1DECCB9B99}"/>
              </a:ext>
            </a:extLst>
          </p:cNvPr>
          <p:cNvCxnSpPr>
            <a:cxnSpLocks/>
          </p:cNvCxnSpPr>
          <p:nvPr/>
        </p:nvCxnSpPr>
        <p:spPr>
          <a:xfrm flipH="1">
            <a:off x="-1710215" y="1091457"/>
            <a:ext cx="8975724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19A8B699-1436-4DAA-1239-2F3A4F5EFF2A}"/>
              </a:ext>
            </a:extLst>
          </p:cNvPr>
          <p:cNvSpPr/>
          <p:nvPr/>
        </p:nvSpPr>
        <p:spPr>
          <a:xfrm>
            <a:off x="913891" y="1647504"/>
            <a:ext cx="1863756" cy="571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Furos TriLock em ambos os lados*</a:t>
            </a:r>
            <a:endParaRPr lang="es-ES" sz="160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23F3092-FB99-A2CD-46EB-4AB7543029D9}"/>
              </a:ext>
            </a:extLst>
          </p:cNvPr>
          <p:cNvSpPr/>
          <p:nvPr/>
        </p:nvSpPr>
        <p:spPr>
          <a:xfrm>
            <a:off x="5836102" y="2219325"/>
            <a:ext cx="2050132" cy="571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Adaptável</a:t>
            </a:r>
            <a:r>
              <a:rPr lang="es-ES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na</a:t>
            </a:r>
            <a:r>
              <a:rPr lang="es-ES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região do ramo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2B6F1FB-A277-9F52-1697-DFDE0689F62D}"/>
              </a:ext>
            </a:extLst>
          </p:cNvPr>
          <p:cNvSpPr/>
          <p:nvPr/>
        </p:nvSpPr>
        <p:spPr>
          <a:xfrm>
            <a:off x="4234972" y="4182200"/>
            <a:ext cx="2050132" cy="3550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Estrutura da grade</a:t>
            </a:r>
            <a:endParaRPr lang="es-ES" sz="160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4C97988-3FB2-4098-93D8-3076FB4DF5C4}"/>
              </a:ext>
            </a:extLst>
          </p:cNvPr>
          <p:cNvSpPr/>
          <p:nvPr/>
        </p:nvSpPr>
        <p:spPr>
          <a:xfrm>
            <a:off x="5836102" y="5645512"/>
            <a:ext cx="2050132" cy="3550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Ajuste anatômico</a:t>
            </a:r>
          </a:p>
        </p:txBody>
      </p:sp>
      <p:cxnSp>
        <p:nvCxnSpPr>
          <p:cNvPr id="16" name="Gerader Verbinder 4">
            <a:extLst>
              <a:ext uri="{FF2B5EF4-FFF2-40B4-BE49-F238E27FC236}">
                <a16:creationId xmlns:a16="http://schemas.microsoft.com/office/drawing/2014/main" id="{9F572467-E646-9F73-04FF-685A21DB51E3}"/>
              </a:ext>
            </a:extLst>
          </p:cNvPr>
          <p:cNvCxnSpPr>
            <a:cxnSpLocks/>
          </p:cNvCxnSpPr>
          <p:nvPr/>
        </p:nvCxnSpPr>
        <p:spPr>
          <a:xfrm>
            <a:off x="2951019" y="3984928"/>
            <a:ext cx="2058461" cy="1111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EFB11CA-E18F-F9B3-3E7B-DA0377E5EB6D}"/>
              </a:ext>
            </a:extLst>
          </p:cNvPr>
          <p:cNvGrpSpPr/>
          <p:nvPr/>
        </p:nvGrpSpPr>
        <p:grpSpPr>
          <a:xfrm>
            <a:off x="1692862" y="2452920"/>
            <a:ext cx="1900134" cy="1882878"/>
            <a:chOff x="1734395" y="2330608"/>
            <a:chExt cx="1900134" cy="1882878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EC678921-B9FB-75D8-13DC-A301139FCC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4395" y="2370329"/>
              <a:ext cx="1900134" cy="1803436"/>
            </a:xfrm>
            <a:custGeom>
              <a:avLst/>
              <a:gdLst>
                <a:gd name="csX0" fmla="*/ 950067 w 1900134"/>
                <a:gd name="csY0" fmla="*/ 0 h 1803436"/>
                <a:gd name="csX1" fmla="*/ 1900134 w 1900134"/>
                <a:gd name="csY1" fmla="*/ 901718 h 1803436"/>
                <a:gd name="csX2" fmla="*/ 950067 w 1900134"/>
                <a:gd name="csY2" fmla="*/ 1803436 h 1803436"/>
                <a:gd name="csX3" fmla="*/ 0 w 1900134"/>
                <a:gd name="csY3" fmla="*/ 901718 h 1803436"/>
                <a:gd name="csX4" fmla="*/ 950067 w 1900134"/>
                <a:gd name="csY4" fmla="*/ 0 h 1803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00134" h="1803436">
                  <a:moveTo>
                    <a:pt x="950067" y="0"/>
                  </a:moveTo>
                  <a:cubicBezTo>
                    <a:pt x="1474775" y="0"/>
                    <a:pt x="1900134" y="403713"/>
                    <a:pt x="1900134" y="901718"/>
                  </a:cubicBezTo>
                  <a:cubicBezTo>
                    <a:pt x="1900134" y="1399723"/>
                    <a:pt x="1474775" y="1803436"/>
                    <a:pt x="950067" y="1803436"/>
                  </a:cubicBezTo>
                  <a:cubicBezTo>
                    <a:pt x="425359" y="1803436"/>
                    <a:pt x="0" y="1399723"/>
                    <a:pt x="0" y="901718"/>
                  </a:cubicBezTo>
                  <a:cubicBezTo>
                    <a:pt x="0" y="403713"/>
                    <a:pt x="425359" y="0"/>
                    <a:pt x="950067" y="0"/>
                  </a:cubicBezTo>
                  <a:close/>
                </a:path>
              </a:pathLst>
            </a:custGeom>
          </p:spPr>
        </p:pic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AD9F37E3-EC1C-8424-A320-81D16502BDD6}"/>
                </a:ext>
              </a:extLst>
            </p:cNvPr>
            <p:cNvSpPr/>
            <p:nvPr/>
          </p:nvSpPr>
          <p:spPr>
            <a:xfrm>
              <a:off x="1743023" y="2330608"/>
              <a:ext cx="1882878" cy="1882878"/>
            </a:xfrm>
            <a:prstGeom prst="ellipse">
              <a:avLst/>
            </a:prstGeom>
            <a:noFill/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>
                  <a:noFill/>
                </a:rPr>
                <a:t>v</a:t>
              </a:r>
            </a:p>
          </p:txBody>
        </p:sp>
      </p:grpSp>
      <p:pic>
        <p:nvPicPr>
          <p:cNvPr id="23" name="Imagem 22">
            <a:extLst>
              <a:ext uri="{FF2B5EF4-FFF2-40B4-BE49-F238E27FC236}">
                <a16:creationId xmlns:a16="http://schemas.microsoft.com/office/drawing/2014/main" id="{3BCFB2B9-87E4-023F-70BF-E99A5A392E3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3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>
            <a:extLst>
              <a:ext uri="{FF2B5EF4-FFF2-40B4-BE49-F238E27FC236}">
                <a16:creationId xmlns:a16="http://schemas.microsoft.com/office/drawing/2014/main" id="{6D7412CD-97E2-B68E-180E-5C5BC835832A}"/>
              </a:ext>
            </a:extLst>
          </p:cNvPr>
          <p:cNvSpPr txBox="1">
            <a:spLocks/>
          </p:cNvSpPr>
          <p:nvPr/>
        </p:nvSpPr>
        <p:spPr>
          <a:xfrm>
            <a:off x="254001" y="623517"/>
            <a:ext cx="10718800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Novas placas de ponte em comparação com MODUS 2.5 Reco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29636B0E-CF26-8D7A-761B-4E10AEE63A58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11195049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3D106804-3669-6966-BFBB-8307FD70786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pic>
        <p:nvPicPr>
          <p:cNvPr id="11" name="Picture 2" descr="0296_RecoII_1_Pre_03">
            <a:extLst>
              <a:ext uri="{FF2B5EF4-FFF2-40B4-BE49-F238E27FC236}">
                <a16:creationId xmlns:a16="http://schemas.microsoft.com/office/drawing/2014/main" id="{4E51114D-9F91-86F5-2E09-D4BAF4B24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72404" y="1641838"/>
            <a:ext cx="2568637" cy="202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0296_V1_Pre_06">
            <a:extLst>
              <a:ext uri="{FF2B5EF4-FFF2-40B4-BE49-F238E27FC236}">
                <a16:creationId xmlns:a16="http://schemas.microsoft.com/office/drawing/2014/main" id="{EEE2FD30-FB0B-33EF-9500-02FDA3E82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5481" y="1544265"/>
            <a:ext cx="2366365" cy="2023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uppieren 7">
            <a:extLst>
              <a:ext uri="{FF2B5EF4-FFF2-40B4-BE49-F238E27FC236}">
                <a16:creationId xmlns:a16="http://schemas.microsoft.com/office/drawing/2014/main" id="{3C9F9574-8428-108A-6F94-5BE753236B3B}"/>
              </a:ext>
            </a:extLst>
          </p:cNvPr>
          <p:cNvGrpSpPr/>
          <p:nvPr/>
        </p:nvGrpSpPr>
        <p:grpSpPr>
          <a:xfrm>
            <a:off x="227013" y="4447144"/>
            <a:ext cx="2863301" cy="1614406"/>
            <a:chOff x="2043845" y="2347529"/>
            <a:chExt cx="5727348" cy="3907373"/>
          </a:xfrm>
        </p:grpSpPr>
        <p:pic>
          <p:nvPicPr>
            <p:cNvPr id="14" name="Picture 5">
              <a:extLst>
                <a:ext uri="{FF2B5EF4-FFF2-40B4-BE49-F238E27FC236}">
                  <a16:creationId xmlns:a16="http://schemas.microsoft.com/office/drawing/2014/main" id="{169A4124-3A7F-7D1C-15FE-A8AED2B67A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3845" y="2347529"/>
              <a:ext cx="5727348" cy="3907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hteck 1">
              <a:extLst>
                <a:ext uri="{FF2B5EF4-FFF2-40B4-BE49-F238E27FC236}">
                  <a16:creationId xmlns:a16="http://schemas.microsoft.com/office/drawing/2014/main" id="{59C1765F-B7C9-C18E-A335-6B9DFF1E9AB2}"/>
                </a:ext>
              </a:extLst>
            </p:cNvPr>
            <p:cNvSpPr/>
            <p:nvPr/>
          </p:nvSpPr>
          <p:spPr>
            <a:xfrm>
              <a:off x="2934927" y="2948487"/>
              <a:ext cx="3656372" cy="8311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ct val="0"/>
                </a:spcAft>
              </a:pPr>
              <a:r>
                <a:rPr lang="pt-BR" sz="900" b="1">
                  <a:solidFill>
                    <a:srgbClr val="FFFF00"/>
                  </a:solidFill>
                </a:rPr>
                <a:t>Círculos: 128589</a:t>
              </a:r>
            </a:p>
            <a:p>
              <a:pPr>
                <a:spcAft>
                  <a:spcPct val="0"/>
                </a:spcAft>
              </a:pPr>
              <a:r>
                <a:rPr lang="pt-BR" sz="900" b="1">
                  <a:solidFill>
                    <a:srgbClr val="FFFF00"/>
                  </a:solidFill>
                </a:rPr>
                <a:t>F</a:t>
              </a:r>
              <a:r>
                <a:rPr lang="pt-BR" sz="1200" b="1">
                  <a:solidFill>
                    <a:srgbClr val="FFFF00"/>
                  </a:solidFill>
                </a:rPr>
                <a:t>máx.</a:t>
              </a:r>
              <a:r>
                <a:rPr lang="pt-BR" sz="900" b="1">
                  <a:solidFill>
                    <a:srgbClr val="FFFF00"/>
                  </a:solidFill>
                </a:rPr>
                <a:t>: 323 N</a:t>
              </a:r>
            </a:p>
          </p:txBody>
        </p:sp>
      </p:grpSp>
      <p:grpSp>
        <p:nvGrpSpPr>
          <p:cNvPr id="16" name="Gruppieren 6">
            <a:extLst>
              <a:ext uri="{FF2B5EF4-FFF2-40B4-BE49-F238E27FC236}">
                <a16:creationId xmlns:a16="http://schemas.microsoft.com/office/drawing/2014/main" id="{7C4F5364-B2E7-C6DB-EA32-B1549FC3F2C7}"/>
              </a:ext>
            </a:extLst>
          </p:cNvPr>
          <p:cNvGrpSpPr/>
          <p:nvPr/>
        </p:nvGrpSpPr>
        <p:grpSpPr>
          <a:xfrm>
            <a:off x="3625072" y="4441455"/>
            <a:ext cx="2863301" cy="1670690"/>
            <a:chOff x="17555237" y="2474532"/>
            <a:chExt cx="5727348" cy="4043597"/>
          </a:xfrm>
        </p:grpSpPr>
        <p:pic>
          <p:nvPicPr>
            <p:cNvPr id="17" name="Picture 7">
              <a:extLst>
                <a:ext uri="{FF2B5EF4-FFF2-40B4-BE49-F238E27FC236}">
                  <a16:creationId xmlns:a16="http://schemas.microsoft.com/office/drawing/2014/main" id="{D807CE4A-C1E4-BD49-45C6-15495CAAA8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55237" y="2474532"/>
              <a:ext cx="5727348" cy="4043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feld 3">
              <a:extLst>
                <a:ext uri="{FF2B5EF4-FFF2-40B4-BE49-F238E27FC236}">
                  <a16:creationId xmlns:a16="http://schemas.microsoft.com/office/drawing/2014/main" id="{1A60F809-EA39-F35B-6C2C-CF5A72796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64271" y="3076927"/>
              <a:ext cx="3756879" cy="738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de-CH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</a:pPr>
              <a:r>
                <a:rPr lang="pt-BR" sz="900" b="1">
                  <a:solidFill>
                    <a:srgbClr val="FFFF00"/>
                  </a:solidFill>
                </a:rPr>
                <a:t>Círculos: 176407</a:t>
              </a:r>
            </a:p>
            <a:p>
              <a:pPr eaLnBrk="1" hangingPunct="1">
                <a:lnSpc>
                  <a:spcPct val="100000"/>
                </a:lnSpc>
                <a:spcAft>
                  <a:spcPct val="0"/>
                </a:spcAft>
              </a:pPr>
              <a:r>
                <a:rPr lang="pt-BR" sz="900" b="1">
                  <a:solidFill>
                    <a:srgbClr val="FFFF00"/>
                  </a:solidFill>
                </a:rPr>
                <a:t>F</a:t>
              </a:r>
              <a:r>
                <a:rPr lang="pt-BR" sz="600" b="1">
                  <a:solidFill>
                    <a:srgbClr val="FFFF00"/>
                  </a:solidFill>
                </a:rPr>
                <a:t>máx.</a:t>
              </a:r>
              <a:r>
                <a:rPr lang="pt-BR" sz="900" b="1">
                  <a:solidFill>
                    <a:srgbClr val="FFFF00"/>
                  </a:solidFill>
                </a:rPr>
                <a:t>: 649 N</a:t>
              </a:r>
            </a:p>
          </p:txBody>
        </p:sp>
      </p:grpSp>
      <p:pic>
        <p:nvPicPr>
          <p:cNvPr id="19" name="Picture 3">
            <a:extLst>
              <a:ext uri="{FF2B5EF4-FFF2-40B4-BE49-F238E27FC236}">
                <a16:creationId xmlns:a16="http://schemas.microsoft.com/office/drawing/2014/main" id="{1C27BF18-E5C7-E16F-E145-1E1EED57C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40165" y="1353004"/>
            <a:ext cx="2338296" cy="2605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hteck 30">
            <a:extLst>
              <a:ext uri="{FF2B5EF4-FFF2-40B4-BE49-F238E27FC236}">
                <a16:creationId xmlns:a16="http://schemas.microsoft.com/office/drawing/2014/main" id="{130E8AFD-459C-0F69-18E6-6634C53D1D77}"/>
              </a:ext>
            </a:extLst>
          </p:cNvPr>
          <p:cNvSpPr/>
          <p:nvPr/>
        </p:nvSpPr>
        <p:spPr>
          <a:xfrm>
            <a:off x="6803913" y="4532926"/>
            <a:ext cx="492822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Teste cíclico com força constantemente crescente até a falha. A nova placa de ponte possui melhor estabilidade (resistência à fadiga) com um perfil de placa menor e titânio. Mais fácil de moldar.</a:t>
            </a:r>
          </a:p>
        </p:txBody>
      </p:sp>
      <p:cxnSp>
        <p:nvCxnSpPr>
          <p:cNvPr id="21" name="Straight Connector 305">
            <a:extLst>
              <a:ext uri="{FF2B5EF4-FFF2-40B4-BE49-F238E27FC236}">
                <a16:creationId xmlns:a16="http://schemas.microsoft.com/office/drawing/2014/main" id="{279DBF40-F885-AB68-E1FF-8FBB1193A8AE}"/>
              </a:ext>
            </a:extLst>
          </p:cNvPr>
          <p:cNvCxnSpPr>
            <a:cxnSpLocks/>
          </p:cNvCxnSpPr>
          <p:nvPr/>
        </p:nvCxnSpPr>
        <p:spPr>
          <a:xfrm>
            <a:off x="3334967" y="1539726"/>
            <a:ext cx="15967" cy="4683241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305">
            <a:extLst>
              <a:ext uri="{FF2B5EF4-FFF2-40B4-BE49-F238E27FC236}">
                <a16:creationId xmlns:a16="http://schemas.microsoft.com/office/drawing/2014/main" id="{B262150C-CF45-D2B1-64C9-F8D25234EDF3}"/>
              </a:ext>
            </a:extLst>
          </p:cNvPr>
          <p:cNvCxnSpPr>
            <a:cxnSpLocks/>
          </p:cNvCxnSpPr>
          <p:nvPr/>
        </p:nvCxnSpPr>
        <p:spPr>
          <a:xfrm>
            <a:off x="6902093" y="4441455"/>
            <a:ext cx="4518382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05">
            <a:extLst>
              <a:ext uri="{FF2B5EF4-FFF2-40B4-BE49-F238E27FC236}">
                <a16:creationId xmlns:a16="http://schemas.microsoft.com/office/drawing/2014/main" id="{6E7E1F8E-6428-4EA1-DF03-C06CC0B3AEB2}"/>
              </a:ext>
            </a:extLst>
          </p:cNvPr>
          <p:cNvCxnSpPr>
            <a:cxnSpLocks/>
          </p:cNvCxnSpPr>
          <p:nvPr/>
        </p:nvCxnSpPr>
        <p:spPr>
          <a:xfrm>
            <a:off x="6902093" y="6235297"/>
            <a:ext cx="4518382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6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13">
            <a:extLst>
              <a:ext uri="{FF2B5EF4-FFF2-40B4-BE49-F238E27FC236}">
                <a16:creationId xmlns:a16="http://schemas.microsoft.com/office/drawing/2014/main" id="{9606BB12-592B-38C5-D65B-742557860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896808"/>
              </p:ext>
            </p:extLst>
          </p:nvPr>
        </p:nvGraphicFramePr>
        <p:xfrm>
          <a:off x="1348650" y="4121128"/>
          <a:ext cx="10338525" cy="1132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550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13225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TriLock em ambos </a:t>
                      </a:r>
                      <a:b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</a:br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os lados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É necessário menos dobramento da placa*.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23" name="Table 13">
            <a:extLst>
              <a:ext uri="{FF2B5EF4-FFF2-40B4-BE49-F238E27FC236}">
                <a16:creationId xmlns:a16="http://schemas.microsoft.com/office/drawing/2014/main" id="{C969C4F5-BE74-F29F-6562-081CFBF8F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02"/>
              </p:ext>
            </p:extLst>
          </p:nvPr>
        </p:nvGraphicFramePr>
        <p:xfrm>
          <a:off x="2058421" y="2757806"/>
          <a:ext cx="9628754" cy="1132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779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848225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13225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Estrutura em grade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Menos tensão do que a placa convencional. Estabilidade aumentada apesar da altura geral do perfil mais baixa*.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4" name="Title 9">
            <a:extLst>
              <a:ext uri="{FF2B5EF4-FFF2-40B4-BE49-F238E27FC236}">
                <a16:creationId xmlns:a16="http://schemas.microsoft.com/office/drawing/2014/main" id="{F4CCB660-AB82-4EBF-B112-B8531ECC4C40}"/>
              </a:ext>
            </a:extLst>
          </p:cNvPr>
          <p:cNvSpPr txBox="1">
            <a:spLocks/>
          </p:cNvSpPr>
          <p:nvPr/>
        </p:nvSpPr>
        <p:spPr>
          <a:xfrm>
            <a:off x="254001" y="623517"/>
            <a:ext cx="10718800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Características e benefícios das placas TriLock ponte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4A11B878-567A-6E51-96D1-12F3C23E50AC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11195049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5B3FEB9D-27F2-22DF-317F-3C536A72B5E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D65AE5C7-EB48-BE58-0698-BB256D923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020992"/>
              </p:ext>
            </p:extLst>
          </p:nvPr>
        </p:nvGraphicFramePr>
        <p:xfrm>
          <a:off x="2058421" y="1394484"/>
          <a:ext cx="9628754" cy="1132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779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848225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13225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Ajuste anatômico*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É necessário menos dobramento da placa*.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pic>
        <p:nvPicPr>
          <p:cNvPr id="16" name="Grafik 3">
            <a:extLst>
              <a:ext uri="{FF2B5EF4-FFF2-40B4-BE49-F238E27FC236}">
                <a16:creationId xmlns:a16="http://schemas.microsoft.com/office/drawing/2014/main" id="{A4646405-7DC9-8130-69BB-2F331354BE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8954" y="1449279"/>
            <a:ext cx="3267825" cy="1084681"/>
          </a:xfrm>
          <a:prstGeom prst="roundRect">
            <a:avLst>
              <a:gd name="adj" fmla="val 24161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17" name="Grafik 5" descr="Ein Bild, das Karte, Text enthält.&#10;&#10;Automatisch generierte Beschreibung">
            <a:extLst>
              <a:ext uri="{FF2B5EF4-FFF2-40B4-BE49-F238E27FC236}">
                <a16:creationId xmlns:a16="http://schemas.microsoft.com/office/drawing/2014/main" id="{4FBDDCAB-ACE9-7F55-032B-015CBDDA0F9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4613" y="2750578"/>
            <a:ext cx="2048567" cy="1144655"/>
          </a:xfrm>
          <a:prstGeom prst="roundRect">
            <a:avLst>
              <a:gd name="adj" fmla="val 16083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graphicFrame>
        <p:nvGraphicFramePr>
          <p:cNvPr id="25" name="Table 13">
            <a:extLst>
              <a:ext uri="{FF2B5EF4-FFF2-40B4-BE49-F238E27FC236}">
                <a16:creationId xmlns:a16="http://schemas.microsoft.com/office/drawing/2014/main" id="{5BBCEA39-689A-5E3F-4CC3-A168F5033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421770"/>
              </p:ext>
            </p:extLst>
          </p:nvPr>
        </p:nvGraphicFramePr>
        <p:xfrm>
          <a:off x="2058421" y="5484449"/>
          <a:ext cx="9628754" cy="1132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779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848225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13225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Seção ramificada adaptável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É necessário menos dobramento da placa*.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pic>
        <p:nvPicPr>
          <p:cNvPr id="29" name="Imagem 28">
            <a:extLst>
              <a:ext uri="{FF2B5EF4-FFF2-40B4-BE49-F238E27FC236}">
                <a16:creationId xmlns:a16="http://schemas.microsoft.com/office/drawing/2014/main" id="{8C59168E-B4DE-7B71-52B6-30043FD31C0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371" y="5526007"/>
            <a:ext cx="1964723" cy="1073441"/>
          </a:xfrm>
          <a:prstGeom prst="roundRect">
            <a:avLst>
              <a:gd name="adj" fmla="val 15867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FFCDAB2-99F6-CC62-8CD7-8FBB8932CF4A}"/>
              </a:ext>
            </a:extLst>
          </p:cNvPr>
          <p:cNvGrpSpPr/>
          <p:nvPr/>
        </p:nvGrpSpPr>
        <p:grpSpPr>
          <a:xfrm>
            <a:off x="794613" y="4082491"/>
            <a:ext cx="1325832" cy="1326229"/>
            <a:chOff x="217057" y="4324240"/>
            <a:chExt cx="1325832" cy="1326229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0CBBA641-7AA1-4F92-40A3-7F3DC9AF8A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013" y="4334593"/>
              <a:ext cx="1315876" cy="1315876"/>
            </a:xfrm>
            <a:custGeom>
              <a:avLst/>
              <a:gdLst>
                <a:gd name="csX0" fmla="*/ 663114 w 1326228"/>
                <a:gd name="csY0" fmla="*/ 0 h 1326228"/>
                <a:gd name="csX1" fmla="*/ 1326228 w 1326228"/>
                <a:gd name="csY1" fmla="*/ 663114 h 1326228"/>
                <a:gd name="csX2" fmla="*/ 663114 w 1326228"/>
                <a:gd name="csY2" fmla="*/ 1326228 h 1326228"/>
                <a:gd name="csX3" fmla="*/ 0 w 1326228"/>
                <a:gd name="csY3" fmla="*/ 663114 h 1326228"/>
                <a:gd name="csX4" fmla="*/ 663114 w 1326228"/>
                <a:gd name="csY4" fmla="*/ 0 h 13262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26228" h="1326228">
                  <a:moveTo>
                    <a:pt x="663114" y="0"/>
                  </a:moveTo>
                  <a:cubicBezTo>
                    <a:pt x="1029342" y="0"/>
                    <a:pt x="1326228" y="296886"/>
                    <a:pt x="1326228" y="663114"/>
                  </a:cubicBezTo>
                  <a:cubicBezTo>
                    <a:pt x="1326228" y="1029342"/>
                    <a:pt x="1029342" y="1326228"/>
                    <a:pt x="663114" y="1326228"/>
                  </a:cubicBezTo>
                  <a:cubicBezTo>
                    <a:pt x="296886" y="1326228"/>
                    <a:pt x="0" y="1029342"/>
                    <a:pt x="0" y="663114"/>
                  </a:cubicBezTo>
                  <a:cubicBezTo>
                    <a:pt x="0" y="296886"/>
                    <a:pt x="296886" y="0"/>
                    <a:pt x="663114" y="0"/>
                  </a:cubicBezTo>
                  <a:close/>
                </a:path>
              </a:pathLst>
            </a:custGeom>
          </p:spPr>
        </p:pic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0CFF3ED8-EA1B-333C-EF4F-0C78ED837C53}"/>
                </a:ext>
              </a:extLst>
            </p:cNvPr>
            <p:cNvSpPr/>
            <p:nvPr/>
          </p:nvSpPr>
          <p:spPr>
            <a:xfrm>
              <a:off x="217057" y="4324240"/>
              <a:ext cx="1315876" cy="1315876"/>
            </a:xfrm>
            <a:prstGeom prst="ellipse">
              <a:avLst/>
            </a:prstGeom>
            <a:noFill/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5" name="Title 9">
            <a:extLst>
              <a:ext uri="{FF2B5EF4-FFF2-40B4-BE49-F238E27FC236}">
                <a16:creationId xmlns:a16="http://schemas.microsoft.com/office/drawing/2014/main" id="{32993749-4DFF-53B5-AACA-F61311D74477}"/>
              </a:ext>
            </a:extLst>
          </p:cNvPr>
          <p:cNvSpPr txBox="1">
            <a:spLocks/>
          </p:cNvSpPr>
          <p:nvPr/>
        </p:nvSpPr>
        <p:spPr>
          <a:xfrm>
            <a:off x="362284" y="1761432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</a:t>
            </a:r>
          </a:p>
        </p:txBody>
      </p:sp>
      <p:sp>
        <p:nvSpPr>
          <p:cNvPr id="36" name="Title 9">
            <a:extLst>
              <a:ext uri="{FF2B5EF4-FFF2-40B4-BE49-F238E27FC236}">
                <a16:creationId xmlns:a16="http://schemas.microsoft.com/office/drawing/2014/main" id="{9A7D3561-A246-55EC-BC1B-9C16484DA20E}"/>
              </a:ext>
            </a:extLst>
          </p:cNvPr>
          <p:cNvSpPr txBox="1">
            <a:spLocks/>
          </p:cNvSpPr>
          <p:nvPr/>
        </p:nvSpPr>
        <p:spPr>
          <a:xfrm>
            <a:off x="362284" y="3198813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</a:t>
            </a:r>
          </a:p>
        </p:txBody>
      </p:sp>
      <p:sp>
        <p:nvSpPr>
          <p:cNvPr id="37" name="Title 9">
            <a:extLst>
              <a:ext uri="{FF2B5EF4-FFF2-40B4-BE49-F238E27FC236}">
                <a16:creationId xmlns:a16="http://schemas.microsoft.com/office/drawing/2014/main" id="{4C18191E-66CC-FA09-33AE-D16E53C343C3}"/>
              </a:ext>
            </a:extLst>
          </p:cNvPr>
          <p:cNvSpPr txBox="1">
            <a:spLocks/>
          </p:cNvSpPr>
          <p:nvPr/>
        </p:nvSpPr>
        <p:spPr>
          <a:xfrm>
            <a:off x="362284" y="4510242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3</a:t>
            </a:r>
          </a:p>
        </p:txBody>
      </p:sp>
      <p:sp>
        <p:nvSpPr>
          <p:cNvPr id="38" name="Title 9">
            <a:extLst>
              <a:ext uri="{FF2B5EF4-FFF2-40B4-BE49-F238E27FC236}">
                <a16:creationId xmlns:a16="http://schemas.microsoft.com/office/drawing/2014/main" id="{BB117AD9-A7FD-1481-12C9-94B5CAE63EED}"/>
              </a:ext>
            </a:extLst>
          </p:cNvPr>
          <p:cNvSpPr txBox="1">
            <a:spLocks/>
          </p:cNvSpPr>
          <p:nvPr/>
        </p:nvSpPr>
        <p:spPr>
          <a:xfrm>
            <a:off x="362284" y="5836471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4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4A4356B-CD4E-8D22-A35E-49FA12B12DAF}"/>
              </a:ext>
            </a:extLst>
          </p:cNvPr>
          <p:cNvSpPr/>
          <p:nvPr/>
        </p:nvSpPr>
        <p:spPr>
          <a:xfrm>
            <a:off x="4547989" y="1198043"/>
            <a:ext cx="2162175" cy="3462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Características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F32E310-0DFF-AEED-3D64-4BC1DEC7A25C}"/>
              </a:ext>
            </a:extLst>
          </p:cNvPr>
          <p:cNvSpPr/>
          <p:nvPr/>
        </p:nvSpPr>
        <p:spPr>
          <a:xfrm>
            <a:off x="9410700" y="1198043"/>
            <a:ext cx="2162175" cy="3462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Benefícios</a:t>
            </a:r>
          </a:p>
        </p:txBody>
      </p:sp>
    </p:spTree>
    <p:extLst>
      <p:ext uri="{BB962C8B-B14F-4D97-AF65-F5344CB8AC3E}">
        <p14:creationId xmlns:p14="http://schemas.microsoft.com/office/powerpoint/2010/main" val="322397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>
            <a:extLst>
              <a:ext uri="{FF2B5EF4-FFF2-40B4-BE49-F238E27FC236}">
                <a16:creationId xmlns:a16="http://schemas.microsoft.com/office/drawing/2014/main" id="{F30B00AC-2B80-BD6B-C82B-087608C48713}"/>
              </a:ext>
            </a:extLst>
          </p:cNvPr>
          <p:cNvSpPr txBox="1">
            <a:spLocks/>
          </p:cNvSpPr>
          <p:nvPr/>
        </p:nvSpPr>
        <p:spPr>
          <a:xfrm>
            <a:off x="254001" y="623517"/>
            <a:ext cx="10718800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Placas condilar (Com e sem bloqueio)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2FC260D9-3FD2-C79B-E3E7-9E6C8F42375F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7318374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A68EB940-1201-7FE2-34C2-568525FE3A1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5B43C86-5EA3-C059-3AC5-C0D5389FA654}"/>
              </a:ext>
            </a:extLst>
          </p:cNvPr>
          <p:cNvSpPr/>
          <p:nvPr/>
        </p:nvSpPr>
        <p:spPr>
          <a:xfrm>
            <a:off x="1463675" y="1544265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Bloqueada</a:t>
            </a:r>
          </a:p>
        </p:txBody>
      </p:sp>
      <p:cxnSp>
        <p:nvCxnSpPr>
          <p:cNvPr id="11" name="Straight Connector 305">
            <a:extLst>
              <a:ext uri="{FF2B5EF4-FFF2-40B4-BE49-F238E27FC236}">
                <a16:creationId xmlns:a16="http://schemas.microsoft.com/office/drawing/2014/main" id="{596ECB3F-33F5-282A-6BB2-12259845EEB2}"/>
              </a:ext>
            </a:extLst>
          </p:cNvPr>
          <p:cNvCxnSpPr>
            <a:cxnSpLocks/>
          </p:cNvCxnSpPr>
          <p:nvPr/>
        </p:nvCxnSpPr>
        <p:spPr>
          <a:xfrm>
            <a:off x="6102072" y="1583301"/>
            <a:ext cx="0" cy="459072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30AF9ACC-3E6E-FBDD-0D39-5B6B16371573}"/>
              </a:ext>
            </a:extLst>
          </p:cNvPr>
          <p:cNvSpPr/>
          <p:nvPr/>
        </p:nvSpPr>
        <p:spPr>
          <a:xfrm>
            <a:off x="7476207" y="1544265"/>
            <a:ext cx="3264262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Sem bloqueio</a:t>
            </a:r>
          </a:p>
        </p:txBody>
      </p:sp>
      <p:pic>
        <p:nvPicPr>
          <p:cNvPr id="13" name="Grafik 5">
            <a:extLst>
              <a:ext uri="{FF2B5EF4-FFF2-40B4-BE49-F238E27FC236}">
                <a16:creationId xmlns:a16="http://schemas.microsoft.com/office/drawing/2014/main" id="{9E4DF3E0-6409-7715-5A57-D0202E8F58E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9803" y="2736069"/>
            <a:ext cx="571078" cy="530286"/>
          </a:xfrm>
          <a:prstGeom prst="rect">
            <a:avLst/>
          </a:prstGeom>
        </p:spPr>
      </p:pic>
      <p:pic>
        <p:nvPicPr>
          <p:cNvPr id="14" name="Grafik 8">
            <a:extLst>
              <a:ext uri="{FF2B5EF4-FFF2-40B4-BE49-F238E27FC236}">
                <a16:creationId xmlns:a16="http://schemas.microsoft.com/office/drawing/2014/main" id="{DD5CB6D7-7891-EC1A-A42E-FCC644F6D7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9905" y="2706568"/>
            <a:ext cx="569135" cy="571078"/>
          </a:xfrm>
          <a:prstGeom prst="rect">
            <a:avLst/>
          </a:prstGeom>
        </p:spPr>
      </p:pic>
      <p:pic>
        <p:nvPicPr>
          <p:cNvPr id="15" name="Grafik 12">
            <a:extLst>
              <a:ext uri="{FF2B5EF4-FFF2-40B4-BE49-F238E27FC236}">
                <a16:creationId xmlns:a16="http://schemas.microsoft.com/office/drawing/2014/main" id="{AA8D9DBB-6A0E-5259-41E0-C97300E4D78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9587" y="2588079"/>
            <a:ext cx="489495" cy="808056"/>
          </a:xfrm>
          <a:prstGeom prst="rect">
            <a:avLst/>
          </a:prstGeom>
        </p:spPr>
      </p:pic>
      <p:pic>
        <p:nvPicPr>
          <p:cNvPr id="16" name="Grafik 14">
            <a:extLst>
              <a:ext uri="{FF2B5EF4-FFF2-40B4-BE49-F238E27FC236}">
                <a16:creationId xmlns:a16="http://schemas.microsoft.com/office/drawing/2014/main" id="{448E5882-F54F-0DE3-B325-892B8CC471B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4923" y="3861298"/>
            <a:ext cx="889639" cy="209784"/>
          </a:xfrm>
          <a:prstGeom prst="rect">
            <a:avLst/>
          </a:prstGeom>
        </p:spPr>
      </p:pic>
      <p:pic>
        <p:nvPicPr>
          <p:cNvPr id="17" name="Grafik 18">
            <a:extLst>
              <a:ext uri="{FF2B5EF4-FFF2-40B4-BE49-F238E27FC236}">
                <a16:creationId xmlns:a16="http://schemas.microsoft.com/office/drawing/2014/main" id="{8773E640-1905-16CB-2A9C-004B8E39936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2953" y="3894565"/>
            <a:ext cx="1008128" cy="211726"/>
          </a:xfrm>
          <a:prstGeom prst="rect">
            <a:avLst/>
          </a:prstGeom>
        </p:spPr>
      </p:pic>
      <p:pic>
        <p:nvPicPr>
          <p:cNvPr id="18" name="Grafik 20">
            <a:extLst>
              <a:ext uri="{FF2B5EF4-FFF2-40B4-BE49-F238E27FC236}">
                <a16:creationId xmlns:a16="http://schemas.microsoft.com/office/drawing/2014/main" id="{8C72E9BE-0989-A8F9-2A9D-A878122A848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5945" y="3894565"/>
            <a:ext cx="1128559" cy="211726"/>
          </a:xfrm>
          <a:prstGeom prst="rect">
            <a:avLst/>
          </a:prstGeom>
        </p:spPr>
      </p:pic>
      <p:pic>
        <p:nvPicPr>
          <p:cNvPr id="19" name="Grafik 23">
            <a:extLst>
              <a:ext uri="{FF2B5EF4-FFF2-40B4-BE49-F238E27FC236}">
                <a16:creationId xmlns:a16="http://schemas.microsoft.com/office/drawing/2014/main" id="{7218EC35-6CB7-D8F2-640C-A333CA58580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9147" y="4703021"/>
            <a:ext cx="1720735" cy="357151"/>
          </a:xfrm>
          <a:prstGeom prst="rect">
            <a:avLst/>
          </a:prstGeom>
        </p:spPr>
      </p:pic>
      <p:pic>
        <p:nvPicPr>
          <p:cNvPr id="20" name="Grafik 22">
            <a:extLst>
              <a:ext uri="{FF2B5EF4-FFF2-40B4-BE49-F238E27FC236}">
                <a16:creationId xmlns:a16="http://schemas.microsoft.com/office/drawing/2014/main" id="{D8584075-B445-1C12-E792-E6D36AF39FC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9788" y="3696785"/>
            <a:ext cx="662801" cy="615793"/>
          </a:xfrm>
          <a:prstGeom prst="rect">
            <a:avLst/>
          </a:prstGeom>
        </p:spPr>
      </p:pic>
      <p:pic>
        <p:nvPicPr>
          <p:cNvPr id="21" name="Grafik 24">
            <a:extLst>
              <a:ext uri="{FF2B5EF4-FFF2-40B4-BE49-F238E27FC236}">
                <a16:creationId xmlns:a16="http://schemas.microsoft.com/office/drawing/2014/main" id="{5F02FB5B-6706-BD17-3905-3817E678056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7799" y="3675631"/>
            <a:ext cx="674552" cy="658100"/>
          </a:xfrm>
          <a:prstGeom prst="rect">
            <a:avLst/>
          </a:prstGeom>
        </p:spPr>
      </p:pic>
      <p:pic>
        <p:nvPicPr>
          <p:cNvPr id="22" name="Grafik 26">
            <a:extLst>
              <a:ext uri="{FF2B5EF4-FFF2-40B4-BE49-F238E27FC236}">
                <a16:creationId xmlns:a16="http://schemas.microsoft.com/office/drawing/2014/main" id="{A385DA57-A9BA-1D6A-41C2-19837F7556F6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8153" y="3266355"/>
            <a:ext cx="1092916" cy="1149324"/>
          </a:xfrm>
          <a:prstGeom prst="rect">
            <a:avLst/>
          </a:prstGeom>
        </p:spPr>
      </p:pic>
      <p:pic>
        <p:nvPicPr>
          <p:cNvPr id="23" name="Grafik 28">
            <a:extLst>
              <a:ext uri="{FF2B5EF4-FFF2-40B4-BE49-F238E27FC236}">
                <a16:creationId xmlns:a16="http://schemas.microsoft.com/office/drawing/2014/main" id="{E7C96E7A-1149-B410-08D4-05F6A9D9F7F7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7562" y="3355726"/>
            <a:ext cx="587589" cy="9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0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272C-B878-EED9-F093-29A46D239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FF38057-1089-72BD-6050-3BAC077AC5B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FBC9C7F6-C0D4-070F-A38D-ADF1FF0B2E6C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2F607276-3A0C-2F2D-20A6-6DD4F657C129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dos parafusos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4189BCF-91A8-73DD-B832-31F49FC04117}"/>
              </a:ext>
            </a:extLst>
          </p:cNvPr>
          <p:cNvSpPr/>
          <p:nvPr/>
        </p:nvSpPr>
        <p:spPr>
          <a:xfrm>
            <a:off x="2293069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2.0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E3383B-B8C4-A903-1776-E36E072E4B93}"/>
              </a:ext>
            </a:extLst>
          </p:cNvPr>
          <p:cNvSpPr/>
          <p:nvPr/>
        </p:nvSpPr>
        <p:spPr>
          <a:xfrm>
            <a:off x="5082721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2.3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6238A21-43DC-0275-E42F-0016C6F69666}"/>
              </a:ext>
            </a:extLst>
          </p:cNvPr>
          <p:cNvSpPr/>
          <p:nvPr/>
        </p:nvSpPr>
        <p:spPr>
          <a:xfrm>
            <a:off x="7872373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</a:t>
            </a:r>
            <a:r>
              <a:rPr lang="pt-BR" sz="1400" dirty="0" err="1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SpeedTip</a:t>
            </a:r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2.0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DA0F002-C43F-43C6-97A6-CCD6C46173A1}"/>
              </a:ext>
            </a:extLst>
          </p:cNvPr>
          <p:cNvSpPr/>
          <p:nvPr/>
        </p:nvSpPr>
        <p:spPr>
          <a:xfrm>
            <a:off x="2293069" y="1570080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feld 22">
            <a:extLst>
              <a:ext uri="{FF2B5EF4-FFF2-40B4-BE49-F238E27FC236}">
                <a16:creationId xmlns:a16="http://schemas.microsoft.com/office/drawing/2014/main" id="{E4354595-4DEA-06DC-2BAE-228BBAEF9709}"/>
              </a:ext>
            </a:extLst>
          </p:cNvPr>
          <p:cNvSpPr txBox="1"/>
          <p:nvPr/>
        </p:nvSpPr>
        <p:spPr>
          <a:xfrm>
            <a:off x="2420195" y="5149418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Cortical 2.0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9D8E4E7-5967-91F6-CB50-CA478955B562}"/>
              </a:ext>
            </a:extLst>
          </p:cNvPr>
          <p:cNvSpPr/>
          <p:nvPr/>
        </p:nvSpPr>
        <p:spPr>
          <a:xfrm>
            <a:off x="5082721" y="1570079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feld 22">
            <a:extLst>
              <a:ext uri="{FF2B5EF4-FFF2-40B4-BE49-F238E27FC236}">
                <a16:creationId xmlns:a16="http://schemas.microsoft.com/office/drawing/2014/main" id="{5E114A46-FD15-B7C9-C04D-E789CC464B21}"/>
              </a:ext>
            </a:extLst>
          </p:cNvPr>
          <p:cNvSpPr txBox="1"/>
          <p:nvPr/>
        </p:nvSpPr>
        <p:spPr>
          <a:xfrm>
            <a:off x="5209847" y="5149417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Cortical 2.3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E48C661-F781-0F36-40FC-5471D3FAD3AA}"/>
              </a:ext>
            </a:extLst>
          </p:cNvPr>
          <p:cNvSpPr/>
          <p:nvPr/>
        </p:nvSpPr>
        <p:spPr>
          <a:xfrm>
            <a:off x="7872373" y="1570078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feld 22">
            <a:extLst>
              <a:ext uri="{FF2B5EF4-FFF2-40B4-BE49-F238E27FC236}">
                <a16:creationId xmlns:a16="http://schemas.microsoft.com/office/drawing/2014/main" id="{91C41972-8B41-F8FE-BE08-31766441F27B}"/>
              </a:ext>
            </a:extLst>
          </p:cNvPr>
          <p:cNvSpPr txBox="1"/>
          <p:nvPr/>
        </p:nvSpPr>
        <p:spPr>
          <a:xfrm>
            <a:off x="7999499" y="5149416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SpeedTip 2.0</a:t>
            </a: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FA84A2EB-A198-4432-23D2-087C8ED91C01}"/>
              </a:ext>
            </a:extLst>
          </p:cNvPr>
          <p:cNvGrpSpPr/>
          <p:nvPr/>
        </p:nvGrpSpPr>
        <p:grpSpPr>
          <a:xfrm>
            <a:off x="2527931" y="5097926"/>
            <a:ext cx="1502751" cy="361403"/>
            <a:chOff x="1134842" y="5097926"/>
            <a:chExt cx="1502751" cy="361403"/>
          </a:xfrm>
        </p:grpSpPr>
        <p:cxnSp>
          <p:nvCxnSpPr>
            <p:cNvPr id="33" name="Straight Connector 305">
              <a:extLst>
                <a:ext uri="{FF2B5EF4-FFF2-40B4-BE49-F238E27FC236}">
                  <a16:creationId xmlns:a16="http://schemas.microsoft.com/office/drawing/2014/main" id="{F31704F6-2981-1E94-DF10-EC4226E217CA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05">
              <a:extLst>
                <a:ext uri="{FF2B5EF4-FFF2-40B4-BE49-F238E27FC236}">
                  <a16:creationId xmlns:a16="http://schemas.microsoft.com/office/drawing/2014/main" id="{65DB84F4-8C40-3FB0-C7A1-286CA4843FD6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3984D7DC-8717-4199-574B-264578A50D28}"/>
              </a:ext>
            </a:extLst>
          </p:cNvPr>
          <p:cNvGrpSpPr/>
          <p:nvPr/>
        </p:nvGrpSpPr>
        <p:grpSpPr>
          <a:xfrm>
            <a:off x="5343964" y="5097926"/>
            <a:ext cx="1502751" cy="361403"/>
            <a:chOff x="1134842" y="5097926"/>
            <a:chExt cx="1502751" cy="361403"/>
          </a:xfrm>
        </p:grpSpPr>
        <p:cxnSp>
          <p:nvCxnSpPr>
            <p:cNvPr id="38" name="Straight Connector 305">
              <a:extLst>
                <a:ext uri="{FF2B5EF4-FFF2-40B4-BE49-F238E27FC236}">
                  <a16:creationId xmlns:a16="http://schemas.microsoft.com/office/drawing/2014/main" id="{CF15F970-5847-B04A-3721-4196D48BCD66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05">
              <a:extLst>
                <a:ext uri="{FF2B5EF4-FFF2-40B4-BE49-F238E27FC236}">
                  <a16:creationId xmlns:a16="http://schemas.microsoft.com/office/drawing/2014/main" id="{CE13BC6E-5A2E-8B7F-87C0-8199B81C8D78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30818BBE-0247-7B39-DBB5-8D2EEA2131FB}"/>
              </a:ext>
            </a:extLst>
          </p:cNvPr>
          <p:cNvGrpSpPr/>
          <p:nvPr/>
        </p:nvGrpSpPr>
        <p:grpSpPr>
          <a:xfrm>
            <a:off x="8159997" y="5050301"/>
            <a:ext cx="1502751" cy="439107"/>
            <a:chOff x="1134842" y="5050301"/>
            <a:chExt cx="1502751" cy="439107"/>
          </a:xfrm>
        </p:grpSpPr>
        <p:cxnSp>
          <p:nvCxnSpPr>
            <p:cNvPr id="41" name="Straight Connector 305">
              <a:extLst>
                <a:ext uri="{FF2B5EF4-FFF2-40B4-BE49-F238E27FC236}">
                  <a16:creationId xmlns:a16="http://schemas.microsoft.com/office/drawing/2014/main" id="{663998A8-6577-E607-0EDD-977B2C02D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50301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305">
              <a:extLst>
                <a:ext uri="{FF2B5EF4-FFF2-40B4-BE49-F238E27FC236}">
                  <a16:creationId xmlns:a16="http://schemas.microsoft.com/office/drawing/2014/main" id="{1ED67F7F-D83C-68F0-63A7-8DE6DBFA6448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89408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rafik 9">
            <a:extLst>
              <a:ext uri="{FF2B5EF4-FFF2-40B4-BE49-F238E27FC236}">
                <a16:creationId xmlns:a16="http://schemas.microsoft.com/office/drawing/2014/main" id="{492E1422-73D2-FD5F-7403-AF51DA5168C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959092" y="3205177"/>
            <a:ext cx="2273814" cy="818075"/>
          </a:xfrm>
          <a:prstGeom prst="rect">
            <a:avLst/>
          </a:prstGeom>
        </p:spPr>
      </p:pic>
      <p:pic>
        <p:nvPicPr>
          <p:cNvPr id="3" name="Grafik 13">
            <a:extLst>
              <a:ext uri="{FF2B5EF4-FFF2-40B4-BE49-F238E27FC236}">
                <a16:creationId xmlns:a16="http://schemas.microsoft.com/office/drawing/2014/main" id="{19607AC6-1C53-4145-9B64-CB1DFB2B524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007473" y="3166767"/>
            <a:ext cx="2528879" cy="818075"/>
          </a:xfrm>
          <a:prstGeom prst="rect">
            <a:avLst/>
          </a:prstGeom>
        </p:spPr>
      </p:pic>
      <p:pic>
        <p:nvPicPr>
          <p:cNvPr id="13" name="Grafik 4" descr="Ein Bild, das grün, Straße, sitzend, Bus enthält.&#10;&#10;Mit sehr hoher Zuverlässigkeit generierte Beschreibung">
            <a:extLst>
              <a:ext uri="{FF2B5EF4-FFF2-40B4-BE49-F238E27FC236}">
                <a16:creationId xmlns:a16="http://schemas.microsoft.com/office/drawing/2014/main" id="{ED9B707C-EDC1-EB83-C4CB-9B39E4ECAC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1050" y="2768354"/>
            <a:ext cx="818075" cy="180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9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7620-E071-E64C-2073-C745DE9D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69C8503-1A7D-607F-DB51-99AC666012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7A98E0F5-634F-B5BA-6BBE-6844D4A12CAD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D3BFAAF6-72EF-A6B1-C7A6-BD9DD5ABFFAB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dos parafusos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D33F3C7-7001-628D-0C8F-DAAE2287845F}"/>
              </a:ext>
            </a:extLst>
          </p:cNvPr>
          <p:cNvSpPr/>
          <p:nvPr/>
        </p:nvSpPr>
        <p:spPr>
          <a:xfrm>
            <a:off x="899980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Trilock 2.0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1430C6-3B79-D65D-DADC-53DFF09C5F06}"/>
              </a:ext>
            </a:extLst>
          </p:cNvPr>
          <p:cNvSpPr/>
          <p:nvPr/>
        </p:nvSpPr>
        <p:spPr>
          <a:xfrm>
            <a:off x="3689632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90802B5-923C-DDFD-C449-6FB72A324BB3}"/>
              </a:ext>
            </a:extLst>
          </p:cNvPr>
          <p:cNvSpPr/>
          <p:nvPr/>
        </p:nvSpPr>
        <p:spPr>
          <a:xfrm>
            <a:off x="6479284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3A05960-C367-EECE-EC44-ECAFE525B34C}"/>
              </a:ext>
            </a:extLst>
          </p:cNvPr>
          <p:cNvSpPr/>
          <p:nvPr/>
        </p:nvSpPr>
        <p:spPr>
          <a:xfrm>
            <a:off x="9268935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6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9E97688-3423-4335-DA40-C81876482DFD}"/>
              </a:ext>
            </a:extLst>
          </p:cNvPr>
          <p:cNvSpPr/>
          <p:nvPr/>
        </p:nvSpPr>
        <p:spPr>
          <a:xfrm>
            <a:off x="899980" y="1570080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feld 22">
            <a:extLst>
              <a:ext uri="{FF2B5EF4-FFF2-40B4-BE49-F238E27FC236}">
                <a16:creationId xmlns:a16="http://schemas.microsoft.com/office/drawing/2014/main" id="{2DEE278E-8A12-0DD8-6AD1-AFCF124F9CD1}"/>
              </a:ext>
            </a:extLst>
          </p:cNvPr>
          <p:cNvSpPr txBox="1"/>
          <p:nvPr/>
        </p:nvSpPr>
        <p:spPr>
          <a:xfrm>
            <a:off x="1027106" y="5149418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TriLock 2.0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AC519D8-A074-C102-F670-CBCC1090B830}"/>
              </a:ext>
            </a:extLst>
          </p:cNvPr>
          <p:cNvSpPr/>
          <p:nvPr/>
        </p:nvSpPr>
        <p:spPr>
          <a:xfrm>
            <a:off x="3689632" y="1570079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feld 22">
            <a:extLst>
              <a:ext uri="{FF2B5EF4-FFF2-40B4-BE49-F238E27FC236}">
                <a16:creationId xmlns:a16="http://schemas.microsoft.com/office/drawing/2014/main" id="{8748416D-882A-EE20-1427-91C42F5C98B4}"/>
              </a:ext>
            </a:extLst>
          </p:cNvPr>
          <p:cNvSpPr txBox="1"/>
          <p:nvPr/>
        </p:nvSpPr>
        <p:spPr>
          <a:xfrm>
            <a:off x="3816758" y="5149417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TriLock 2.3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6DD196B-07A6-0CE1-5A5E-AAFB06110CE9}"/>
              </a:ext>
            </a:extLst>
          </p:cNvPr>
          <p:cNvSpPr/>
          <p:nvPr/>
        </p:nvSpPr>
        <p:spPr>
          <a:xfrm>
            <a:off x="6479284" y="1570078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feld 22">
            <a:extLst>
              <a:ext uri="{FF2B5EF4-FFF2-40B4-BE49-F238E27FC236}">
                <a16:creationId xmlns:a16="http://schemas.microsoft.com/office/drawing/2014/main" id="{5CBD488D-C7AA-64BC-E7B7-473978D01B86}"/>
              </a:ext>
            </a:extLst>
          </p:cNvPr>
          <p:cNvSpPr txBox="1"/>
          <p:nvPr/>
        </p:nvSpPr>
        <p:spPr>
          <a:xfrm>
            <a:off x="6606410" y="5149416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TriLock 2.5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AA3D4DB-C1D7-C2FB-724D-3F053576B585}"/>
              </a:ext>
            </a:extLst>
          </p:cNvPr>
          <p:cNvSpPr/>
          <p:nvPr/>
        </p:nvSpPr>
        <p:spPr>
          <a:xfrm>
            <a:off x="9268936" y="1570077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9D4541E-AE44-C6D4-D43E-A188AE2CAF26}"/>
              </a:ext>
            </a:extLst>
          </p:cNvPr>
          <p:cNvSpPr txBox="1"/>
          <p:nvPr/>
        </p:nvSpPr>
        <p:spPr>
          <a:xfrm>
            <a:off x="9396062" y="4960419"/>
            <a:ext cx="1753569" cy="4989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TriLock SpeedTip 2,0</a:t>
            </a: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70F82266-2029-0BA2-FBD6-1CB430D5BAFF}"/>
              </a:ext>
            </a:extLst>
          </p:cNvPr>
          <p:cNvGrpSpPr/>
          <p:nvPr/>
        </p:nvGrpSpPr>
        <p:grpSpPr>
          <a:xfrm>
            <a:off x="1134842" y="5097926"/>
            <a:ext cx="1502751" cy="361403"/>
            <a:chOff x="1134842" y="5097926"/>
            <a:chExt cx="1502751" cy="361403"/>
          </a:xfrm>
        </p:grpSpPr>
        <p:cxnSp>
          <p:nvCxnSpPr>
            <p:cNvPr id="33" name="Straight Connector 305">
              <a:extLst>
                <a:ext uri="{FF2B5EF4-FFF2-40B4-BE49-F238E27FC236}">
                  <a16:creationId xmlns:a16="http://schemas.microsoft.com/office/drawing/2014/main" id="{8D6DE6DF-82E3-63EB-5DBC-4567A146F499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05">
              <a:extLst>
                <a:ext uri="{FF2B5EF4-FFF2-40B4-BE49-F238E27FC236}">
                  <a16:creationId xmlns:a16="http://schemas.microsoft.com/office/drawing/2014/main" id="{04744C14-4FA1-0C17-2C5E-E9A6F2B7003F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978CEAF0-0F4D-5A8E-7028-562EBA3584CA}"/>
              </a:ext>
            </a:extLst>
          </p:cNvPr>
          <p:cNvGrpSpPr/>
          <p:nvPr/>
        </p:nvGrpSpPr>
        <p:grpSpPr>
          <a:xfrm>
            <a:off x="3950875" y="5097926"/>
            <a:ext cx="1502751" cy="361403"/>
            <a:chOff x="1134842" y="5097926"/>
            <a:chExt cx="1502751" cy="361403"/>
          </a:xfrm>
        </p:grpSpPr>
        <p:cxnSp>
          <p:nvCxnSpPr>
            <p:cNvPr id="38" name="Straight Connector 305">
              <a:extLst>
                <a:ext uri="{FF2B5EF4-FFF2-40B4-BE49-F238E27FC236}">
                  <a16:creationId xmlns:a16="http://schemas.microsoft.com/office/drawing/2014/main" id="{D1C3CE6C-0A64-A155-8EF8-F22B862BC12F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05">
              <a:extLst>
                <a:ext uri="{FF2B5EF4-FFF2-40B4-BE49-F238E27FC236}">
                  <a16:creationId xmlns:a16="http://schemas.microsoft.com/office/drawing/2014/main" id="{8077E780-8BA1-770B-63E9-9C7EF0D1CFAD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45D31427-804E-FBDD-56EE-47622CFEE700}"/>
              </a:ext>
            </a:extLst>
          </p:cNvPr>
          <p:cNvGrpSpPr/>
          <p:nvPr/>
        </p:nvGrpSpPr>
        <p:grpSpPr>
          <a:xfrm>
            <a:off x="6766908" y="5097926"/>
            <a:ext cx="1502751" cy="361403"/>
            <a:chOff x="1134842" y="5097926"/>
            <a:chExt cx="1502751" cy="361403"/>
          </a:xfrm>
        </p:grpSpPr>
        <p:cxnSp>
          <p:nvCxnSpPr>
            <p:cNvPr id="41" name="Straight Connector 305">
              <a:extLst>
                <a:ext uri="{FF2B5EF4-FFF2-40B4-BE49-F238E27FC236}">
                  <a16:creationId xmlns:a16="http://schemas.microsoft.com/office/drawing/2014/main" id="{50A0EEF6-F969-C4E6-740A-B421AA2AAC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305">
              <a:extLst>
                <a:ext uri="{FF2B5EF4-FFF2-40B4-BE49-F238E27FC236}">
                  <a16:creationId xmlns:a16="http://schemas.microsoft.com/office/drawing/2014/main" id="{6A5CD38C-B622-D04B-FB70-4960B17B07D0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1EAC4520-79E6-987E-0489-D7E7D492682F}"/>
              </a:ext>
            </a:extLst>
          </p:cNvPr>
          <p:cNvGrpSpPr/>
          <p:nvPr/>
        </p:nvGrpSpPr>
        <p:grpSpPr>
          <a:xfrm>
            <a:off x="9582941" y="4910981"/>
            <a:ext cx="1502751" cy="550399"/>
            <a:chOff x="1134842" y="5097926"/>
            <a:chExt cx="1502751" cy="550399"/>
          </a:xfrm>
        </p:grpSpPr>
        <p:cxnSp>
          <p:nvCxnSpPr>
            <p:cNvPr id="44" name="Straight Connector 305">
              <a:extLst>
                <a:ext uri="{FF2B5EF4-FFF2-40B4-BE49-F238E27FC236}">
                  <a16:creationId xmlns:a16="http://schemas.microsoft.com/office/drawing/2014/main" id="{44AD5CCC-E82B-81FD-EAB1-AEE9F0BFC73E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05">
              <a:extLst>
                <a:ext uri="{FF2B5EF4-FFF2-40B4-BE49-F238E27FC236}">
                  <a16:creationId xmlns:a16="http://schemas.microsoft.com/office/drawing/2014/main" id="{48CD87EC-C4DB-B680-D3DE-7F999F862132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648325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rafik 10">
            <a:extLst>
              <a:ext uri="{FF2B5EF4-FFF2-40B4-BE49-F238E27FC236}">
                <a16:creationId xmlns:a16="http://schemas.microsoft.com/office/drawing/2014/main" id="{56F82FF4-4598-B8F5-4707-CB6B83AC2B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0906" y="2677211"/>
            <a:ext cx="743705" cy="1855429"/>
          </a:xfrm>
          <a:prstGeom prst="rect">
            <a:avLst/>
          </a:prstGeom>
        </p:spPr>
      </p:pic>
      <p:pic>
        <p:nvPicPr>
          <p:cNvPr id="3" name="Grafik 7" descr="Ein Bild, das Messer enthält.&#10;&#10;Automatisch generierte Beschreibung">
            <a:extLst>
              <a:ext uri="{FF2B5EF4-FFF2-40B4-BE49-F238E27FC236}">
                <a16:creationId xmlns:a16="http://schemas.microsoft.com/office/drawing/2014/main" id="{7EE99E35-4C52-C03F-6DA0-306F63F80D2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486268" y="3285605"/>
            <a:ext cx="2217675" cy="743705"/>
          </a:xfrm>
          <a:prstGeom prst="rect">
            <a:avLst/>
          </a:prstGeom>
        </p:spPr>
      </p:pic>
      <p:pic>
        <p:nvPicPr>
          <p:cNvPr id="13" name="Grafik 11" descr="Ein Bild, das Messer enthält.&#10;&#10;Automatisch generierte Beschreibung">
            <a:extLst>
              <a:ext uri="{FF2B5EF4-FFF2-40B4-BE49-F238E27FC236}">
                <a16:creationId xmlns:a16="http://schemas.microsoft.com/office/drawing/2014/main" id="{B1384EFA-6F5B-C6F4-04A5-E64603016DB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179633" y="3301485"/>
            <a:ext cx="2213195" cy="743705"/>
          </a:xfrm>
          <a:prstGeom prst="rect">
            <a:avLst/>
          </a:prstGeom>
        </p:spPr>
      </p:pic>
      <p:pic>
        <p:nvPicPr>
          <p:cNvPr id="14" name="Grafik 17" descr="Ein Bild, das Messer enthält.&#10;&#10;Automatisch generierte Beschreibung">
            <a:extLst>
              <a:ext uri="{FF2B5EF4-FFF2-40B4-BE49-F238E27FC236}">
                <a16:creationId xmlns:a16="http://schemas.microsoft.com/office/drawing/2014/main" id="{2378755C-BD0A-3D40-DE8B-5662D722AC9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09335" y="3289487"/>
            <a:ext cx="2213195" cy="743705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949423C-ED94-7CD2-03A8-F1F074D4A85C}"/>
              </a:ext>
            </a:extLst>
          </p:cNvPr>
          <p:cNvSpPr/>
          <p:nvPr/>
        </p:nvSpPr>
        <p:spPr>
          <a:xfrm>
            <a:off x="3695748" y="1557624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Trilock 2.3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F6D6289-C57D-D0B6-1E98-D7E934556007}"/>
              </a:ext>
            </a:extLst>
          </p:cNvPr>
          <p:cNvSpPr/>
          <p:nvPr/>
        </p:nvSpPr>
        <p:spPr>
          <a:xfrm>
            <a:off x="6473168" y="1573341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Trilock 2.5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EC5843A-1880-91C5-ADA3-47CE9B092105}"/>
              </a:ext>
            </a:extLst>
          </p:cNvPr>
          <p:cNvSpPr/>
          <p:nvPr/>
        </p:nvSpPr>
        <p:spPr>
          <a:xfrm>
            <a:off x="9275051" y="1569140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Trilock </a:t>
            </a:r>
            <a:r>
              <a:rPr lang="pt-BR" sz="1400" dirty="0" err="1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SpeedTip</a:t>
            </a:r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2.0</a:t>
            </a:r>
          </a:p>
        </p:txBody>
      </p:sp>
    </p:spTree>
    <p:extLst>
      <p:ext uri="{BB962C8B-B14F-4D97-AF65-F5344CB8AC3E}">
        <p14:creationId xmlns:p14="http://schemas.microsoft.com/office/powerpoint/2010/main" val="165703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8BC875B-43A7-134D-2B4C-B49D0B16C4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1236" y="688579"/>
            <a:ext cx="7711560" cy="56677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4414C39-41F7-F688-121B-DE3E307672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8338676E-33A9-6B76-1FAF-578625DA5501}"/>
              </a:ext>
            </a:extLst>
          </p:cNvPr>
          <p:cNvCxnSpPr>
            <a:cxnSpLocks/>
          </p:cNvCxnSpPr>
          <p:nvPr/>
        </p:nvCxnSpPr>
        <p:spPr>
          <a:xfrm flipH="1">
            <a:off x="-2056621" y="798141"/>
            <a:ext cx="677149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1E2D7D14-A30A-3B24-4155-98DA5539A6F0}"/>
              </a:ext>
            </a:extLst>
          </p:cNvPr>
          <p:cNvSpPr txBox="1">
            <a:spLocks/>
          </p:cNvSpPr>
          <p:nvPr/>
        </p:nvSpPr>
        <p:spPr>
          <a:xfrm>
            <a:off x="254000" y="349829"/>
            <a:ext cx="5240946" cy="4483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TriLock SpeedTip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A20FC2B-C7C7-C94B-3F87-3EF3C9B9C1FE}"/>
              </a:ext>
            </a:extLst>
          </p:cNvPr>
          <p:cNvGrpSpPr/>
          <p:nvPr/>
        </p:nvGrpSpPr>
        <p:grpSpPr>
          <a:xfrm>
            <a:off x="8490136" y="1806992"/>
            <a:ext cx="2840534" cy="2355716"/>
            <a:chOff x="7445987" y="2360975"/>
            <a:chExt cx="2840534" cy="2355716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6C00745-FFD1-D9BD-29BE-5D393277A7E6}"/>
                </a:ext>
              </a:extLst>
            </p:cNvPr>
            <p:cNvSpPr/>
            <p:nvPr/>
          </p:nvSpPr>
          <p:spPr>
            <a:xfrm>
              <a:off x="7797935" y="2360975"/>
              <a:ext cx="2355716" cy="2355716"/>
            </a:xfrm>
            <a:prstGeom prst="ellipse">
              <a:avLst/>
            </a:prstGeom>
            <a:noFill/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000000"/>
                </a:solidFill>
              </a:endParaRPr>
            </a:p>
          </p:txBody>
        </p:sp>
        <p:pic>
          <p:nvPicPr>
            <p:cNvPr id="10" name="Picture 7" descr="A picture containing outdoor, building, light, traffic&#10;&#10;Description automatically generated">
              <a:extLst>
                <a:ext uri="{FF2B5EF4-FFF2-40B4-BE49-F238E27FC236}">
                  <a16:creationId xmlns:a16="http://schemas.microsoft.com/office/drawing/2014/main" id="{E2A757DB-4D40-73DB-F6E6-A513B58C4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8297261" y="2165673"/>
              <a:ext cx="1137986" cy="2840534"/>
            </a:xfrm>
            <a:prstGeom prst="rect">
              <a:avLst/>
            </a:prstGeom>
          </p:spPr>
        </p:pic>
      </p:grpSp>
      <p:cxnSp>
        <p:nvCxnSpPr>
          <p:cNvPr id="15" name="Straight Connector 305">
            <a:extLst>
              <a:ext uri="{FF2B5EF4-FFF2-40B4-BE49-F238E27FC236}">
                <a16:creationId xmlns:a16="http://schemas.microsoft.com/office/drawing/2014/main" id="{93CF3058-CD20-742A-E8D7-B50907EBEA22}"/>
              </a:ext>
            </a:extLst>
          </p:cNvPr>
          <p:cNvCxnSpPr>
            <a:cxnSpLocks/>
          </p:cNvCxnSpPr>
          <p:nvPr/>
        </p:nvCxnSpPr>
        <p:spPr>
          <a:xfrm flipV="1">
            <a:off x="6697517" y="3448991"/>
            <a:ext cx="2242192" cy="902444"/>
          </a:xfrm>
          <a:prstGeom prst="line">
            <a:avLst/>
          </a:prstGeom>
          <a:ln w="190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tângulo 21">
            <a:extLst>
              <a:ext uri="{FF2B5EF4-FFF2-40B4-BE49-F238E27FC236}">
                <a16:creationId xmlns:a16="http://schemas.microsoft.com/office/drawing/2014/main" id="{36C4CC58-85F8-5F69-EF34-9CB9F3024586}"/>
              </a:ext>
            </a:extLst>
          </p:cNvPr>
          <p:cNvSpPr/>
          <p:nvPr/>
        </p:nvSpPr>
        <p:spPr>
          <a:xfrm>
            <a:off x="947543" y="225672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 Três tecnologias</a:t>
            </a:r>
          </a:p>
        </p:txBody>
      </p:sp>
      <p:pic>
        <p:nvPicPr>
          <p:cNvPr id="24" name="Graphic 89">
            <a:extLst>
              <a:ext uri="{FF2B5EF4-FFF2-40B4-BE49-F238E27FC236}">
                <a16:creationId xmlns:a16="http://schemas.microsoft.com/office/drawing/2014/main" id="{03439177-9A25-AC68-3763-CBC21ABC9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543" y="3111073"/>
            <a:ext cx="438143" cy="438143"/>
          </a:xfrm>
          <a:prstGeom prst="rect">
            <a:avLst/>
          </a:prstGeom>
        </p:spPr>
      </p:pic>
      <p:sp>
        <p:nvSpPr>
          <p:cNvPr id="28" name="Textfeld 22">
            <a:extLst>
              <a:ext uri="{FF2B5EF4-FFF2-40B4-BE49-F238E27FC236}">
                <a16:creationId xmlns:a16="http://schemas.microsoft.com/office/drawing/2014/main" id="{AE24159E-F7EF-20F9-DE04-FCC59F2FBAEC}"/>
              </a:ext>
            </a:extLst>
          </p:cNvPr>
          <p:cNvSpPr txBox="1"/>
          <p:nvPr/>
        </p:nvSpPr>
        <p:spPr>
          <a:xfrm>
            <a:off x="1664148" y="3186334"/>
            <a:ext cx="2262477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600" dirty="0">
                <a:solidFill>
                  <a:srgbClr val="000000"/>
                </a:solidFill>
                <a:latin typeface="Roboto Light"/>
                <a:cs typeface="Roboto Light"/>
              </a:rPr>
              <a:t>TriLock 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205A900-9ADA-EC32-974F-DD8AD7465B02}"/>
              </a:ext>
            </a:extLst>
          </p:cNvPr>
          <p:cNvGrpSpPr/>
          <p:nvPr/>
        </p:nvGrpSpPr>
        <p:grpSpPr>
          <a:xfrm>
            <a:off x="1472766" y="3152558"/>
            <a:ext cx="1502751" cy="361403"/>
            <a:chOff x="1134842" y="5097926"/>
            <a:chExt cx="1502751" cy="361403"/>
          </a:xfrm>
        </p:grpSpPr>
        <p:cxnSp>
          <p:nvCxnSpPr>
            <p:cNvPr id="30" name="Straight Connector 305">
              <a:extLst>
                <a:ext uri="{FF2B5EF4-FFF2-40B4-BE49-F238E27FC236}">
                  <a16:creationId xmlns:a16="http://schemas.microsoft.com/office/drawing/2014/main" id="{64585494-1C8C-9809-935F-E11FC21E1222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5">
              <a:extLst>
                <a:ext uri="{FF2B5EF4-FFF2-40B4-BE49-F238E27FC236}">
                  <a16:creationId xmlns:a16="http://schemas.microsoft.com/office/drawing/2014/main" id="{868E771E-31F9-0C28-28F5-D20FC4D4BA00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feld 22">
            <a:extLst>
              <a:ext uri="{FF2B5EF4-FFF2-40B4-BE49-F238E27FC236}">
                <a16:creationId xmlns:a16="http://schemas.microsoft.com/office/drawing/2014/main" id="{3B7E48AE-2E17-7C35-CE91-88E06ED464DF}"/>
              </a:ext>
            </a:extLst>
          </p:cNvPr>
          <p:cNvSpPr txBox="1"/>
          <p:nvPr/>
        </p:nvSpPr>
        <p:spPr>
          <a:xfrm>
            <a:off x="1664148" y="3976863"/>
            <a:ext cx="2262477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600" dirty="0">
                <a:solidFill>
                  <a:srgbClr val="000000"/>
                </a:solidFill>
                <a:latin typeface="Roboto Light"/>
                <a:cs typeface="Roboto Light"/>
              </a:rPr>
              <a:t>SpeedTip</a:t>
            </a:r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F70EB957-DCD1-D590-371A-36D963488361}"/>
              </a:ext>
            </a:extLst>
          </p:cNvPr>
          <p:cNvGrpSpPr/>
          <p:nvPr/>
        </p:nvGrpSpPr>
        <p:grpSpPr>
          <a:xfrm>
            <a:off x="1472766" y="3943087"/>
            <a:ext cx="1502751" cy="361403"/>
            <a:chOff x="1134842" y="5097926"/>
            <a:chExt cx="1502751" cy="361403"/>
          </a:xfrm>
        </p:grpSpPr>
        <p:cxnSp>
          <p:nvCxnSpPr>
            <p:cNvPr id="39" name="Straight Connector 305">
              <a:extLst>
                <a:ext uri="{FF2B5EF4-FFF2-40B4-BE49-F238E27FC236}">
                  <a16:creationId xmlns:a16="http://schemas.microsoft.com/office/drawing/2014/main" id="{9F57E1CC-9B87-EE22-835B-D1D0F57E884A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05">
              <a:extLst>
                <a:ext uri="{FF2B5EF4-FFF2-40B4-BE49-F238E27FC236}">
                  <a16:creationId xmlns:a16="http://schemas.microsoft.com/office/drawing/2014/main" id="{FDF0026C-2A99-0B21-3868-7958EBDC373E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Graphic 73">
            <a:extLst>
              <a:ext uri="{FF2B5EF4-FFF2-40B4-BE49-F238E27FC236}">
                <a16:creationId xmlns:a16="http://schemas.microsoft.com/office/drawing/2014/main" id="{6A409178-675E-3D55-32B4-52A4A3F58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111" y="3932910"/>
            <a:ext cx="438143" cy="438143"/>
          </a:xfrm>
          <a:prstGeom prst="rect">
            <a:avLst/>
          </a:prstGeom>
        </p:spPr>
      </p:pic>
      <p:sp>
        <p:nvSpPr>
          <p:cNvPr id="49" name="Textfeld 22">
            <a:extLst>
              <a:ext uri="{FF2B5EF4-FFF2-40B4-BE49-F238E27FC236}">
                <a16:creationId xmlns:a16="http://schemas.microsoft.com/office/drawing/2014/main" id="{78979601-E816-8E75-9837-ADFDF22329C3}"/>
              </a:ext>
            </a:extLst>
          </p:cNvPr>
          <p:cNvSpPr txBox="1"/>
          <p:nvPr/>
        </p:nvSpPr>
        <p:spPr>
          <a:xfrm>
            <a:off x="1651088" y="4801168"/>
            <a:ext cx="2262477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600" dirty="0">
                <a:solidFill>
                  <a:srgbClr val="000000"/>
                </a:solidFill>
                <a:latin typeface="Roboto Light"/>
                <a:cs typeface="Roboto Light"/>
              </a:rPr>
              <a:t>HexaDrive</a:t>
            </a:r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CCFC7BA0-199C-2E57-A8AD-1EBFCDB76049}"/>
              </a:ext>
            </a:extLst>
          </p:cNvPr>
          <p:cNvGrpSpPr/>
          <p:nvPr/>
        </p:nvGrpSpPr>
        <p:grpSpPr>
          <a:xfrm>
            <a:off x="1459706" y="4767392"/>
            <a:ext cx="1502751" cy="361403"/>
            <a:chOff x="1134842" y="5097926"/>
            <a:chExt cx="1502751" cy="361403"/>
          </a:xfrm>
        </p:grpSpPr>
        <p:cxnSp>
          <p:nvCxnSpPr>
            <p:cNvPr id="51" name="Straight Connector 305">
              <a:extLst>
                <a:ext uri="{FF2B5EF4-FFF2-40B4-BE49-F238E27FC236}">
                  <a16:creationId xmlns:a16="http://schemas.microsoft.com/office/drawing/2014/main" id="{28B815C0-801D-95F7-E7CD-5C3ADB5FFD23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305">
              <a:extLst>
                <a:ext uri="{FF2B5EF4-FFF2-40B4-BE49-F238E27FC236}">
                  <a16:creationId xmlns:a16="http://schemas.microsoft.com/office/drawing/2014/main" id="{96C4882B-E852-95F6-AD89-ADF6D5181439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Graphic 83">
            <a:extLst>
              <a:ext uri="{FF2B5EF4-FFF2-40B4-BE49-F238E27FC236}">
                <a16:creationId xmlns:a16="http://schemas.microsoft.com/office/drawing/2014/main" id="{58429E0F-6850-2EB9-3C4E-845CABD81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345" y="4713347"/>
            <a:ext cx="481957" cy="4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3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88083-79BD-CFC7-DBFE-271DC5AC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12D174-7615-A5A8-60F1-22940CC07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636" y="3059861"/>
            <a:ext cx="3895987" cy="814477"/>
          </a:xfrm>
        </p:spPr>
        <p:txBody>
          <a:bodyPr vert="horz" anchor="ctr">
            <a:normAutofit fontScale="90000"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Old Standard TT" panose="00000500000000000000" pitchFamily="2" charset="0"/>
              </a:rPr>
              <a:t>Ortognática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58BD8B-B63D-9DC4-0874-C9336173977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2275" y="260350"/>
            <a:ext cx="1346200" cy="246543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73721669-028A-54DB-7BE6-342E4FD8847F}"/>
              </a:ext>
            </a:extLst>
          </p:cNvPr>
          <p:cNvGrpSpPr/>
          <p:nvPr/>
        </p:nvGrpSpPr>
        <p:grpSpPr>
          <a:xfrm>
            <a:off x="4436623" y="2100595"/>
            <a:ext cx="2877775" cy="2733008"/>
            <a:chOff x="4291856" y="2100595"/>
            <a:chExt cx="2877775" cy="2733008"/>
          </a:xfrm>
        </p:grpSpPr>
        <p:pic>
          <p:nvPicPr>
            <p:cNvPr id="6" name="Imagem 5" descr="Ein Bild, das Musik enthält.&#10;&#10;Automatisch generierte Beschreibung">
              <a:extLst>
                <a:ext uri="{FF2B5EF4-FFF2-40B4-BE49-F238E27FC236}">
                  <a16:creationId xmlns:a16="http://schemas.microsoft.com/office/drawing/2014/main" id="{B8692F1C-AB40-537C-DAA6-333E85230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0021" r="8536"/>
            <a:stretch>
              <a:fillRect/>
            </a:stretch>
          </p:blipFill>
          <p:spPr>
            <a:xfrm>
              <a:off x="4291856" y="2322897"/>
              <a:ext cx="2733008" cy="2510706"/>
            </a:xfrm>
            <a:custGeom>
              <a:avLst/>
              <a:gdLst>
                <a:gd name="csX0" fmla="*/ 620710 w 2733008"/>
                <a:gd name="csY0" fmla="*/ 0 h 2510706"/>
                <a:gd name="csX1" fmla="*/ 2112299 w 2733008"/>
                <a:gd name="csY1" fmla="*/ 0 h 2510706"/>
                <a:gd name="csX2" fmla="*/ 2130529 w 2733008"/>
                <a:gd name="csY2" fmla="*/ 11076 h 2510706"/>
                <a:gd name="csX3" fmla="*/ 2733008 w 2733008"/>
                <a:gd name="csY3" fmla="*/ 1144202 h 2510706"/>
                <a:gd name="csX4" fmla="*/ 1366504 w 2733008"/>
                <a:gd name="csY4" fmla="*/ 2510706 h 2510706"/>
                <a:gd name="csX5" fmla="*/ 0 w 2733008"/>
                <a:gd name="csY5" fmla="*/ 1144202 h 2510706"/>
                <a:gd name="csX6" fmla="*/ 602479 w 2733008"/>
                <a:gd name="csY6" fmla="*/ 11076 h 25107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733008" h="2510706">
                  <a:moveTo>
                    <a:pt x="620710" y="0"/>
                  </a:moveTo>
                  <a:lnTo>
                    <a:pt x="2112299" y="0"/>
                  </a:lnTo>
                  <a:lnTo>
                    <a:pt x="2130529" y="11076"/>
                  </a:lnTo>
                  <a:cubicBezTo>
                    <a:pt x="2494022" y="256646"/>
                    <a:pt x="2733008" y="672515"/>
                    <a:pt x="2733008" y="1144202"/>
                  </a:cubicBezTo>
                  <a:cubicBezTo>
                    <a:pt x="2733008" y="1898901"/>
                    <a:pt x="2121203" y="2510706"/>
                    <a:pt x="1366504" y="2510706"/>
                  </a:cubicBezTo>
                  <a:cubicBezTo>
                    <a:pt x="611805" y="2510706"/>
                    <a:pt x="0" y="1898901"/>
                    <a:pt x="0" y="1144202"/>
                  </a:cubicBezTo>
                  <a:cubicBezTo>
                    <a:pt x="0" y="672515"/>
                    <a:pt x="238987" y="256646"/>
                    <a:pt x="602479" y="11076"/>
                  </a:cubicBezTo>
                  <a:close/>
                </a:path>
              </a:pathLst>
            </a:custGeom>
          </p:spPr>
        </p:pic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41D904E-BEC1-C3C8-53C6-56A7A5CBD02A}"/>
                </a:ext>
              </a:extLst>
            </p:cNvPr>
            <p:cNvSpPr/>
            <p:nvPr/>
          </p:nvSpPr>
          <p:spPr>
            <a:xfrm>
              <a:off x="4436623" y="2100595"/>
              <a:ext cx="2733008" cy="2733008"/>
            </a:xfrm>
            <a:prstGeom prst="ellipse">
              <a:avLst/>
            </a:prstGeom>
            <a:noFill/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3219400E-8D3D-74AD-B44E-9838570B691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76941" y="-354586"/>
            <a:ext cx="3748143" cy="80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22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B010725-041E-295E-69A5-60D49B8BDCCA}"/>
              </a:ext>
            </a:extLst>
          </p:cNvPr>
          <p:cNvCxnSpPr>
            <a:cxnSpLocks/>
          </p:cNvCxnSpPr>
          <p:nvPr/>
        </p:nvCxnSpPr>
        <p:spPr>
          <a:xfrm flipH="1">
            <a:off x="-1932796" y="1083891"/>
            <a:ext cx="845286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3C14DF89-F893-337A-3D93-79C0E2166078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Histórico das Placas L e Z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EC29BC-FFE8-636C-5C59-EF4845B70C4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40D7072-BD9A-4D8C-8507-F5327135CA47}"/>
              </a:ext>
            </a:extLst>
          </p:cNvPr>
          <p:cNvSpPr/>
          <p:nvPr/>
        </p:nvSpPr>
        <p:spPr>
          <a:xfrm>
            <a:off x="3468626" y="1623440"/>
            <a:ext cx="5254749" cy="6290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 desenho da placa das placas L e Z foi desenvolvido com base em dados de CT clínico.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4EFEADC-DCDA-AB3A-639A-BF6FA029F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56660" y="2791991"/>
            <a:ext cx="2623932" cy="2623932"/>
          </a:xfrm>
          <a:custGeom>
            <a:avLst/>
            <a:gdLst>
              <a:gd name="csX0" fmla="*/ 1311966 w 2623932"/>
              <a:gd name="csY0" fmla="*/ 0 h 2623932"/>
              <a:gd name="csX1" fmla="*/ 2623932 w 2623932"/>
              <a:gd name="csY1" fmla="*/ 1311966 h 2623932"/>
              <a:gd name="csX2" fmla="*/ 1311966 w 2623932"/>
              <a:gd name="csY2" fmla="*/ 2623932 h 2623932"/>
              <a:gd name="csX3" fmla="*/ 0 w 2623932"/>
              <a:gd name="csY3" fmla="*/ 1311966 h 2623932"/>
              <a:gd name="csX4" fmla="*/ 1311966 w 2623932"/>
              <a:gd name="csY4" fmla="*/ 0 h 2623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23932" h="2623932">
                <a:moveTo>
                  <a:pt x="1311966" y="0"/>
                </a:moveTo>
                <a:cubicBezTo>
                  <a:pt x="2036545" y="0"/>
                  <a:pt x="2623932" y="587387"/>
                  <a:pt x="2623932" y="1311966"/>
                </a:cubicBezTo>
                <a:cubicBezTo>
                  <a:pt x="2623932" y="2036545"/>
                  <a:pt x="2036545" y="2623932"/>
                  <a:pt x="1311966" y="2623932"/>
                </a:cubicBezTo>
                <a:cubicBezTo>
                  <a:pt x="587387" y="2623932"/>
                  <a:pt x="0" y="2036545"/>
                  <a:pt x="0" y="1311966"/>
                </a:cubicBezTo>
                <a:cubicBezTo>
                  <a:pt x="0" y="587387"/>
                  <a:pt x="587387" y="0"/>
                  <a:pt x="1311966" y="0"/>
                </a:cubicBezTo>
                <a:close/>
              </a:path>
            </a:pathLst>
          </a:custGeom>
          <a:noFill/>
          <a:ln w="28575">
            <a:solidFill>
              <a:srgbClr val="DEB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6D96F939-96F0-E584-33D2-8FCA9180C92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9810" y="3084207"/>
            <a:ext cx="4423195" cy="23976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74593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8ABE-B339-9FFC-946A-B5B00D8A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CD8C9D7-EDA5-E030-882F-BA7A6FDEEA88}"/>
              </a:ext>
            </a:extLst>
          </p:cNvPr>
          <p:cNvCxnSpPr>
            <a:cxnSpLocks/>
          </p:cNvCxnSpPr>
          <p:nvPr/>
        </p:nvCxnSpPr>
        <p:spPr>
          <a:xfrm flipH="1">
            <a:off x="-1932796" y="1083891"/>
            <a:ext cx="845286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0AAAFE89-91CE-DD51-1820-D5D57A7115E0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Histórico das Placas L e Z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A20385-9BB5-36E4-F496-0583447C12D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36776B-6834-478C-A003-B43093F1E3AB}"/>
              </a:ext>
            </a:extLst>
          </p:cNvPr>
          <p:cNvSpPr/>
          <p:nvPr/>
        </p:nvSpPr>
        <p:spPr>
          <a:xfrm>
            <a:off x="2474914" y="1652031"/>
            <a:ext cx="7235817" cy="571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 design anatômico da placa reduz a moldagem intraoperatória da placa.</a:t>
            </a:r>
          </a:p>
        </p:txBody>
      </p:sp>
      <p:pic>
        <p:nvPicPr>
          <p:cNvPr id="2" name="Picture 5" descr="all">
            <a:extLst>
              <a:ext uri="{FF2B5EF4-FFF2-40B4-BE49-F238E27FC236}">
                <a16:creationId xmlns:a16="http://schemas.microsoft.com/office/drawing/2014/main" id="{70555577-B3A6-433B-0EDE-FF99D0577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0228" y="2381101"/>
            <a:ext cx="3636086" cy="16160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DEBE5C"/>
            </a:solidFill>
            <a:miter lim="800000"/>
            <a:headEnd/>
            <a:tailEnd/>
          </a:ln>
          <a:effectLst/>
        </p:spPr>
      </p:pic>
      <p:pic>
        <p:nvPicPr>
          <p:cNvPr id="13" name="Picture 12" descr="oben 2">
            <a:extLst>
              <a:ext uri="{FF2B5EF4-FFF2-40B4-BE49-F238E27FC236}">
                <a16:creationId xmlns:a16="http://schemas.microsoft.com/office/drawing/2014/main" id="{C32FCE3A-949E-9F63-B70B-445088157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650228" y="4258582"/>
            <a:ext cx="3624974" cy="16160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DEBE5C"/>
            </a:solidFill>
            <a:miter lim="800000"/>
            <a:headEnd/>
            <a:tailEnd/>
          </a:ln>
          <a:effectLst/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077F233-94E1-1FDA-ED92-B184A2B9BBF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0395" y="3975873"/>
            <a:ext cx="3525400" cy="18987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0056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9C29-32D3-ADE7-F64A-41F1306A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A968F7A-5CE0-FE62-DE46-827FC3981C6B}"/>
              </a:ext>
            </a:extLst>
          </p:cNvPr>
          <p:cNvCxnSpPr>
            <a:cxnSpLocks/>
          </p:cNvCxnSpPr>
          <p:nvPr/>
        </p:nvCxnSpPr>
        <p:spPr>
          <a:xfrm flipH="1">
            <a:off x="-1932796" y="815347"/>
            <a:ext cx="845286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9DC61F85-DD38-9BD6-7D7C-5E4FDF7CE0A9}"/>
              </a:ext>
            </a:extLst>
          </p:cNvPr>
          <p:cNvSpPr txBox="1">
            <a:spLocks/>
          </p:cNvSpPr>
          <p:nvPr/>
        </p:nvSpPr>
        <p:spPr>
          <a:xfrm>
            <a:off x="254000" y="333375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Estudo de elementos Finitos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25C7C07-4BF8-A22D-228A-E7EAE022AC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F35B2C6-BCF7-946F-6E11-1FB033CE2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60" y="3209896"/>
            <a:ext cx="4219065" cy="28327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DEBE5C"/>
            </a:solidFill>
          </a:ln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0F28BCC-A7DD-132B-0F5E-691439C4E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07" y="1297053"/>
            <a:ext cx="2390519" cy="14311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EB7DA9E-2DAD-30FD-F676-D501E55F75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73078" y="2772526"/>
            <a:ext cx="3182717" cy="2784534"/>
          </a:xfrm>
          <a:prstGeom prst="rect">
            <a:avLst/>
          </a:prstGeom>
        </p:spPr>
      </p:pic>
      <p:pic>
        <p:nvPicPr>
          <p:cNvPr id="11" name="Picture 4" descr="Resultado de imagem para infinite element in maxillary fixation in lefort i">
            <a:extLst>
              <a:ext uri="{FF2B5EF4-FFF2-40B4-BE49-F238E27FC236}">
                <a16:creationId xmlns:a16="http://schemas.microsoft.com/office/drawing/2014/main" id="{E5DA4509-46E9-8B48-2155-F3BFB35F8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363069" y="3131541"/>
            <a:ext cx="2567741" cy="206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305">
            <a:extLst>
              <a:ext uri="{FF2B5EF4-FFF2-40B4-BE49-F238E27FC236}">
                <a16:creationId xmlns:a16="http://schemas.microsoft.com/office/drawing/2014/main" id="{34E31179-4F67-38A4-031C-4C596F8F70E0}"/>
              </a:ext>
            </a:extLst>
          </p:cNvPr>
          <p:cNvCxnSpPr>
            <a:cxnSpLocks/>
          </p:cNvCxnSpPr>
          <p:nvPr/>
        </p:nvCxnSpPr>
        <p:spPr>
          <a:xfrm>
            <a:off x="5111681" y="1997765"/>
            <a:ext cx="0" cy="3786809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5">
            <a:extLst>
              <a:ext uri="{FF2B5EF4-FFF2-40B4-BE49-F238E27FC236}">
                <a16:creationId xmlns:a16="http://schemas.microsoft.com/office/drawing/2014/main" id="{E0B6C3B3-7C11-155C-1D8E-9BE3E3F8FA65}"/>
              </a:ext>
            </a:extLst>
          </p:cNvPr>
          <p:cNvCxnSpPr>
            <a:cxnSpLocks/>
          </p:cNvCxnSpPr>
          <p:nvPr/>
        </p:nvCxnSpPr>
        <p:spPr>
          <a:xfrm>
            <a:off x="8987745" y="1997765"/>
            <a:ext cx="0" cy="3786809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90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5B97-FFE7-2351-0FE6-443C0631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29CED2B-B750-0FE5-A26C-7AFA6B952018}"/>
              </a:ext>
            </a:extLst>
          </p:cNvPr>
          <p:cNvCxnSpPr>
            <a:cxnSpLocks/>
          </p:cNvCxnSpPr>
          <p:nvPr/>
        </p:nvCxnSpPr>
        <p:spPr>
          <a:xfrm flipH="1">
            <a:off x="-1932796" y="815347"/>
            <a:ext cx="845286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25AE662E-1446-45B2-A03A-DFA85C0001E7}"/>
              </a:ext>
            </a:extLst>
          </p:cNvPr>
          <p:cNvSpPr txBox="1">
            <a:spLocks/>
          </p:cNvSpPr>
          <p:nvPr/>
        </p:nvSpPr>
        <p:spPr>
          <a:xfrm>
            <a:off x="254000" y="333375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Estudo de elementos Finitos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B3E9A7-0198-5647-33CB-9C79B9C224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5777E6D-D947-6D93-FF07-0C2228101CA4}"/>
              </a:ext>
            </a:extLst>
          </p:cNvPr>
          <p:cNvSpPr/>
          <p:nvPr/>
        </p:nvSpPr>
        <p:spPr>
          <a:xfrm>
            <a:off x="3993909" y="1824754"/>
            <a:ext cx="4204182" cy="571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Furos próximos a osteotomia reforçados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357B72-7492-00BC-0B06-F08C02431F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5671" y="1804682"/>
            <a:ext cx="2859655" cy="4094859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B5980E4A-9D29-7AE7-9ED7-D731A89FE666}"/>
              </a:ext>
            </a:extLst>
          </p:cNvPr>
          <p:cNvGrpSpPr/>
          <p:nvPr/>
        </p:nvGrpSpPr>
        <p:grpSpPr>
          <a:xfrm>
            <a:off x="774305" y="3549353"/>
            <a:ext cx="6217561" cy="1087253"/>
            <a:chOff x="1356620" y="6663231"/>
            <a:chExt cx="12436741" cy="2174789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8D1AEA4A-2980-EEA7-B823-B10CBF42C4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56620" y="6663231"/>
              <a:ext cx="12436741" cy="2174789"/>
            </a:xfrm>
            <a:prstGeom prst="rect">
              <a:avLst/>
            </a:prstGeom>
          </p:spPr>
        </p:pic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A57B4B16-B621-8D2F-843E-ABB3C9F2E8CF}"/>
                </a:ext>
              </a:extLst>
            </p:cNvPr>
            <p:cNvCxnSpPr/>
            <p:nvPr/>
          </p:nvCxnSpPr>
          <p:spPr bwMode="auto">
            <a:xfrm>
              <a:off x="5572760" y="7037119"/>
              <a:ext cx="259080" cy="0"/>
            </a:xfrm>
            <a:prstGeom prst="line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E36D16BD-84F3-87B5-3B5E-23527D83BE6E}"/>
                </a:ext>
              </a:extLst>
            </p:cNvPr>
            <p:cNvCxnSpPr/>
            <p:nvPr/>
          </p:nvCxnSpPr>
          <p:spPr bwMode="auto">
            <a:xfrm>
              <a:off x="5572760" y="7423199"/>
              <a:ext cx="259080" cy="0"/>
            </a:xfrm>
            <a:prstGeom prst="line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EA6F413B-13AA-203A-4EEA-15FAE3281BD5}"/>
                </a:ext>
              </a:extLst>
            </p:cNvPr>
            <p:cNvCxnSpPr/>
            <p:nvPr/>
          </p:nvCxnSpPr>
          <p:spPr bwMode="auto">
            <a:xfrm flipV="1">
              <a:off x="5702300" y="7037119"/>
              <a:ext cx="0" cy="386080"/>
            </a:xfrm>
            <a:prstGeom prst="line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4D3F5764-BC2D-136D-F550-D7E66476D45E}"/>
                </a:ext>
              </a:extLst>
            </p:cNvPr>
            <p:cNvCxnSpPr/>
            <p:nvPr/>
          </p:nvCxnSpPr>
          <p:spPr bwMode="auto">
            <a:xfrm>
              <a:off x="4080932" y="7134209"/>
              <a:ext cx="259080" cy="0"/>
            </a:xfrm>
            <a:prstGeom prst="line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1A60F6B-5AA5-37BB-5C1F-A2A6D1FB4904}"/>
                </a:ext>
              </a:extLst>
            </p:cNvPr>
            <p:cNvCxnSpPr/>
            <p:nvPr/>
          </p:nvCxnSpPr>
          <p:spPr bwMode="auto">
            <a:xfrm>
              <a:off x="4080932" y="7403449"/>
              <a:ext cx="259080" cy="0"/>
            </a:xfrm>
            <a:prstGeom prst="line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6C8B6F23-C032-4F1D-AAA5-A80557FA6BB3}"/>
                </a:ext>
              </a:extLst>
            </p:cNvPr>
            <p:cNvCxnSpPr/>
            <p:nvPr/>
          </p:nvCxnSpPr>
          <p:spPr bwMode="auto">
            <a:xfrm flipV="1">
              <a:off x="4210472" y="7134209"/>
              <a:ext cx="0" cy="269240"/>
            </a:xfrm>
            <a:prstGeom prst="line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5936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6ED4C9F-C734-D40C-1458-5CFFE08FAD09}"/>
              </a:ext>
            </a:extLst>
          </p:cNvPr>
          <p:cNvCxnSpPr>
            <a:cxnSpLocks/>
          </p:cNvCxnSpPr>
          <p:nvPr/>
        </p:nvCxnSpPr>
        <p:spPr>
          <a:xfrm flipH="1">
            <a:off x="-19327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1B2D1F1A-295A-EEFB-73AF-7DE022F7FBE7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 sistema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CEB74C5-A9AE-FDA1-65C7-0F5F32C274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4965F49-1718-ECD4-E901-D05F065F3D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773" y="2503884"/>
            <a:ext cx="4448155" cy="124217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9688A83-6501-9127-332E-B8432B1C4F7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775" y="4152329"/>
            <a:ext cx="4574148" cy="1327349"/>
          </a:xfrm>
          <a:prstGeom prst="rect">
            <a:avLst/>
          </a:prstGeom>
        </p:spPr>
      </p:pic>
      <p:cxnSp>
        <p:nvCxnSpPr>
          <p:cNvPr id="14" name="Straight Connector 305">
            <a:extLst>
              <a:ext uri="{FF2B5EF4-FFF2-40B4-BE49-F238E27FC236}">
                <a16:creationId xmlns:a16="http://schemas.microsoft.com/office/drawing/2014/main" id="{30C9CBF4-68D4-B973-0DA6-035A0E132868}"/>
              </a:ext>
            </a:extLst>
          </p:cNvPr>
          <p:cNvCxnSpPr>
            <a:cxnSpLocks/>
          </p:cNvCxnSpPr>
          <p:nvPr/>
        </p:nvCxnSpPr>
        <p:spPr>
          <a:xfrm>
            <a:off x="827916" y="3913543"/>
            <a:ext cx="4675292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35E2C-616E-250C-821E-92BFEFB00148}"/>
              </a:ext>
            </a:extLst>
          </p:cNvPr>
          <p:cNvSpPr/>
          <p:nvPr/>
        </p:nvSpPr>
        <p:spPr>
          <a:xfrm>
            <a:off x="1211022" y="1764644"/>
            <a:ext cx="3942003" cy="6290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padrão de 0,7 mm no meio da face do terço central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E4B8776-88C7-C5C9-5F80-298B12CB180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6632" y="2523107"/>
            <a:ext cx="3487544" cy="120372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221D79D-C4A9-1381-4B13-E89F6D4C70A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2222" y="4045735"/>
            <a:ext cx="3435491" cy="1681959"/>
          </a:xfrm>
          <a:prstGeom prst="rect">
            <a:avLst/>
          </a:prstGeom>
        </p:spPr>
      </p:pic>
      <p:cxnSp>
        <p:nvCxnSpPr>
          <p:cNvPr id="21" name="Straight Connector 305">
            <a:extLst>
              <a:ext uri="{FF2B5EF4-FFF2-40B4-BE49-F238E27FC236}">
                <a16:creationId xmlns:a16="http://schemas.microsoft.com/office/drawing/2014/main" id="{569B557F-973D-3A64-FB79-9D455781EFBE}"/>
              </a:ext>
            </a:extLst>
          </p:cNvPr>
          <p:cNvCxnSpPr>
            <a:cxnSpLocks/>
          </p:cNvCxnSpPr>
          <p:nvPr/>
        </p:nvCxnSpPr>
        <p:spPr>
          <a:xfrm>
            <a:off x="6735271" y="3912311"/>
            <a:ext cx="4250265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5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A5147-94A7-50AA-60A6-0AA9933C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CC3EAE7B-F8E4-69C5-A6B2-7187C6821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30121"/>
              </p:ext>
            </p:extLst>
          </p:nvPr>
        </p:nvGraphicFramePr>
        <p:xfrm>
          <a:off x="227013" y="2570611"/>
          <a:ext cx="11460162" cy="12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215992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Marcação à laser nas barras da placa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Pode servir como um guia de orientação </a:t>
                      </a:r>
                      <a:b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</a:br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ao moldar as placas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1" name="Table 13">
            <a:extLst>
              <a:ext uri="{FF2B5EF4-FFF2-40B4-BE49-F238E27FC236}">
                <a16:creationId xmlns:a16="http://schemas.microsoft.com/office/drawing/2014/main" id="{8DE7C253-5FBB-2CCE-82DD-42FFCFF1A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32975"/>
              </p:ext>
            </p:extLst>
          </p:nvPr>
        </p:nvGraphicFramePr>
        <p:xfrm>
          <a:off x="227013" y="3884728"/>
          <a:ext cx="11460162" cy="124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249810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Aumentos pequenos nos tamanhos da placa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Permite a fixação mais estreita à osteotomia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415EDB79-19B8-825A-535C-22A2E13BAF17}"/>
              </a:ext>
            </a:extLst>
          </p:cNvPr>
          <p:cNvCxnSpPr>
            <a:cxnSpLocks/>
          </p:cNvCxnSpPr>
          <p:nvPr/>
        </p:nvCxnSpPr>
        <p:spPr>
          <a:xfrm flipH="1">
            <a:off x="-327024" y="1014318"/>
            <a:ext cx="11195049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1043114E-85E1-F077-3780-7F6A962CB7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13601FAD-E897-62EA-95DC-6F82D8772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219852"/>
              </p:ext>
            </p:extLst>
          </p:nvPr>
        </p:nvGraphicFramePr>
        <p:xfrm>
          <a:off x="227013" y="1394484"/>
          <a:ext cx="11460162" cy="1065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065356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Design anatômico da placa, com base em dados clínicos CT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É necessário menos moldagem da placa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35" name="Title 9">
            <a:extLst>
              <a:ext uri="{FF2B5EF4-FFF2-40B4-BE49-F238E27FC236}">
                <a16:creationId xmlns:a16="http://schemas.microsoft.com/office/drawing/2014/main" id="{F04410BA-E1D2-AD00-7AF8-FBE5ED6B63C8}"/>
              </a:ext>
            </a:extLst>
          </p:cNvPr>
          <p:cNvSpPr txBox="1">
            <a:spLocks/>
          </p:cNvSpPr>
          <p:nvPr/>
        </p:nvSpPr>
        <p:spPr>
          <a:xfrm>
            <a:off x="362284" y="1803242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</a:t>
            </a:r>
          </a:p>
        </p:txBody>
      </p:sp>
      <p:sp>
        <p:nvSpPr>
          <p:cNvPr id="36" name="Title 9">
            <a:extLst>
              <a:ext uri="{FF2B5EF4-FFF2-40B4-BE49-F238E27FC236}">
                <a16:creationId xmlns:a16="http://schemas.microsoft.com/office/drawing/2014/main" id="{D4C6DD19-47ED-3A78-BF04-28096DE2985A}"/>
              </a:ext>
            </a:extLst>
          </p:cNvPr>
          <p:cNvSpPr txBox="1">
            <a:spLocks/>
          </p:cNvSpPr>
          <p:nvPr/>
        </p:nvSpPr>
        <p:spPr>
          <a:xfrm>
            <a:off x="362284" y="3017301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</a:t>
            </a:r>
          </a:p>
        </p:txBody>
      </p:sp>
      <p:sp>
        <p:nvSpPr>
          <p:cNvPr id="37" name="Title 9">
            <a:extLst>
              <a:ext uri="{FF2B5EF4-FFF2-40B4-BE49-F238E27FC236}">
                <a16:creationId xmlns:a16="http://schemas.microsoft.com/office/drawing/2014/main" id="{CB5BA798-B8D9-71A8-43B8-0351B3B9245D}"/>
              </a:ext>
            </a:extLst>
          </p:cNvPr>
          <p:cNvSpPr txBox="1">
            <a:spLocks/>
          </p:cNvSpPr>
          <p:nvPr/>
        </p:nvSpPr>
        <p:spPr>
          <a:xfrm>
            <a:off x="362284" y="4312519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123B14B-CEB0-0D80-426B-0E1242733B56}"/>
              </a:ext>
            </a:extLst>
          </p:cNvPr>
          <p:cNvSpPr/>
          <p:nvPr/>
        </p:nvSpPr>
        <p:spPr>
          <a:xfrm>
            <a:off x="4914818" y="1185205"/>
            <a:ext cx="2162175" cy="31474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Características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4B8F4A-47B5-D8F2-C444-018FA0C4F22E}"/>
              </a:ext>
            </a:extLst>
          </p:cNvPr>
          <p:cNvSpPr/>
          <p:nvPr/>
        </p:nvSpPr>
        <p:spPr>
          <a:xfrm>
            <a:off x="9410700" y="1185205"/>
            <a:ext cx="2162175" cy="31474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Benefícios</a:t>
            </a:r>
          </a:p>
        </p:txBody>
      </p:sp>
      <p:graphicFrame>
        <p:nvGraphicFramePr>
          <p:cNvPr id="25" name="Table 13">
            <a:extLst>
              <a:ext uri="{FF2B5EF4-FFF2-40B4-BE49-F238E27FC236}">
                <a16:creationId xmlns:a16="http://schemas.microsoft.com/office/drawing/2014/main" id="{89E80068-FD93-11CE-2B99-655AFD026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07165"/>
              </p:ext>
            </p:extLst>
          </p:nvPr>
        </p:nvGraphicFramePr>
        <p:xfrm>
          <a:off x="227013" y="5232663"/>
          <a:ext cx="11460162" cy="1036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03670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Orifícios de parafuso reforçados perto da barra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Melhora a estabilidade da placa*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8" name="Title 9">
            <a:extLst>
              <a:ext uri="{FF2B5EF4-FFF2-40B4-BE49-F238E27FC236}">
                <a16:creationId xmlns:a16="http://schemas.microsoft.com/office/drawing/2014/main" id="{E6E1B6AF-FD80-0A68-E458-88EC9DF630EA}"/>
              </a:ext>
            </a:extLst>
          </p:cNvPr>
          <p:cNvSpPr txBox="1">
            <a:spLocks/>
          </p:cNvSpPr>
          <p:nvPr/>
        </p:nvSpPr>
        <p:spPr>
          <a:xfrm>
            <a:off x="364205" y="5586396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4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C8DE623C-7ABD-5E09-1EA5-7D58B4A6DD5D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8870122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Propriedades e Benefícios das Placas L e Z para Ortognática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61" name="Imagem 60" descr="all">
            <a:extLst>
              <a:ext uri="{FF2B5EF4-FFF2-40B4-BE49-F238E27FC236}">
                <a16:creationId xmlns:a16="http://schemas.microsoft.com/office/drawing/2014/main" id="{F3FC37A3-858D-BF3F-7B64-24A2B6DE09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02490" y="1505608"/>
            <a:ext cx="815140" cy="814298"/>
          </a:xfrm>
          <a:custGeom>
            <a:avLst/>
            <a:gdLst>
              <a:gd name="csX0" fmla="*/ 349036 w 815140"/>
              <a:gd name="csY0" fmla="*/ 0 h 814298"/>
              <a:gd name="csX1" fmla="*/ 461288 w 815140"/>
              <a:gd name="csY1" fmla="*/ 0 h 814298"/>
              <a:gd name="csX2" fmla="*/ 487787 w 815140"/>
              <a:gd name="csY2" fmla="*/ 2671 h 814298"/>
              <a:gd name="csX3" fmla="*/ 815140 w 815140"/>
              <a:gd name="csY3" fmla="*/ 404320 h 814298"/>
              <a:gd name="csX4" fmla="*/ 405162 w 815140"/>
              <a:gd name="csY4" fmla="*/ 814298 h 814298"/>
              <a:gd name="csX5" fmla="*/ 3513 w 815140"/>
              <a:gd name="csY5" fmla="*/ 486945 h 814298"/>
              <a:gd name="csX6" fmla="*/ 0 w 815140"/>
              <a:gd name="csY6" fmla="*/ 452094 h 814298"/>
              <a:gd name="csX7" fmla="*/ 0 w 815140"/>
              <a:gd name="csY7" fmla="*/ 356546 h 814298"/>
              <a:gd name="csX8" fmla="*/ 3513 w 815140"/>
              <a:gd name="csY8" fmla="*/ 321695 h 814298"/>
              <a:gd name="csX9" fmla="*/ 322537 w 815140"/>
              <a:gd name="csY9" fmla="*/ 2671 h 814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15140" h="814298">
                <a:moveTo>
                  <a:pt x="349036" y="0"/>
                </a:moveTo>
                <a:lnTo>
                  <a:pt x="461288" y="0"/>
                </a:lnTo>
                <a:lnTo>
                  <a:pt x="487787" y="2671"/>
                </a:lnTo>
                <a:cubicBezTo>
                  <a:pt x="674607" y="40900"/>
                  <a:pt x="815140" y="206198"/>
                  <a:pt x="815140" y="404320"/>
                </a:cubicBezTo>
                <a:cubicBezTo>
                  <a:pt x="815140" y="630745"/>
                  <a:pt x="631587" y="814298"/>
                  <a:pt x="405162" y="814298"/>
                </a:cubicBezTo>
                <a:cubicBezTo>
                  <a:pt x="207040" y="814298"/>
                  <a:pt x="41742" y="673765"/>
                  <a:pt x="3513" y="486945"/>
                </a:cubicBezTo>
                <a:lnTo>
                  <a:pt x="0" y="452094"/>
                </a:lnTo>
                <a:lnTo>
                  <a:pt x="0" y="356546"/>
                </a:lnTo>
                <a:lnTo>
                  <a:pt x="3513" y="321695"/>
                </a:lnTo>
                <a:cubicBezTo>
                  <a:pt x="36281" y="161563"/>
                  <a:pt x="162405" y="35439"/>
                  <a:pt x="322537" y="2671"/>
                </a:cubicBezTo>
                <a:close/>
              </a:path>
            </a:pathLst>
          </a:custGeom>
          <a:noFill/>
          <a:ln w="19050">
            <a:solidFill>
              <a:srgbClr val="DEB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fik 29">
            <a:extLst>
              <a:ext uri="{FF2B5EF4-FFF2-40B4-BE49-F238E27FC236}">
                <a16:creationId xmlns:a16="http://schemas.microsoft.com/office/drawing/2014/main" id="{DE4D6F47-C10A-8F05-5B4D-1C77F7C318A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460868" y="2645720"/>
            <a:ext cx="578157" cy="1072220"/>
          </a:xfrm>
          <a:prstGeom prst="rect">
            <a:avLst/>
          </a:prstGeom>
        </p:spPr>
      </p:pic>
      <p:pic>
        <p:nvPicPr>
          <p:cNvPr id="20" name="Grafik 35" descr="Ein Bild, das Waffe enthält.&#10;&#10;Automatisch generierte Beschreibung">
            <a:extLst>
              <a:ext uri="{FF2B5EF4-FFF2-40B4-BE49-F238E27FC236}">
                <a16:creationId xmlns:a16="http://schemas.microsoft.com/office/drawing/2014/main" id="{848F8BE7-5790-6D8E-2DAF-20A5182421B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091976" y="2635841"/>
            <a:ext cx="689661" cy="1108469"/>
          </a:xfrm>
          <a:prstGeom prst="rect">
            <a:avLst/>
          </a:prstGeom>
        </p:spPr>
      </p:pic>
      <p:sp>
        <p:nvSpPr>
          <p:cNvPr id="21" name="Ellipse 3">
            <a:extLst>
              <a:ext uri="{FF2B5EF4-FFF2-40B4-BE49-F238E27FC236}">
                <a16:creationId xmlns:a16="http://schemas.microsoft.com/office/drawing/2014/main" id="{2DEE85C7-BFEB-A5AA-8233-FD529C5EB423}"/>
              </a:ext>
            </a:extLst>
          </p:cNvPr>
          <p:cNvSpPr/>
          <p:nvPr/>
        </p:nvSpPr>
        <p:spPr>
          <a:xfrm>
            <a:off x="1508088" y="2991601"/>
            <a:ext cx="1289767" cy="526869"/>
          </a:xfrm>
          <a:prstGeom prst="ellipse">
            <a:avLst/>
          </a:prstGeom>
          <a:noFill/>
          <a:ln w="28575">
            <a:solidFill>
              <a:srgbClr val="DEBE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900"/>
          </a:p>
        </p:txBody>
      </p:sp>
      <p:grpSp>
        <p:nvGrpSpPr>
          <p:cNvPr id="22" name="Gruppieren 7">
            <a:extLst>
              <a:ext uri="{FF2B5EF4-FFF2-40B4-BE49-F238E27FC236}">
                <a16:creationId xmlns:a16="http://schemas.microsoft.com/office/drawing/2014/main" id="{A1524AFD-D551-FB14-F0D1-7AF7C1C05EAC}"/>
              </a:ext>
            </a:extLst>
          </p:cNvPr>
          <p:cNvGrpSpPr/>
          <p:nvPr/>
        </p:nvGrpSpPr>
        <p:grpSpPr>
          <a:xfrm>
            <a:off x="1713152" y="3942976"/>
            <a:ext cx="990360" cy="1135779"/>
            <a:chOff x="2178510" y="6475542"/>
            <a:chExt cx="4104024" cy="4706638"/>
          </a:xfrm>
        </p:grpSpPr>
        <p:grpSp>
          <p:nvGrpSpPr>
            <p:cNvPr id="23" name="Gruppieren 5">
              <a:extLst>
                <a:ext uri="{FF2B5EF4-FFF2-40B4-BE49-F238E27FC236}">
                  <a16:creationId xmlns:a16="http://schemas.microsoft.com/office/drawing/2014/main" id="{E57056DC-15D7-89FC-7259-17EAEEA0689E}"/>
                </a:ext>
              </a:extLst>
            </p:cNvPr>
            <p:cNvGrpSpPr/>
            <p:nvPr/>
          </p:nvGrpSpPr>
          <p:grpSpPr>
            <a:xfrm>
              <a:off x="2178510" y="6475542"/>
              <a:ext cx="4104024" cy="3018861"/>
              <a:chOff x="2918130" y="4592588"/>
              <a:chExt cx="6761809" cy="5083006"/>
            </a:xfrm>
          </p:grpSpPr>
          <p:pic>
            <p:nvPicPr>
              <p:cNvPr id="39" name="Grafik 36">
                <a:extLst>
                  <a:ext uri="{FF2B5EF4-FFF2-40B4-BE49-F238E27FC236}">
                    <a16:creationId xmlns:a16="http://schemas.microsoft.com/office/drawing/2014/main" id="{DCA9D377-E5D9-CF27-BCB8-DF24B6A275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2918130" y="7047170"/>
                <a:ext cx="1414426" cy="2628424"/>
              </a:xfrm>
              <a:prstGeom prst="rect">
                <a:avLst/>
              </a:prstGeom>
            </p:spPr>
          </p:pic>
          <p:pic>
            <p:nvPicPr>
              <p:cNvPr id="40" name="Grafik 37">
                <a:extLst>
                  <a:ext uri="{FF2B5EF4-FFF2-40B4-BE49-F238E27FC236}">
                    <a16:creationId xmlns:a16="http://schemas.microsoft.com/office/drawing/2014/main" id="{FC35BE14-1E64-ABAF-9D9D-488B38B18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6501504" y="4595528"/>
                <a:ext cx="873280" cy="1528954"/>
              </a:xfrm>
              <a:prstGeom prst="rect">
                <a:avLst/>
              </a:prstGeom>
            </p:spPr>
          </p:pic>
          <p:pic>
            <p:nvPicPr>
              <p:cNvPr id="41" name="Grafik 38">
                <a:extLst>
                  <a:ext uri="{FF2B5EF4-FFF2-40B4-BE49-F238E27FC236}">
                    <a16:creationId xmlns:a16="http://schemas.microsoft.com/office/drawing/2014/main" id="{67FAAB20-6CB5-A44E-1A37-186B8DA49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5491927" y="4595528"/>
                <a:ext cx="876142" cy="1528954"/>
              </a:xfrm>
              <a:prstGeom prst="rect">
                <a:avLst/>
              </a:prstGeom>
            </p:spPr>
          </p:pic>
          <p:pic>
            <p:nvPicPr>
              <p:cNvPr id="42" name="Grafik 39">
                <a:extLst>
                  <a:ext uri="{FF2B5EF4-FFF2-40B4-BE49-F238E27FC236}">
                    <a16:creationId xmlns:a16="http://schemas.microsoft.com/office/drawing/2014/main" id="{1D88B313-4FD2-9577-2625-D1F455796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7191476" y="4595528"/>
                <a:ext cx="916228" cy="1709336"/>
              </a:xfrm>
              <a:prstGeom prst="rect">
                <a:avLst/>
              </a:prstGeom>
            </p:spPr>
          </p:pic>
          <p:pic>
            <p:nvPicPr>
              <p:cNvPr id="43" name="Grafik 40">
                <a:extLst>
                  <a:ext uri="{FF2B5EF4-FFF2-40B4-BE49-F238E27FC236}">
                    <a16:creationId xmlns:a16="http://schemas.microsoft.com/office/drawing/2014/main" id="{43B19785-09ED-FDF3-9B90-8BD98D26F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4787578" y="4592588"/>
                <a:ext cx="913364" cy="1706473"/>
              </a:xfrm>
              <a:prstGeom prst="rect">
                <a:avLst/>
              </a:prstGeom>
            </p:spPr>
          </p:pic>
          <p:pic>
            <p:nvPicPr>
              <p:cNvPr id="44" name="Grafik 41" descr="Ein Bild, das Schlagring enthält.&#10;&#10;Automatisch generierte Beschreibung">
                <a:extLst>
                  <a:ext uri="{FF2B5EF4-FFF2-40B4-BE49-F238E27FC236}">
                    <a16:creationId xmlns:a16="http://schemas.microsoft.com/office/drawing/2014/main" id="{1CF51522-5DB8-5E8B-0905-DDD67B276D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6422017" y="6941141"/>
                <a:ext cx="1317077" cy="2181764"/>
              </a:xfrm>
              <a:prstGeom prst="rect">
                <a:avLst/>
              </a:prstGeom>
            </p:spPr>
          </p:pic>
          <p:pic>
            <p:nvPicPr>
              <p:cNvPr id="45" name="Grafik 42">
                <a:extLst>
                  <a:ext uri="{FF2B5EF4-FFF2-40B4-BE49-F238E27FC236}">
                    <a16:creationId xmlns:a16="http://schemas.microsoft.com/office/drawing/2014/main" id="{285BFD1D-FB61-C5F0-026A-FC0BCAD1AB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7843209" y="4595528"/>
                <a:ext cx="956313" cy="2287704"/>
              </a:xfrm>
              <a:prstGeom prst="rect">
                <a:avLst/>
              </a:prstGeom>
            </p:spPr>
          </p:pic>
          <p:pic>
            <p:nvPicPr>
              <p:cNvPr id="46" name="Grafik 43">
                <a:extLst>
                  <a:ext uri="{FF2B5EF4-FFF2-40B4-BE49-F238E27FC236}">
                    <a16:creationId xmlns:a16="http://schemas.microsoft.com/office/drawing/2014/main" id="{F98CEEB6-FACB-B5A8-53C7-0E5F70F9E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4120448" y="4592588"/>
                <a:ext cx="956313" cy="2287704"/>
              </a:xfrm>
              <a:prstGeom prst="rect">
                <a:avLst/>
              </a:prstGeom>
            </p:spPr>
          </p:pic>
          <p:pic>
            <p:nvPicPr>
              <p:cNvPr id="47" name="Grafik 44">
                <a:extLst>
                  <a:ext uri="{FF2B5EF4-FFF2-40B4-BE49-F238E27FC236}">
                    <a16:creationId xmlns:a16="http://schemas.microsoft.com/office/drawing/2014/main" id="{C9C41C62-8694-CCE9-95E3-5603FA28F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7304698" y="6994415"/>
                <a:ext cx="1357162" cy="2359283"/>
              </a:xfrm>
              <a:prstGeom prst="rect">
                <a:avLst/>
              </a:prstGeom>
            </p:spPr>
          </p:pic>
          <p:pic>
            <p:nvPicPr>
              <p:cNvPr id="48" name="Grafik 45">
                <a:extLst>
                  <a:ext uri="{FF2B5EF4-FFF2-40B4-BE49-F238E27FC236}">
                    <a16:creationId xmlns:a16="http://schemas.microsoft.com/office/drawing/2014/main" id="{313026BD-11FB-AB86-3D42-C88020409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896125" y="7045404"/>
                <a:ext cx="1357162" cy="2360041"/>
              </a:xfrm>
              <a:prstGeom prst="rect">
                <a:avLst/>
              </a:prstGeom>
            </p:spPr>
          </p:pic>
          <p:pic>
            <p:nvPicPr>
              <p:cNvPr id="49" name="Grafik 47">
                <a:extLst>
                  <a:ext uri="{FF2B5EF4-FFF2-40B4-BE49-F238E27FC236}">
                    <a16:creationId xmlns:a16="http://schemas.microsoft.com/office/drawing/2014/main" id="{115280F2-7126-40C6-F630-8652247A2D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8265513" y="6987986"/>
                <a:ext cx="1414426" cy="2623115"/>
              </a:xfrm>
              <a:prstGeom prst="rect">
                <a:avLst/>
              </a:prstGeom>
            </p:spPr>
          </p:pic>
          <p:pic>
            <p:nvPicPr>
              <p:cNvPr id="50" name="Grafik 48" descr="Ein Bild, das Schlagring enthält.&#10;&#10;Automatisch generierte Beschreibung">
                <a:extLst>
                  <a:ext uri="{FF2B5EF4-FFF2-40B4-BE49-F238E27FC236}">
                    <a16:creationId xmlns:a16="http://schemas.microsoft.com/office/drawing/2014/main" id="{41164EEE-35FD-3882-ADE6-0F4EFB11BE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4969538" y="6987988"/>
                <a:ext cx="1317077" cy="2181764"/>
              </a:xfrm>
              <a:prstGeom prst="rect">
                <a:avLst/>
              </a:prstGeom>
            </p:spPr>
          </p:pic>
        </p:grpSp>
        <p:grpSp>
          <p:nvGrpSpPr>
            <p:cNvPr id="26" name="Gruppieren 6">
              <a:extLst>
                <a:ext uri="{FF2B5EF4-FFF2-40B4-BE49-F238E27FC236}">
                  <a16:creationId xmlns:a16="http://schemas.microsoft.com/office/drawing/2014/main" id="{26C16BDC-98EC-E64F-2B7F-893FB83482C3}"/>
                </a:ext>
              </a:extLst>
            </p:cNvPr>
            <p:cNvGrpSpPr/>
            <p:nvPr/>
          </p:nvGrpSpPr>
          <p:grpSpPr>
            <a:xfrm>
              <a:off x="2304000" y="9619744"/>
              <a:ext cx="3871485" cy="1562436"/>
              <a:chOff x="2716072" y="4571352"/>
              <a:chExt cx="5671789" cy="2714973"/>
            </a:xfrm>
          </p:grpSpPr>
          <p:pic>
            <p:nvPicPr>
              <p:cNvPr id="27" name="Grafik 49" descr="Ein Bild, das Schlagring, Waffe enthält.&#10;&#10;Automatisch generierte Beschreibung">
                <a:extLst>
                  <a:ext uri="{FF2B5EF4-FFF2-40B4-BE49-F238E27FC236}">
                    <a16:creationId xmlns:a16="http://schemas.microsoft.com/office/drawing/2014/main" id="{0C1E3C0C-1FF2-86D6-6F64-AD0014D28D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5957974" y="4629151"/>
                <a:ext cx="1730997" cy="2174692"/>
              </a:xfrm>
              <a:prstGeom prst="rect">
                <a:avLst/>
              </a:prstGeom>
            </p:spPr>
          </p:pic>
          <p:pic>
            <p:nvPicPr>
              <p:cNvPr id="28" name="Grafik 50" descr="Ein Bild, das Schlagring, Waffe enthält.&#10;&#10;Automatisch generierte Beschreibung">
                <a:extLst>
                  <a:ext uri="{FF2B5EF4-FFF2-40B4-BE49-F238E27FC236}">
                    <a16:creationId xmlns:a16="http://schemas.microsoft.com/office/drawing/2014/main" id="{0652DEA9-07B6-77A4-23C1-2E6DE71C8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3547046" y="4629151"/>
                <a:ext cx="1733916" cy="2174692"/>
              </a:xfrm>
              <a:prstGeom prst="rect">
                <a:avLst/>
              </a:prstGeom>
            </p:spPr>
          </p:pic>
          <p:pic>
            <p:nvPicPr>
              <p:cNvPr id="32" name="Grafik 51" descr="Ein Bild, das Waffe enthält.&#10;&#10;Automatisch generierte Beschreibung">
                <a:extLst>
                  <a:ext uri="{FF2B5EF4-FFF2-40B4-BE49-F238E27FC236}">
                    <a16:creationId xmlns:a16="http://schemas.microsoft.com/office/drawing/2014/main" id="{75DBCD62-F687-754D-7BC3-D59A6BB8E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6700650" y="4571352"/>
                <a:ext cx="1687211" cy="2711797"/>
              </a:xfrm>
              <a:prstGeom prst="rect">
                <a:avLst/>
              </a:prstGeom>
            </p:spPr>
          </p:pic>
          <p:pic>
            <p:nvPicPr>
              <p:cNvPr id="33" name="Grafik 52">
                <a:extLst>
                  <a:ext uri="{FF2B5EF4-FFF2-40B4-BE49-F238E27FC236}">
                    <a16:creationId xmlns:a16="http://schemas.microsoft.com/office/drawing/2014/main" id="{B932A036-B874-DE2F-3B0F-CCEA2C53A2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2716072" y="4574528"/>
                <a:ext cx="1687211" cy="2711797"/>
              </a:xfrm>
              <a:prstGeom prst="rect">
                <a:avLst/>
              </a:prstGeom>
            </p:spPr>
          </p:pic>
          <p:pic>
            <p:nvPicPr>
              <p:cNvPr id="34" name="Grafik 53">
                <a:extLst>
                  <a:ext uri="{FF2B5EF4-FFF2-40B4-BE49-F238E27FC236}">
                    <a16:creationId xmlns:a16="http://schemas.microsoft.com/office/drawing/2014/main" id="{6AAB0727-63EC-1880-2A16-4A843FAA6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5853874" y="4717138"/>
                <a:ext cx="977882" cy="1386549"/>
              </a:xfrm>
              <a:prstGeom prst="rect">
                <a:avLst/>
              </a:prstGeom>
            </p:spPr>
          </p:pic>
          <p:pic>
            <p:nvPicPr>
              <p:cNvPr id="38" name="Grafik 54">
                <a:extLst>
                  <a:ext uri="{FF2B5EF4-FFF2-40B4-BE49-F238E27FC236}">
                    <a16:creationId xmlns:a16="http://schemas.microsoft.com/office/drawing/2014/main" id="{41E5D64E-CF5C-CAD8-E233-B2EB0739BB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4516377" y="4717138"/>
                <a:ext cx="977882" cy="1386549"/>
              </a:xfrm>
              <a:prstGeom prst="rect">
                <a:avLst/>
              </a:prstGeom>
            </p:spPr>
          </p:pic>
        </p:grp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5D38301F-1FE7-17C8-0D63-9A2C583DE2A3}"/>
              </a:ext>
            </a:extLst>
          </p:cNvPr>
          <p:cNvGrpSpPr/>
          <p:nvPr/>
        </p:nvGrpSpPr>
        <p:grpSpPr>
          <a:xfrm rot="4591992">
            <a:off x="1493471" y="5041137"/>
            <a:ext cx="754901" cy="1311387"/>
            <a:chOff x="2197580" y="5122484"/>
            <a:chExt cx="754901" cy="1311387"/>
          </a:xfrm>
        </p:grpSpPr>
        <p:pic>
          <p:nvPicPr>
            <p:cNvPr id="51" name="Grafik 55">
              <a:extLst>
                <a:ext uri="{FF2B5EF4-FFF2-40B4-BE49-F238E27FC236}">
                  <a16:creationId xmlns:a16="http://schemas.microsoft.com/office/drawing/2014/main" id="{3B0B2D78-8A72-C21F-53B4-FEC5C032F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197580" y="5122484"/>
              <a:ext cx="707120" cy="1311387"/>
            </a:xfrm>
            <a:prstGeom prst="rect">
              <a:avLst/>
            </a:prstGeom>
          </p:spPr>
        </p:pic>
        <p:sp>
          <p:nvSpPr>
            <p:cNvPr id="53" name="Ellipse 62">
              <a:extLst>
                <a:ext uri="{FF2B5EF4-FFF2-40B4-BE49-F238E27FC236}">
                  <a16:creationId xmlns:a16="http://schemas.microsoft.com/office/drawing/2014/main" id="{48995975-C626-A140-5527-C809D2799373}"/>
                </a:ext>
              </a:extLst>
            </p:cNvPr>
            <p:cNvSpPr/>
            <p:nvPr/>
          </p:nvSpPr>
          <p:spPr>
            <a:xfrm>
              <a:off x="2491203" y="6065672"/>
              <a:ext cx="323958" cy="345805"/>
            </a:xfrm>
            <a:prstGeom prst="ellipse">
              <a:avLst/>
            </a:prstGeom>
            <a:noFill/>
            <a:ln w="28575">
              <a:solidFill>
                <a:srgbClr val="DEBE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900"/>
            </a:p>
          </p:txBody>
        </p:sp>
        <p:sp>
          <p:nvSpPr>
            <p:cNvPr id="54" name="Ellipse 63">
              <a:extLst>
                <a:ext uri="{FF2B5EF4-FFF2-40B4-BE49-F238E27FC236}">
                  <a16:creationId xmlns:a16="http://schemas.microsoft.com/office/drawing/2014/main" id="{2BC93A7B-E7F8-8087-B6AB-BC3CA810115E}"/>
                </a:ext>
              </a:extLst>
            </p:cNvPr>
            <p:cNvSpPr/>
            <p:nvPr/>
          </p:nvSpPr>
          <p:spPr>
            <a:xfrm>
              <a:off x="2628523" y="5406618"/>
              <a:ext cx="323958" cy="345805"/>
            </a:xfrm>
            <a:prstGeom prst="ellipse">
              <a:avLst/>
            </a:prstGeom>
            <a:noFill/>
            <a:ln w="28575">
              <a:solidFill>
                <a:srgbClr val="DEBE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900"/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938599B7-42B8-8AFE-E5AE-559966C17EDC}"/>
              </a:ext>
            </a:extLst>
          </p:cNvPr>
          <p:cNvGrpSpPr/>
          <p:nvPr/>
        </p:nvGrpSpPr>
        <p:grpSpPr>
          <a:xfrm rot="4355015">
            <a:off x="3197803" y="5056915"/>
            <a:ext cx="843496" cy="1355722"/>
            <a:chOff x="3211903" y="5130646"/>
            <a:chExt cx="843496" cy="1355722"/>
          </a:xfrm>
        </p:grpSpPr>
        <p:pic>
          <p:nvPicPr>
            <p:cNvPr id="52" name="Grafik 61" descr="Ein Bild, das Waffe enthält.&#10;&#10;Automatisch generierte Beschreibung">
              <a:extLst>
                <a:ext uri="{FF2B5EF4-FFF2-40B4-BE49-F238E27FC236}">
                  <a16:creationId xmlns:a16="http://schemas.microsoft.com/office/drawing/2014/main" id="{8F23A008-5991-5BF6-F10A-F7B89D0AC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3211903" y="5130646"/>
              <a:ext cx="843496" cy="1355722"/>
            </a:xfrm>
            <a:prstGeom prst="rect">
              <a:avLst/>
            </a:prstGeom>
            <a:ln>
              <a:noFill/>
            </a:ln>
          </p:spPr>
        </p:pic>
        <p:sp>
          <p:nvSpPr>
            <p:cNvPr id="55" name="Ellipse 64">
              <a:extLst>
                <a:ext uri="{FF2B5EF4-FFF2-40B4-BE49-F238E27FC236}">
                  <a16:creationId xmlns:a16="http://schemas.microsoft.com/office/drawing/2014/main" id="{F0D8839A-FA73-6E26-1A6C-E2C7E82D9E05}"/>
                </a:ext>
              </a:extLst>
            </p:cNvPr>
            <p:cNvSpPr/>
            <p:nvPr/>
          </p:nvSpPr>
          <p:spPr>
            <a:xfrm>
              <a:off x="3595066" y="5384792"/>
              <a:ext cx="323958" cy="345805"/>
            </a:xfrm>
            <a:prstGeom prst="ellipse">
              <a:avLst/>
            </a:prstGeom>
            <a:noFill/>
            <a:ln w="28575">
              <a:solidFill>
                <a:srgbClr val="DEBE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900"/>
            </a:p>
          </p:txBody>
        </p:sp>
        <p:sp>
          <p:nvSpPr>
            <p:cNvPr id="56" name="Ellipse 65">
              <a:extLst>
                <a:ext uri="{FF2B5EF4-FFF2-40B4-BE49-F238E27FC236}">
                  <a16:creationId xmlns:a16="http://schemas.microsoft.com/office/drawing/2014/main" id="{3A07039D-1E8F-933F-6B12-593C279ECA3D}"/>
                </a:ext>
              </a:extLst>
            </p:cNvPr>
            <p:cNvSpPr/>
            <p:nvPr/>
          </p:nvSpPr>
          <p:spPr>
            <a:xfrm>
              <a:off x="3540051" y="6091800"/>
              <a:ext cx="323958" cy="345805"/>
            </a:xfrm>
            <a:prstGeom prst="ellipse">
              <a:avLst/>
            </a:prstGeom>
            <a:noFill/>
            <a:ln w="28575">
              <a:solidFill>
                <a:srgbClr val="DEBE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900"/>
            </a:p>
          </p:txBody>
        </p:sp>
      </p:grpSp>
      <p:sp>
        <p:nvSpPr>
          <p:cNvPr id="59" name="Title 9">
            <a:extLst>
              <a:ext uri="{FF2B5EF4-FFF2-40B4-BE49-F238E27FC236}">
                <a16:creationId xmlns:a16="http://schemas.microsoft.com/office/drawing/2014/main" id="{0972E206-9ADD-A5FF-3941-0BB6580F46E6}"/>
              </a:ext>
            </a:extLst>
          </p:cNvPr>
          <p:cNvSpPr txBox="1">
            <a:spLocks/>
          </p:cNvSpPr>
          <p:nvPr/>
        </p:nvSpPr>
        <p:spPr>
          <a:xfrm>
            <a:off x="7483060" y="6517726"/>
            <a:ext cx="4899025" cy="30992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1100" dirty="0">
                <a:latin typeface="Roboto" pitchFamily="2" charset="0"/>
                <a:ea typeface="Roboto" pitchFamily="2" charset="0"/>
              </a:rPr>
              <a:t>*Em comparação com orifícios de parafuso que não são reforçados</a:t>
            </a:r>
          </a:p>
        </p:txBody>
      </p:sp>
    </p:spTree>
    <p:extLst>
      <p:ext uri="{BB962C8B-B14F-4D97-AF65-F5344CB8AC3E}">
        <p14:creationId xmlns:p14="http://schemas.microsoft.com/office/powerpoint/2010/main" val="389877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9A95-E593-C0AC-0E7B-6C9740638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745B7DC-EA58-4892-C6E7-BCDD19AB96B1}"/>
              </a:ext>
            </a:extLst>
          </p:cNvPr>
          <p:cNvCxnSpPr>
            <a:cxnSpLocks/>
          </p:cNvCxnSpPr>
          <p:nvPr/>
        </p:nvCxnSpPr>
        <p:spPr>
          <a:xfrm flipH="1">
            <a:off x="-19327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3BBF872C-E46B-5E67-D9C9-F70697973B37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 sistema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7492E63-03C7-F6A7-E0CB-753981EB26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14" name="Straight Connector 305">
            <a:extLst>
              <a:ext uri="{FF2B5EF4-FFF2-40B4-BE49-F238E27FC236}">
                <a16:creationId xmlns:a16="http://schemas.microsoft.com/office/drawing/2014/main" id="{0E1D9A26-3CA2-4C01-C877-3BBAC23849FB}"/>
              </a:ext>
            </a:extLst>
          </p:cNvPr>
          <p:cNvCxnSpPr>
            <a:cxnSpLocks/>
          </p:cNvCxnSpPr>
          <p:nvPr/>
        </p:nvCxnSpPr>
        <p:spPr>
          <a:xfrm>
            <a:off x="827916" y="3913543"/>
            <a:ext cx="4675292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B684B2AF-58D7-4AEA-5E83-579CAA3C2782}"/>
              </a:ext>
            </a:extLst>
          </p:cNvPr>
          <p:cNvSpPr/>
          <p:nvPr/>
        </p:nvSpPr>
        <p:spPr>
          <a:xfrm>
            <a:off x="1211022" y="1764644"/>
            <a:ext cx="3942003" cy="6290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pré-fabricadas de 0,7 mm Terço da face central</a:t>
            </a:r>
          </a:p>
        </p:txBody>
      </p:sp>
      <p:cxnSp>
        <p:nvCxnSpPr>
          <p:cNvPr id="21" name="Straight Connector 305">
            <a:extLst>
              <a:ext uri="{FF2B5EF4-FFF2-40B4-BE49-F238E27FC236}">
                <a16:creationId xmlns:a16="http://schemas.microsoft.com/office/drawing/2014/main" id="{C6189C76-0783-463B-537B-CDF9DAC1FF3D}"/>
              </a:ext>
            </a:extLst>
          </p:cNvPr>
          <p:cNvCxnSpPr>
            <a:cxnSpLocks/>
          </p:cNvCxnSpPr>
          <p:nvPr/>
        </p:nvCxnSpPr>
        <p:spPr>
          <a:xfrm>
            <a:off x="6735271" y="3237528"/>
            <a:ext cx="4250265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D76E5EA2-9A8C-33C5-A979-58FFD29769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222" y="2606343"/>
            <a:ext cx="4516986" cy="10378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055B5E7-B5FE-680E-CF5F-4EB64BE8947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227" y="4408129"/>
            <a:ext cx="4506232" cy="97868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6D4FDB4-502E-BDE5-CC9A-3D2A4BAFA60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0855" y="2028132"/>
            <a:ext cx="4956855" cy="98782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5F0D62A-6350-1CCE-1BB8-5BCFA776A88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0707" y="3708765"/>
            <a:ext cx="4797148" cy="993737"/>
          </a:xfrm>
          <a:prstGeom prst="rect">
            <a:avLst/>
          </a:prstGeom>
        </p:spPr>
      </p:pic>
      <p:cxnSp>
        <p:nvCxnSpPr>
          <p:cNvPr id="22" name="Straight Connector 305">
            <a:extLst>
              <a:ext uri="{FF2B5EF4-FFF2-40B4-BE49-F238E27FC236}">
                <a16:creationId xmlns:a16="http://schemas.microsoft.com/office/drawing/2014/main" id="{C0078BF0-C2AC-3250-1FA5-6799BD88B26F}"/>
              </a:ext>
            </a:extLst>
          </p:cNvPr>
          <p:cNvCxnSpPr>
            <a:cxnSpLocks/>
          </p:cNvCxnSpPr>
          <p:nvPr/>
        </p:nvCxnSpPr>
        <p:spPr>
          <a:xfrm>
            <a:off x="6654148" y="5028228"/>
            <a:ext cx="4250265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E42695B8-8F2E-950E-FA1A-1AA2FE0733D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8018" y="5233328"/>
            <a:ext cx="2710282" cy="11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3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9596CE3-A24C-1F81-5AAD-8F565770CFC3}"/>
              </a:ext>
            </a:extLst>
          </p:cNvPr>
          <p:cNvCxnSpPr>
            <a:cxnSpLocks/>
          </p:cNvCxnSpPr>
          <p:nvPr/>
        </p:nvCxnSpPr>
        <p:spPr>
          <a:xfrm flipH="1">
            <a:off x="-19327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A4614F59-BA33-D8B4-D0C0-DEA3D884787C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 sistema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96F367-1C9B-45E0-C061-A8450B87D18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B279390B-966F-9A2E-56DE-AF1AAD1EF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573034"/>
              </p:ext>
            </p:extLst>
          </p:nvPr>
        </p:nvGraphicFramePr>
        <p:xfrm>
          <a:off x="254000" y="1198444"/>
          <a:ext cx="10528301" cy="914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669696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446915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914247"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Placas de osteotomia sagital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i="0" dirty="0">
                        <a:solidFill>
                          <a:srgbClr val="000000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0,7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F1A7AB-81D1-3C97-2DB2-6C91E05F6A0B}"/>
              </a:ext>
            </a:extLst>
          </p:cNvPr>
          <p:cNvSpPr txBox="1"/>
          <p:nvPr/>
        </p:nvSpPr>
        <p:spPr>
          <a:xfrm>
            <a:off x="2986174" y="1870584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M2-4047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B6212E24-340A-25FC-50E2-142D87115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86484"/>
              </p:ext>
            </p:extLst>
          </p:nvPr>
        </p:nvGraphicFramePr>
        <p:xfrm>
          <a:off x="254000" y="2192674"/>
          <a:ext cx="10528301" cy="873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669696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446915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873361"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Placas de osteotomia sagital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i="0" dirty="0">
                        <a:solidFill>
                          <a:srgbClr val="000000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0,8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ECBA8CD5-B80F-6949-2DEA-C626E61F5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028547"/>
              </p:ext>
            </p:extLst>
          </p:nvPr>
        </p:nvGraphicFramePr>
        <p:xfrm>
          <a:off x="254000" y="3146018"/>
          <a:ext cx="10528301" cy="891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6707594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43628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891672"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Placas de osteotomia sagital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i="0" dirty="0">
                        <a:solidFill>
                          <a:srgbClr val="000000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0,9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02F68B-2504-8BB4-9677-81BE0945B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00473"/>
              </p:ext>
            </p:extLst>
          </p:nvPr>
        </p:nvGraphicFramePr>
        <p:xfrm>
          <a:off x="254000" y="4117674"/>
          <a:ext cx="10528301" cy="2426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6707594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436282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2426811"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Placas de osteotomia sagital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i="0" dirty="0">
                        <a:solidFill>
                          <a:srgbClr val="000000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1,0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FBBBA7-F787-4A24-3157-369250E76C1F}"/>
              </a:ext>
            </a:extLst>
          </p:cNvPr>
          <p:cNvSpPr txBox="1"/>
          <p:nvPr/>
        </p:nvSpPr>
        <p:spPr>
          <a:xfrm>
            <a:off x="4595067" y="1887256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M2-4048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31988E76-30F8-0139-01D4-710820E7B96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4776" y="3216531"/>
            <a:ext cx="1483147" cy="538188"/>
          </a:xfrm>
          <a:prstGeom prst="roundRect">
            <a:avLst>
              <a:gd name="adj" fmla="val 14218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350B0561-52BE-8B1D-8A29-889838CC612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4776" y="5916616"/>
            <a:ext cx="2139797" cy="354522"/>
          </a:xfrm>
          <a:prstGeom prst="roundRect">
            <a:avLst>
              <a:gd name="adj" fmla="val 24510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37A8D23-4B51-B564-07F4-39892C702BC0}"/>
              </a:ext>
            </a:extLst>
          </p:cNvPr>
          <p:cNvSpPr txBox="1"/>
          <p:nvPr/>
        </p:nvSpPr>
        <p:spPr>
          <a:xfrm>
            <a:off x="3031449" y="2843227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M2-4049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F19E2BB-7BD9-8605-65DE-289CF940AF90}"/>
              </a:ext>
            </a:extLst>
          </p:cNvPr>
          <p:cNvSpPr txBox="1"/>
          <p:nvPr/>
        </p:nvSpPr>
        <p:spPr>
          <a:xfrm>
            <a:off x="4900855" y="2847087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M2-4050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4A75D83-29CA-C571-C7D2-CE9581DD9BE5}"/>
              </a:ext>
            </a:extLst>
          </p:cNvPr>
          <p:cNvSpPr txBox="1"/>
          <p:nvPr/>
        </p:nvSpPr>
        <p:spPr>
          <a:xfrm>
            <a:off x="3060530" y="3787534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1F3DED9-9A57-2DF4-DEC2-39AF70E14C47}"/>
              </a:ext>
            </a:extLst>
          </p:cNvPr>
          <p:cNvSpPr txBox="1"/>
          <p:nvPr/>
        </p:nvSpPr>
        <p:spPr>
          <a:xfrm>
            <a:off x="3113189" y="4738648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E50DB92-8245-B9EB-E05D-DBE11EACA3DE}"/>
              </a:ext>
            </a:extLst>
          </p:cNvPr>
          <p:cNvSpPr txBox="1"/>
          <p:nvPr/>
        </p:nvSpPr>
        <p:spPr>
          <a:xfrm>
            <a:off x="4207669" y="4714862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M2-4061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5063CC5-AF3F-9B36-DB65-12C9AE05DB2B}"/>
              </a:ext>
            </a:extLst>
          </p:cNvPr>
          <p:cNvSpPr txBox="1"/>
          <p:nvPr/>
        </p:nvSpPr>
        <p:spPr>
          <a:xfrm>
            <a:off x="3098367" y="5609023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M2-4063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982D9E5-22AA-E6DE-C139-496541827649}"/>
              </a:ext>
            </a:extLst>
          </p:cNvPr>
          <p:cNvSpPr txBox="1"/>
          <p:nvPr/>
        </p:nvSpPr>
        <p:spPr>
          <a:xfrm>
            <a:off x="3060316" y="6309245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M2-4066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3EF0875-DFA0-3EF9-2632-08954BAAD4B6}"/>
              </a:ext>
            </a:extLst>
          </p:cNvPr>
          <p:cNvSpPr txBox="1"/>
          <p:nvPr/>
        </p:nvSpPr>
        <p:spPr>
          <a:xfrm>
            <a:off x="4900855" y="5631576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M2-4064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A04B4F1-A94A-A5F7-2CD4-323D050D0A87}"/>
              </a:ext>
            </a:extLst>
          </p:cNvPr>
          <p:cNvSpPr txBox="1"/>
          <p:nvPr/>
        </p:nvSpPr>
        <p:spPr>
          <a:xfrm>
            <a:off x="7391193" y="5628073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M2-4065</a:t>
            </a:r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20BAE7BC-9603-7F66-D7D1-9FB583ADD24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4776" y="1326944"/>
            <a:ext cx="2554249" cy="548492"/>
          </a:xfrm>
          <a:prstGeom prst="roundRect">
            <a:avLst>
              <a:gd name="adj" fmla="val 19808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6495A45E-4473-13F5-2C5B-AF71C38ADF6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4776" y="2215370"/>
            <a:ext cx="2769343" cy="586133"/>
          </a:xfrm>
          <a:prstGeom prst="roundRect">
            <a:avLst>
              <a:gd name="adj" fmla="val 23586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2A82BE62-29C4-DD0D-99F2-4152896337E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4776" y="4230557"/>
            <a:ext cx="3244195" cy="475518"/>
          </a:xfrm>
          <a:prstGeom prst="roundRect">
            <a:avLst>
              <a:gd name="adj" fmla="val 17757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ED50F4E0-0BE6-5D7A-1645-9EB8FFE64937}"/>
              </a:ext>
            </a:extLst>
          </p:cNvPr>
          <p:cNvSpPr txBox="1"/>
          <p:nvPr/>
        </p:nvSpPr>
        <p:spPr>
          <a:xfrm>
            <a:off x="5271441" y="4729813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M2-4062</a:t>
            </a:r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D1997216-CC8E-5A6B-2735-0963FFC2216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4776" y="5076022"/>
            <a:ext cx="6197611" cy="506928"/>
          </a:xfrm>
          <a:prstGeom prst="roundRect">
            <a:avLst>
              <a:gd name="adj" fmla="val 21195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94326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BA7143B-C23E-171D-56F1-1C60A72FA7B3}"/>
              </a:ext>
            </a:extLst>
          </p:cNvPr>
          <p:cNvCxnSpPr>
            <a:cxnSpLocks/>
          </p:cNvCxnSpPr>
          <p:nvPr/>
        </p:nvCxnSpPr>
        <p:spPr>
          <a:xfrm flipH="1">
            <a:off x="-19327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785FAB21-9668-D089-19EA-AB861C129BFD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 sistema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2D97CF2-1DA7-4487-26A6-C57BA4C725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9135" y="1327464"/>
            <a:ext cx="5802401" cy="191313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E82ED2B-5E70-6F2A-98A1-F018D6944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083" y="3772743"/>
            <a:ext cx="3858163" cy="2581635"/>
          </a:xfrm>
          <a:prstGeom prst="rect">
            <a:avLst/>
          </a:prstGeom>
        </p:spPr>
      </p:pic>
      <p:cxnSp>
        <p:nvCxnSpPr>
          <p:cNvPr id="12" name="Straight Connector 305">
            <a:extLst>
              <a:ext uri="{FF2B5EF4-FFF2-40B4-BE49-F238E27FC236}">
                <a16:creationId xmlns:a16="http://schemas.microsoft.com/office/drawing/2014/main" id="{1A4AEB97-671C-9E1D-18D0-97044F1791E1}"/>
              </a:ext>
            </a:extLst>
          </p:cNvPr>
          <p:cNvCxnSpPr>
            <a:cxnSpLocks/>
          </p:cNvCxnSpPr>
          <p:nvPr/>
        </p:nvCxnSpPr>
        <p:spPr>
          <a:xfrm>
            <a:off x="3167069" y="3425261"/>
            <a:ext cx="6166020" cy="0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565EF9BF-FA76-D1B9-3169-DA8C9B82BFFB}"/>
              </a:ext>
            </a:extLst>
          </p:cNvPr>
          <p:cNvSpPr/>
          <p:nvPr/>
        </p:nvSpPr>
        <p:spPr>
          <a:xfrm>
            <a:off x="720491" y="3110759"/>
            <a:ext cx="2446578" cy="6290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de Ramo TriLock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D664BDB-083F-81E8-FA78-53FF4C68B6B9}"/>
              </a:ext>
            </a:extLst>
          </p:cNvPr>
          <p:cNvSpPr txBox="1"/>
          <p:nvPr/>
        </p:nvSpPr>
        <p:spPr>
          <a:xfrm>
            <a:off x="3813159" y="3102100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C41B423-1F97-6388-DD5A-22CF001143D7}"/>
              </a:ext>
            </a:extLst>
          </p:cNvPr>
          <p:cNvSpPr txBox="1"/>
          <p:nvPr/>
        </p:nvSpPr>
        <p:spPr>
          <a:xfrm>
            <a:off x="4758515" y="3110759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F409E6C-0CAE-EF4D-0B19-7125645EA0BE}"/>
              </a:ext>
            </a:extLst>
          </p:cNvPr>
          <p:cNvSpPr txBox="1"/>
          <p:nvPr/>
        </p:nvSpPr>
        <p:spPr>
          <a:xfrm>
            <a:off x="6502347" y="3119418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M2-4056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ECDE337-ADF8-602B-2E6E-B4082B8B64A1}"/>
              </a:ext>
            </a:extLst>
          </p:cNvPr>
          <p:cNvSpPr txBox="1"/>
          <p:nvPr/>
        </p:nvSpPr>
        <p:spPr>
          <a:xfrm>
            <a:off x="7669769" y="3128077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M2-4055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126CF8-B241-6A02-B5A3-3E65B1F3C4CC}"/>
              </a:ext>
            </a:extLst>
          </p:cNvPr>
          <p:cNvSpPr txBox="1"/>
          <p:nvPr/>
        </p:nvSpPr>
        <p:spPr>
          <a:xfrm>
            <a:off x="5203809" y="6249858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M2-4058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0588C26-E88E-3FA0-EB19-A3EC5F608CF0}"/>
              </a:ext>
            </a:extLst>
          </p:cNvPr>
          <p:cNvSpPr txBox="1"/>
          <p:nvPr/>
        </p:nvSpPr>
        <p:spPr>
          <a:xfrm>
            <a:off x="6584242" y="6258517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M2-4057</a:t>
            </a:r>
          </a:p>
        </p:txBody>
      </p:sp>
    </p:spTree>
    <p:extLst>
      <p:ext uri="{BB962C8B-B14F-4D97-AF65-F5344CB8AC3E}">
        <p14:creationId xmlns:p14="http://schemas.microsoft.com/office/powerpoint/2010/main" val="119986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65A5-5334-8700-6E78-8F8DFE13A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CD26033-9002-5F74-3A6A-991930CE24D0}"/>
              </a:ext>
            </a:extLst>
          </p:cNvPr>
          <p:cNvCxnSpPr>
            <a:cxnSpLocks/>
          </p:cNvCxnSpPr>
          <p:nvPr/>
        </p:nvCxnSpPr>
        <p:spPr>
          <a:xfrm flipH="1">
            <a:off x="-19327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9">
            <a:extLst>
              <a:ext uri="{FF2B5EF4-FFF2-40B4-BE49-F238E27FC236}">
                <a16:creationId xmlns:a16="http://schemas.microsoft.com/office/drawing/2014/main" id="{2CC21F50-A482-6E91-075E-25B9823C26D2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 sistema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91CE94-9D6D-1056-C391-F72816EF87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47AED664-3E3F-D167-2131-606DB620E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732164"/>
              </p:ext>
            </p:extLst>
          </p:nvPr>
        </p:nvGraphicFramePr>
        <p:xfrm>
          <a:off x="254000" y="1198444"/>
          <a:ext cx="10528301" cy="1484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6904508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239368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484289"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Placas do queixo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i="0" dirty="0">
                        <a:solidFill>
                          <a:srgbClr val="000000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0,7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F482C1-2106-F9FC-0E9D-44CA36FD0020}"/>
              </a:ext>
            </a:extLst>
          </p:cNvPr>
          <p:cNvSpPr txBox="1"/>
          <p:nvPr/>
        </p:nvSpPr>
        <p:spPr>
          <a:xfrm>
            <a:off x="2986174" y="1870584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M2-4047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0054A1D9-C3A6-D5F8-82B0-CAFD6CAB7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05948"/>
              </p:ext>
            </p:extLst>
          </p:nvPr>
        </p:nvGraphicFramePr>
        <p:xfrm>
          <a:off x="254000" y="2881878"/>
          <a:ext cx="10528301" cy="1396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6904508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239368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396043"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Placas de </a:t>
                      </a:r>
                      <a:r>
                        <a:rPr lang="pt-BR" sz="1400" b="0" i="0" dirty="0" err="1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queixo,Pré</a:t>
                      </a:r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-fabricado (rígido)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i="0" dirty="0">
                        <a:solidFill>
                          <a:srgbClr val="000000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0,8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2BF388D0-9733-2EB5-6AC6-E1A06D30F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76814"/>
              </p:ext>
            </p:extLst>
          </p:nvPr>
        </p:nvGraphicFramePr>
        <p:xfrm>
          <a:off x="254000" y="4477065"/>
          <a:ext cx="10528301" cy="2063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6904508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1239368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2063933"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 err="1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MandíbulaTabuleiros</a:t>
                      </a:r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 Padrão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i="0" dirty="0">
                        <a:solidFill>
                          <a:srgbClr val="000000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0,9 mm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8E83CD33-88CE-8C3F-D12D-7DC531EB9284}"/>
              </a:ext>
            </a:extLst>
          </p:cNvPr>
          <p:cNvSpPr txBox="1"/>
          <p:nvPr/>
        </p:nvSpPr>
        <p:spPr>
          <a:xfrm>
            <a:off x="6176705" y="1867075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M2-4048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39EE5FA-5AB6-1921-E7EE-B0BCA38E3E01}"/>
              </a:ext>
            </a:extLst>
          </p:cNvPr>
          <p:cNvSpPr txBox="1"/>
          <p:nvPr/>
        </p:nvSpPr>
        <p:spPr>
          <a:xfrm>
            <a:off x="3031449" y="3590598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M2-4049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43FFA27-E290-38C0-6DBF-E38206C97047}"/>
              </a:ext>
            </a:extLst>
          </p:cNvPr>
          <p:cNvSpPr txBox="1"/>
          <p:nvPr/>
        </p:nvSpPr>
        <p:spPr>
          <a:xfrm>
            <a:off x="6232729" y="2836534"/>
            <a:ext cx="9453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M2-4050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064BD91-251B-26E9-CBA8-E5DD48775FB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6641" y="1499311"/>
            <a:ext cx="1319898" cy="906597"/>
          </a:xfrm>
          <a:prstGeom prst="roundRect">
            <a:avLst>
              <a:gd name="adj" fmla="val 14458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4BE76D9-4BC3-5712-D3D2-1C5F50F3DA2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8147" y="3112710"/>
            <a:ext cx="5506959" cy="958245"/>
          </a:xfrm>
          <a:prstGeom prst="roundRect">
            <a:avLst>
              <a:gd name="adj" fmla="val 14142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61D65DD-0FB7-A0C8-0802-10E2C46E3CC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2152" y="4608380"/>
            <a:ext cx="5732325" cy="663675"/>
          </a:xfrm>
          <a:prstGeom prst="roundRect">
            <a:avLst>
              <a:gd name="adj" fmla="val 18206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44B76129-5AE3-510E-BA76-1273001A485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2152" y="5445495"/>
            <a:ext cx="1912944" cy="989005"/>
          </a:xfrm>
          <a:prstGeom prst="roundRect">
            <a:avLst>
              <a:gd name="adj" fmla="val 19345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1561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16D3-6F23-1520-4A5D-75BA4534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9">
            <a:extLst>
              <a:ext uri="{FF2B5EF4-FFF2-40B4-BE49-F238E27FC236}">
                <a16:creationId xmlns:a16="http://schemas.microsoft.com/office/drawing/2014/main" id="{80A6852B-F033-4048-AE42-21EAA3F6107A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Placas ortognáticas padrão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2F2A787A-77A6-12A5-2B34-E2EBD0AFD283}"/>
              </a:ext>
            </a:extLst>
          </p:cNvPr>
          <p:cNvSpPr txBox="1">
            <a:spLocks/>
          </p:cNvSpPr>
          <p:nvPr/>
        </p:nvSpPr>
        <p:spPr>
          <a:xfrm>
            <a:off x="227013" y="1336578"/>
            <a:ext cx="7791303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1600" dirty="0">
                <a:latin typeface="Roboto Light (Corpo)"/>
              </a:rPr>
              <a:t>Placas ortognáticas padrão para osteossíntese em osteotomias com </a:t>
            </a:r>
            <a:r>
              <a:rPr lang="pt-BR" sz="1600" dirty="0" err="1">
                <a:latin typeface="Roboto Light (Corpo)"/>
              </a:rPr>
              <a:t>LeFort</a:t>
            </a:r>
            <a:r>
              <a:rPr lang="pt-BR" sz="1600" dirty="0">
                <a:latin typeface="Roboto Light (Corpo)"/>
              </a:rPr>
              <a:t> I, II e III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DACBCD7-2074-E008-0277-C84049FD97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9" name="Conector Reto 3">
            <a:extLst>
              <a:ext uri="{FF2B5EF4-FFF2-40B4-BE49-F238E27FC236}">
                <a16:creationId xmlns:a16="http://schemas.microsoft.com/office/drawing/2014/main" id="{461FFD07-FC45-3D6C-B975-91EDFFD4CCB0}"/>
              </a:ext>
            </a:extLst>
          </p:cNvPr>
          <p:cNvCxnSpPr>
            <a:cxnSpLocks/>
          </p:cNvCxnSpPr>
          <p:nvPr/>
        </p:nvCxnSpPr>
        <p:spPr>
          <a:xfrm flipH="1">
            <a:off x="-1252311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fik 15">
            <a:extLst>
              <a:ext uri="{FF2B5EF4-FFF2-40B4-BE49-F238E27FC236}">
                <a16:creationId xmlns:a16="http://schemas.microsoft.com/office/drawing/2014/main" id="{1BC7906D-1350-686E-33A0-CFF10CAE23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832994" y="2216277"/>
            <a:ext cx="137314" cy="645137"/>
          </a:xfrm>
          <a:prstGeom prst="rect">
            <a:avLst/>
          </a:prstGeom>
        </p:spPr>
      </p:pic>
      <p:pic>
        <p:nvPicPr>
          <p:cNvPr id="26" name="Grafik 17">
            <a:extLst>
              <a:ext uri="{FF2B5EF4-FFF2-40B4-BE49-F238E27FC236}">
                <a16:creationId xmlns:a16="http://schemas.microsoft.com/office/drawing/2014/main" id="{E66D36E2-702F-3314-92A4-E43BD4B0C3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88726" y="2317388"/>
            <a:ext cx="137314" cy="1321051"/>
          </a:xfrm>
          <a:prstGeom prst="rect">
            <a:avLst/>
          </a:prstGeom>
        </p:spPr>
      </p:pic>
      <p:pic>
        <p:nvPicPr>
          <p:cNvPr id="27" name="Grafik 9">
            <a:extLst>
              <a:ext uri="{FF2B5EF4-FFF2-40B4-BE49-F238E27FC236}">
                <a16:creationId xmlns:a16="http://schemas.microsoft.com/office/drawing/2014/main" id="{3FAEF981-C3EE-FD63-0400-AA55E16234E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52086" y="4341826"/>
            <a:ext cx="376428" cy="595420"/>
          </a:xfrm>
          <a:prstGeom prst="rect">
            <a:avLst/>
          </a:prstGeom>
        </p:spPr>
      </p:pic>
      <p:pic>
        <p:nvPicPr>
          <p:cNvPr id="28" name="Grafik 11">
            <a:extLst>
              <a:ext uri="{FF2B5EF4-FFF2-40B4-BE49-F238E27FC236}">
                <a16:creationId xmlns:a16="http://schemas.microsoft.com/office/drawing/2014/main" id="{E4E9E9B2-1936-8681-1489-6A001D0E8CC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335445" y="4015115"/>
            <a:ext cx="614360" cy="922131"/>
          </a:xfrm>
          <a:prstGeom prst="rect">
            <a:avLst/>
          </a:prstGeom>
        </p:spPr>
      </p:pic>
      <p:pic>
        <p:nvPicPr>
          <p:cNvPr id="29" name="Grafik 13">
            <a:extLst>
              <a:ext uri="{FF2B5EF4-FFF2-40B4-BE49-F238E27FC236}">
                <a16:creationId xmlns:a16="http://schemas.microsoft.com/office/drawing/2014/main" id="{0EDFB186-DCE6-710D-5376-89A003852FA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294084" y="3828085"/>
            <a:ext cx="616727" cy="1109162"/>
          </a:xfrm>
          <a:prstGeom prst="rect">
            <a:avLst/>
          </a:prstGeom>
        </p:spPr>
      </p:pic>
      <p:pic>
        <p:nvPicPr>
          <p:cNvPr id="31" name="Grafik 7" descr="Ein Bild, das Propeller, Schlagring, Spiegel enthält.&#10;&#10;Automatisch generierte Beschreibung">
            <a:extLst>
              <a:ext uri="{FF2B5EF4-FFF2-40B4-BE49-F238E27FC236}">
                <a16:creationId xmlns:a16="http://schemas.microsoft.com/office/drawing/2014/main" id="{4996685C-F8B0-7FBC-3BEF-0B45556CA05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64234" y="5861334"/>
            <a:ext cx="437983" cy="776532"/>
          </a:xfrm>
          <a:prstGeom prst="rect">
            <a:avLst/>
          </a:prstGeom>
        </p:spPr>
      </p:pic>
      <p:cxnSp>
        <p:nvCxnSpPr>
          <p:cNvPr id="32" name="Straight Connector 305">
            <a:extLst>
              <a:ext uri="{FF2B5EF4-FFF2-40B4-BE49-F238E27FC236}">
                <a16:creationId xmlns:a16="http://schemas.microsoft.com/office/drawing/2014/main" id="{4242E1F7-11AB-F002-9FF8-D6F9356CA1F0}"/>
              </a:ext>
            </a:extLst>
          </p:cNvPr>
          <p:cNvCxnSpPr>
            <a:cxnSpLocks/>
          </p:cNvCxnSpPr>
          <p:nvPr/>
        </p:nvCxnSpPr>
        <p:spPr>
          <a:xfrm flipV="1">
            <a:off x="312844" y="3236095"/>
            <a:ext cx="3206882" cy="13464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777FC75B-AC70-7616-A560-0B166390455C}"/>
              </a:ext>
            </a:extLst>
          </p:cNvPr>
          <p:cNvGrpSpPr/>
          <p:nvPr/>
        </p:nvGrpSpPr>
        <p:grpSpPr>
          <a:xfrm>
            <a:off x="4492559" y="2732259"/>
            <a:ext cx="3206881" cy="3219133"/>
            <a:chOff x="1372304" y="4223550"/>
            <a:chExt cx="1741612" cy="1748266"/>
          </a:xfrm>
        </p:grpSpPr>
        <p:pic>
          <p:nvPicPr>
            <p:cNvPr id="40" name="Imagem 39">
              <a:extLst>
                <a:ext uri="{FF2B5EF4-FFF2-40B4-BE49-F238E27FC236}">
                  <a16:creationId xmlns:a16="http://schemas.microsoft.com/office/drawing/2014/main" id="{AC286707-5CE1-892B-FDAF-05BFAFDDC2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72304" y="4230204"/>
              <a:ext cx="1741612" cy="1741612"/>
            </a:xfrm>
            <a:custGeom>
              <a:avLst/>
              <a:gdLst>
                <a:gd name="csX0" fmla="*/ 870806 w 1741612"/>
                <a:gd name="csY0" fmla="*/ 0 h 1741612"/>
                <a:gd name="csX1" fmla="*/ 1741612 w 1741612"/>
                <a:gd name="csY1" fmla="*/ 870806 h 1741612"/>
                <a:gd name="csX2" fmla="*/ 870806 w 1741612"/>
                <a:gd name="csY2" fmla="*/ 1741612 h 1741612"/>
                <a:gd name="csX3" fmla="*/ 0 w 1741612"/>
                <a:gd name="csY3" fmla="*/ 870806 h 1741612"/>
                <a:gd name="csX4" fmla="*/ 870806 w 1741612"/>
                <a:gd name="csY4" fmla="*/ 0 h 1741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41612" h="1741612">
                  <a:moveTo>
                    <a:pt x="870806" y="0"/>
                  </a:moveTo>
                  <a:cubicBezTo>
                    <a:pt x="1351739" y="0"/>
                    <a:pt x="1741612" y="389873"/>
                    <a:pt x="1741612" y="870806"/>
                  </a:cubicBezTo>
                  <a:cubicBezTo>
                    <a:pt x="1741612" y="1351739"/>
                    <a:pt x="1351739" y="1741612"/>
                    <a:pt x="870806" y="1741612"/>
                  </a:cubicBezTo>
                  <a:cubicBezTo>
                    <a:pt x="389873" y="1741612"/>
                    <a:pt x="0" y="1351739"/>
                    <a:pt x="0" y="870806"/>
                  </a:cubicBezTo>
                  <a:cubicBezTo>
                    <a:pt x="0" y="389873"/>
                    <a:pt x="389873" y="0"/>
                    <a:pt x="870806" y="0"/>
                  </a:cubicBezTo>
                  <a:close/>
                </a:path>
              </a:pathLst>
            </a:custGeom>
          </p:spPr>
        </p:pic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EAFB58F-9E21-5F2B-51A3-38A648FF68DC}"/>
                </a:ext>
              </a:extLst>
            </p:cNvPr>
            <p:cNvSpPr/>
            <p:nvPr/>
          </p:nvSpPr>
          <p:spPr>
            <a:xfrm>
              <a:off x="1372304" y="4223550"/>
              <a:ext cx="1741611" cy="1741611"/>
            </a:xfrm>
            <a:prstGeom prst="ellipse">
              <a:avLst/>
            </a:prstGeom>
            <a:noFill/>
            <a:ln w="19050"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C08037FB-040A-BAF3-B8CB-6112087A972B}"/>
              </a:ext>
            </a:extLst>
          </p:cNvPr>
          <p:cNvGrpSpPr/>
          <p:nvPr/>
        </p:nvGrpSpPr>
        <p:grpSpPr>
          <a:xfrm>
            <a:off x="7315803" y="1632654"/>
            <a:ext cx="3206882" cy="3206881"/>
            <a:chOff x="4505992" y="4289186"/>
            <a:chExt cx="1741613" cy="1741612"/>
          </a:xfrm>
        </p:grpSpPr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7548D8D0-BE78-3CC5-1850-2F43EABF13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05993" y="4289186"/>
              <a:ext cx="1741612" cy="1741612"/>
            </a:xfrm>
            <a:custGeom>
              <a:avLst/>
              <a:gdLst>
                <a:gd name="csX0" fmla="*/ 870806 w 1741612"/>
                <a:gd name="csY0" fmla="*/ 0 h 1741612"/>
                <a:gd name="csX1" fmla="*/ 1741612 w 1741612"/>
                <a:gd name="csY1" fmla="*/ 870806 h 1741612"/>
                <a:gd name="csX2" fmla="*/ 870806 w 1741612"/>
                <a:gd name="csY2" fmla="*/ 1741612 h 1741612"/>
                <a:gd name="csX3" fmla="*/ 0 w 1741612"/>
                <a:gd name="csY3" fmla="*/ 870806 h 1741612"/>
                <a:gd name="csX4" fmla="*/ 870806 w 1741612"/>
                <a:gd name="csY4" fmla="*/ 0 h 1741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41612" h="1741612">
                  <a:moveTo>
                    <a:pt x="870806" y="0"/>
                  </a:moveTo>
                  <a:cubicBezTo>
                    <a:pt x="1351739" y="0"/>
                    <a:pt x="1741612" y="389873"/>
                    <a:pt x="1741612" y="870806"/>
                  </a:cubicBezTo>
                  <a:cubicBezTo>
                    <a:pt x="1741612" y="1351739"/>
                    <a:pt x="1351739" y="1741612"/>
                    <a:pt x="870806" y="1741612"/>
                  </a:cubicBezTo>
                  <a:cubicBezTo>
                    <a:pt x="389873" y="1741612"/>
                    <a:pt x="0" y="1351739"/>
                    <a:pt x="0" y="870806"/>
                  </a:cubicBezTo>
                  <a:cubicBezTo>
                    <a:pt x="0" y="389873"/>
                    <a:pt x="389873" y="0"/>
                    <a:pt x="870806" y="0"/>
                  </a:cubicBezTo>
                  <a:close/>
                </a:path>
              </a:pathLst>
            </a:custGeom>
          </p:spPr>
        </p:pic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6F243DE4-7E4A-42A5-E154-B5A8ED1775D3}"/>
                </a:ext>
              </a:extLst>
            </p:cNvPr>
            <p:cNvSpPr/>
            <p:nvPr/>
          </p:nvSpPr>
          <p:spPr>
            <a:xfrm>
              <a:off x="4505992" y="4289187"/>
              <a:ext cx="1741611" cy="1741611"/>
            </a:xfrm>
            <a:prstGeom prst="ellipse">
              <a:avLst/>
            </a:prstGeom>
            <a:noFill/>
            <a:ln w="19050"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8" name="Retângulo 47">
            <a:extLst>
              <a:ext uri="{FF2B5EF4-FFF2-40B4-BE49-F238E27FC236}">
                <a16:creationId xmlns:a16="http://schemas.microsoft.com/office/drawing/2014/main" id="{30CED0F3-E6B3-9B0F-7A7D-0EBD912C0C38}"/>
              </a:ext>
            </a:extLst>
          </p:cNvPr>
          <p:cNvSpPr/>
          <p:nvPr/>
        </p:nvSpPr>
        <p:spPr>
          <a:xfrm>
            <a:off x="543305" y="1912799"/>
            <a:ext cx="1520485" cy="3777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retas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2AC65F4E-DA61-671F-6E89-3EECA30B6441}"/>
              </a:ext>
            </a:extLst>
          </p:cNvPr>
          <p:cNvSpPr/>
          <p:nvPr/>
        </p:nvSpPr>
        <p:spPr>
          <a:xfrm>
            <a:off x="497140" y="3502293"/>
            <a:ext cx="1172172" cy="3777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Placas Y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CBE7DB66-4E12-BF62-A8D2-B6FAFCA1D883}"/>
              </a:ext>
            </a:extLst>
          </p:cNvPr>
          <p:cNvSpPr/>
          <p:nvPr/>
        </p:nvSpPr>
        <p:spPr>
          <a:xfrm>
            <a:off x="497140" y="5511418"/>
            <a:ext cx="1566650" cy="3777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Placa de grade</a:t>
            </a:r>
          </a:p>
        </p:txBody>
      </p:sp>
      <p:cxnSp>
        <p:nvCxnSpPr>
          <p:cNvPr id="51" name="Straight Connector 305">
            <a:extLst>
              <a:ext uri="{FF2B5EF4-FFF2-40B4-BE49-F238E27FC236}">
                <a16:creationId xmlns:a16="http://schemas.microsoft.com/office/drawing/2014/main" id="{1DE32D7B-4DB4-A03C-BAC1-714117CD74AB}"/>
              </a:ext>
            </a:extLst>
          </p:cNvPr>
          <p:cNvCxnSpPr>
            <a:cxnSpLocks/>
          </p:cNvCxnSpPr>
          <p:nvPr/>
        </p:nvCxnSpPr>
        <p:spPr>
          <a:xfrm flipV="1">
            <a:off x="460349" y="5185710"/>
            <a:ext cx="3206882" cy="13464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0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968FA-D914-7450-095F-B40EA4F4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9">
            <a:extLst>
              <a:ext uri="{FF2B5EF4-FFF2-40B4-BE49-F238E27FC236}">
                <a16:creationId xmlns:a16="http://schemas.microsoft.com/office/drawing/2014/main" id="{AC10D99E-53C9-3FC3-33FF-6D0D269C3BE6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Barras deslizantes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872DC4C5-6E30-38CD-0227-43912BAFEC80}"/>
              </a:ext>
            </a:extLst>
          </p:cNvPr>
          <p:cNvSpPr txBox="1">
            <a:spLocks/>
          </p:cNvSpPr>
          <p:nvPr/>
        </p:nvSpPr>
        <p:spPr>
          <a:xfrm>
            <a:off x="227013" y="1530227"/>
            <a:ext cx="7791303" cy="158511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pt-BR" sz="1600" dirty="0">
                <a:latin typeface="Roboto Light (Corpo)"/>
              </a:rPr>
              <a:t>Barra deslizante para ajuste intraoperatório de oclusão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latin typeface="Roboto Light (Corpo)"/>
              </a:rPr>
              <a:t>Disponível em Ø 2.0 e 2.3 </a:t>
            </a:r>
            <a:r>
              <a:rPr lang="pt-BR" sz="1600" dirty="0" err="1">
                <a:latin typeface="Roboto Light (Corpo)"/>
              </a:rPr>
              <a:t>mmIMPORTANTE</a:t>
            </a:r>
            <a:r>
              <a:rPr lang="pt-BR" sz="1600" dirty="0">
                <a:latin typeface="Roboto Light (Corpo)"/>
              </a:rPr>
              <a:t>: A barra deslizante deve ser removida depois que a placa é consertada.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580913-6769-051A-5F82-059CCB0EA4F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9" name="Conector Reto 3">
            <a:extLst>
              <a:ext uri="{FF2B5EF4-FFF2-40B4-BE49-F238E27FC236}">
                <a16:creationId xmlns:a16="http://schemas.microsoft.com/office/drawing/2014/main" id="{66AB671A-85EF-86D5-C57D-4C7B29E24BCE}"/>
              </a:ext>
            </a:extLst>
          </p:cNvPr>
          <p:cNvCxnSpPr>
            <a:cxnSpLocks/>
          </p:cNvCxnSpPr>
          <p:nvPr/>
        </p:nvCxnSpPr>
        <p:spPr>
          <a:xfrm flipH="1">
            <a:off x="-1983629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05">
            <a:extLst>
              <a:ext uri="{FF2B5EF4-FFF2-40B4-BE49-F238E27FC236}">
                <a16:creationId xmlns:a16="http://schemas.microsoft.com/office/drawing/2014/main" id="{08D3FAEB-43D2-93F3-89D1-DF392726D23B}"/>
              </a:ext>
            </a:extLst>
          </p:cNvPr>
          <p:cNvCxnSpPr>
            <a:cxnSpLocks/>
          </p:cNvCxnSpPr>
          <p:nvPr/>
        </p:nvCxnSpPr>
        <p:spPr>
          <a:xfrm flipV="1">
            <a:off x="227013" y="2038025"/>
            <a:ext cx="7459558" cy="31319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05">
            <a:extLst>
              <a:ext uri="{FF2B5EF4-FFF2-40B4-BE49-F238E27FC236}">
                <a16:creationId xmlns:a16="http://schemas.microsoft.com/office/drawing/2014/main" id="{7F47B7B7-BFB3-170C-231A-55239FE50013}"/>
              </a:ext>
            </a:extLst>
          </p:cNvPr>
          <p:cNvCxnSpPr>
            <a:cxnSpLocks/>
          </p:cNvCxnSpPr>
          <p:nvPr/>
        </p:nvCxnSpPr>
        <p:spPr>
          <a:xfrm flipV="1">
            <a:off x="227013" y="2583835"/>
            <a:ext cx="7459558" cy="31319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9">
            <a:extLst>
              <a:ext uri="{FF2B5EF4-FFF2-40B4-BE49-F238E27FC236}">
                <a16:creationId xmlns:a16="http://schemas.microsoft.com/office/drawing/2014/main" id="{AEB85FAE-2594-2144-66DC-88A9E54ADA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4646" y="1389710"/>
            <a:ext cx="3232157" cy="203929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9602AB8-FB0A-9988-C7CB-84F46900705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147" y="3951083"/>
            <a:ext cx="2887645" cy="1876700"/>
          </a:xfrm>
          <a:prstGeom prst="roundRect">
            <a:avLst>
              <a:gd name="adj" fmla="val 13693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BE5391BF-4D4D-02F5-46EC-7ADE4062D50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2792" y="3951083"/>
            <a:ext cx="2887645" cy="1879949"/>
          </a:xfrm>
          <a:prstGeom prst="roundRect">
            <a:avLst>
              <a:gd name="adj" fmla="val 1368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B9081DD1-3E87-5027-14B4-A4AA32A4E6C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0802" y="3939434"/>
            <a:ext cx="3172051" cy="1891799"/>
          </a:xfrm>
          <a:prstGeom prst="roundRect">
            <a:avLst>
              <a:gd name="adj" fmla="val 9156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25453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CBB7-953C-A42D-3C77-E1EC4078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938CC43-1551-5AF2-8486-88E6D26183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7CBDD909-CDBC-6487-6C68-625414D675A5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27595E98-092A-3B8A-7EF2-382722ABDAC4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dos parafusos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0862E9F-DCB9-7DB0-9C94-7719272D98A1}"/>
              </a:ext>
            </a:extLst>
          </p:cNvPr>
          <p:cNvSpPr/>
          <p:nvPr/>
        </p:nvSpPr>
        <p:spPr>
          <a:xfrm>
            <a:off x="899980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1.2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F4A4AF3-48DD-56F3-75A5-23063B7833FE}"/>
              </a:ext>
            </a:extLst>
          </p:cNvPr>
          <p:cNvSpPr/>
          <p:nvPr/>
        </p:nvSpPr>
        <p:spPr>
          <a:xfrm>
            <a:off x="3689632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43FF11A-3BA1-6552-24AE-C04B2A04EF7C}"/>
              </a:ext>
            </a:extLst>
          </p:cNvPr>
          <p:cNvSpPr/>
          <p:nvPr/>
        </p:nvSpPr>
        <p:spPr>
          <a:xfrm>
            <a:off x="6479284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8A424BA-45D8-1A1F-359B-879E05D733B4}"/>
              </a:ext>
            </a:extLst>
          </p:cNvPr>
          <p:cNvSpPr/>
          <p:nvPr/>
        </p:nvSpPr>
        <p:spPr>
          <a:xfrm>
            <a:off x="9268935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HexaDrive 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79CA073-4F68-667D-5D6A-0C65DAC39D9D}"/>
              </a:ext>
            </a:extLst>
          </p:cNvPr>
          <p:cNvSpPr/>
          <p:nvPr/>
        </p:nvSpPr>
        <p:spPr>
          <a:xfrm>
            <a:off x="899980" y="1570080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feld 22">
            <a:extLst>
              <a:ext uri="{FF2B5EF4-FFF2-40B4-BE49-F238E27FC236}">
                <a16:creationId xmlns:a16="http://schemas.microsoft.com/office/drawing/2014/main" id="{137BE13E-134C-860B-682D-4F5FC4B89B2D}"/>
              </a:ext>
            </a:extLst>
          </p:cNvPr>
          <p:cNvSpPr txBox="1"/>
          <p:nvPr/>
        </p:nvSpPr>
        <p:spPr>
          <a:xfrm>
            <a:off x="1027106" y="5149418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Cortical 1.2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7CD572D-2764-858E-868B-C52DD9A174B1}"/>
              </a:ext>
            </a:extLst>
          </p:cNvPr>
          <p:cNvSpPr/>
          <p:nvPr/>
        </p:nvSpPr>
        <p:spPr>
          <a:xfrm>
            <a:off x="3689632" y="1570079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feld 22">
            <a:extLst>
              <a:ext uri="{FF2B5EF4-FFF2-40B4-BE49-F238E27FC236}">
                <a16:creationId xmlns:a16="http://schemas.microsoft.com/office/drawing/2014/main" id="{A66263EB-6A90-8C3A-9634-18A8085F4C18}"/>
              </a:ext>
            </a:extLst>
          </p:cNvPr>
          <p:cNvSpPr txBox="1"/>
          <p:nvPr/>
        </p:nvSpPr>
        <p:spPr>
          <a:xfrm>
            <a:off x="3816758" y="5149417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Cortical 1,5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78F15AF-E2A0-C7F5-17F1-6CADBF4310B9}"/>
              </a:ext>
            </a:extLst>
          </p:cNvPr>
          <p:cNvSpPr/>
          <p:nvPr/>
        </p:nvSpPr>
        <p:spPr>
          <a:xfrm>
            <a:off x="6479284" y="1570078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feld 22">
            <a:extLst>
              <a:ext uri="{FF2B5EF4-FFF2-40B4-BE49-F238E27FC236}">
                <a16:creationId xmlns:a16="http://schemas.microsoft.com/office/drawing/2014/main" id="{9707F1F9-DAD1-258B-6220-6C2C3C9063ED}"/>
              </a:ext>
            </a:extLst>
          </p:cNvPr>
          <p:cNvSpPr txBox="1"/>
          <p:nvPr/>
        </p:nvSpPr>
        <p:spPr>
          <a:xfrm>
            <a:off x="6606410" y="5149416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Cortical 1.8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5A2B3B8-9443-BA68-4B72-1729500E0349}"/>
              </a:ext>
            </a:extLst>
          </p:cNvPr>
          <p:cNvSpPr/>
          <p:nvPr/>
        </p:nvSpPr>
        <p:spPr>
          <a:xfrm>
            <a:off x="9268936" y="1570077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A67D8085-356F-5010-CD76-D132A2CEB55C}"/>
              </a:ext>
            </a:extLst>
          </p:cNvPr>
          <p:cNvGrpSpPr/>
          <p:nvPr/>
        </p:nvGrpSpPr>
        <p:grpSpPr>
          <a:xfrm>
            <a:off x="1134842" y="5097926"/>
            <a:ext cx="1502751" cy="361403"/>
            <a:chOff x="1134842" y="5097926"/>
            <a:chExt cx="1502751" cy="361403"/>
          </a:xfrm>
        </p:grpSpPr>
        <p:cxnSp>
          <p:nvCxnSpPr>
            <p:cNvPr id="33" name="Straight Connector 305">
              <a:extLst>
                <a:ext uri="{FF2B5EF4-FFF2-40B4-BE49-F238E27FC236}">
                  <a16:creationId xmlns:a16="http://schemas.microsoft.com/office/drawing/2014/main" id="{1C62ED02-A19A-BCA4-B013-E2B463F18680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05">
              <a:extLst>
                <a:ext uri="{FF2B5EF4-FFF2-40B4-BE49-F238E27FC236}">
                  <a16:creationId xmlns:a16="http://schemas.microsoft.com/office/drawing/2014/main" id="{A8E0BF51-5976-66B3-2399-3D2EFAF4E285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EC664654-2943-20BF-6C3B-0A7A76D06DA5}"/>
              </a:ext>
            </a:extLst>
          </p:cNvPr>
          <p:cNvGrpSpPr/>
          <p:nvPr/>
        </p:nvGrpSpPr>
        <p:grpSpPr>
          <a:xfrm>
            <a:off x="3950875" y="5097926"/>
            <a:ext cx="1502751" cy="361403"/>
            <a:chOff x="1134842" y="5097926"/>
            <a:chExt cx="1502751" cy="361403"/>
          </a:xfrm>
        </p:grpSpPr>
        <p:cxnSp>
          <p:nvCxnSpPr>
            <p:cNvPr id="38" name="Straight Connector 305">
              <a:extLst>
                <a:ext uri="{FF2B5EF4-FFF2-40B4-BE49-F238E27FC236}">
                  <a16:creationId xmlns:a16="http://schemas.microsoft.com/office/drawing/2014/main" id="{E2C05340-5A4C-B105-326C-C9A4EA994CAA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05">
              <a:extLst>
                <a:ext uri="{FF2B5EF4-FFF2-40B4-BE49-F238E27FC236}">
                  <a16:creationId xmlns:a16="http://schemas.microsoft.com/office/drawing/2014/main" id="{F1CD5B4B-F875-49B8-D11D-80270EF3BE10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14B2D03A-4FA6-939E-0D25-F0FBC0D45C9B}"/>
              </a:ext>
            </a:extLst>
          </p:cNvPr>
          <p:cNvGrpSpPr/>
          <p:nvPr/>
        </p:nvGrpSpPr>
        <p:grpSpPr>
          <a:xfrm>
            <a:off x="6766908" y="5097926"/>
            <a:ext cx="1502751" cy="361403"/>
            <a:chOff x="1134842" y="5097926"/>
            <a:chExt cx="1502751" cy="361403"/>
          </a:xfrm>
        </p:grpSpPr>
        <p:cxnSp>
          <p:nvCxnSpPr>
            <p:cNvPr id="41" name="Straight Connector 305">
              <a:extLst>
                <a:ext uri="{FF2B5EF4-FFF2-40B4-BE49-F238E27FC236}">
                  <a16:creationId xmlns:a16="http://schemas.microsoft.com/office/drawing/2014/main" id="{8B336948-1297-2A7D-B080-24DEB2D4A9E5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305">
              <a:extLst>
                <a:ext uri="{FF2B5EF4-FFF2-40B4-BE49-F238E27FC236}">
                  <a16:creationId xmlns:a16="http://schemas.microsoft.com/office/drawing/2014/main" id="{F37BC749-C22B-36F9-AEA8-6705C2B6B134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fik 6">
            <a:extLst>
              <a:ext uri="{FF2B5EF4-FFF2-40B4-BE49-F238E27FC236}">
                <a16:creationId xmlns:a16="http://schemas.microsoft.com/office/drawing/2014/main" id="{D1410A81-3B78-C57D-98BE-0617AD2D00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9153000" y="3308479"/>
            <a:ext cx="2375691" cy="573642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621A39B1-F3E6-F2C4-7909-91B24F87C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5285" y="2407455"/>
            <a:ext cx="577216" cy="237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F1A9E05C-D65C-B4E7-AC02-A2B885E02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3210" y="2407455"/>
            <a:ext cx="571140" cy="237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C73AF98C-5745-F6FC-E187-5297CEAFD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9244" y="2407455"/>
            <a:ext cx="571138" cy="237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feld 22">
            <a:extLst>
              <a:ext uri="{FF2B5EF4-FFF2-40B4-BE49-F238E27FC236}">
                <a16:creationId xmlns:a16="http://schemas.microsoft.com/office/drawing/2014/main" id="{F0981D5F-9372-B3B9-336B-9C1A1F97DFC7}"/>
              </a:ext>
            </a:extLst>
          </p:cNvPr>
          <p:cNvSpPr txBox="1"/>
          <p:nvPr/>
        </p:nvSpPr>
        <p:spPr>
          <a:xfrm>
            <a:off x="9395315" y="5149415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SpeedTip 1.5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C7E27F8C-85BD-62E0-96E5-3240F0EA2A2D}"/>
              </a:ext>
            </a:extLst>
          </p:cNvPr>
          <p:cNvGrpSpPr/>
          <p:nvPr/>
        </p:nvGrpSpPr>
        <p:grpSpPr>
          <a:xfrm>
            <a:off x="9555813" y="5097925"/>
            <a:ext cx="1502751" cy="361403"/>
            <a:chOff x="1134842" y="5097926"/>
            <a:chExt cx="1502751" cy="361403"/>
          </a:xfrm>
        </p:grpSpPr>
        <p:cxnSp>
          <p:nvCxnSpPr>
            <p:cNvPr id="47" name="Straight Connector 305">
              <a:extLst>
                <a:ext uri="{FF2B5EF4-FFF2-40B4-BE49-F238E27FC236}">
                  <a16:creationId xmlns:a16="http://schemas.microsoft.com/office/drawing/2014/main" id="{C937830F-0C76-E40A-31FC-885FD959824A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305">
              <a:extLst>
                <a:ext uri="{FF2B5EF4-FFF2-40B4-BE49-F238E27FC236}">
                  <a16:creationId xmlns:a16="http://schemas.microsoft.com/office/drawing/2014/main" id="{804BC9E6-9193-1BB2-32C8-C1C0B4407ADE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13AF0511-7095-7DB4-505F-20D19F179C5A}"/>
              </a:ext>
            </a:extLst>
          </p:cNvPr>
          <p:cNvSpPr/>
          <p:nvPr/>
        </p:nvSpPr>
        <p:spPr>
          <a:xfrm>
            <a:off x="3689629" y="1575912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1.5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399000F-ECAA-0250-1D43-2A23AC835373}"/>
              </a:ext>
            </a:extLst>
          </p:cNvPr>
          <p:cNvSpPr/>
          <p:nvPr/>
        </p:nvSpPr>
        <p:spPr>
          <a:xfrm>
            <a:off x="6485401" y="1570077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Cortical 1.8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60243E3-69B5-4F29-FC17-F70358FAE1EA}"/>
              </a:ext>
            </a:extLst>
          </p:cNvPr>
          <p:cNvSpPr/>
          <p:nvPr/>
        </p:nvSpPr>
        <p:spPr>
          <a:xfrm>
            <a:off x="9275050" y="1574547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Parafuso </a:t>
            </a:r>
            <a:r>
              <a:rPr lang="pt-BR" sz="1400" dirty="0" err="1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SpeedTip</a:t>
            </a:r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1.5</a:t>
            </a:r>
          </a:p>
        </p:txBody>
      </p:sp>
    </p:spTree>
    <p:extLst>
      <p:ext uri="{BB962C8B-B14F-4D97-AF65-F5344CB8AC3E}">
        <p14:creationId xmlns:p14="http://schemas.microsoft.com/office/powerpoint/2010/main" val="294347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7910-D871-2FD4-50D1-1E51DC90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312CEAA-2FAB-6973-3E19-6C89E4DD2B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cxnSp>
        <p:nvCxnSpPr>
          <p:cNvPr id="5" name="Conector Reto 3">
            <a:extLst>
              <a:ext uri="{FF2B5EF4-FFF2-40B4-BE49-F238E27FC236}">
                <a16:creationId xmlns:a16="http://schemas.microsoft.com/office/drawing/2014/main" id="{69281981-D540-25F3-3B7A-D8F3EE930A51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663814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9">
            <a:extLst>
              <a:ext uri="{FF2B5EF4-FFF2-40B4-BE49-F238E27FC236}">
                <a16:creationId xmlns:a16="http://schemas.microsoft.com/office/drawing/2014/main" id="{040F9A0A-4E21-471C-9FF2-2F96E7A98792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5983171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Visão geral dos parafusos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2820FF0-7E04-57A6-35F9-14AA6825DC8D}"/>
              </a:ext>
            </a:extLst>
          </p:cNvPr>
          <p:cNvSpPr/>
          <p:nvPr/>
        </p:nvSpPr>
        <p:spPr>
          <a:xfrm>
            <a:off x="899980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 Drive 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BD8160-DCF7-74F2-222E-66F747D69583}"/>
              </a:ext>
            </a:extLst>
          </p:cNvPr>
          <p:cNvSpPr/>
          <p:nvPr/>
        </p:nvSpPr>
        <p:spPr>
          <a:xfrm>
            <a:off x="3689632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 Drive 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61005C4-8E8E-795D-8D36-E5E54E473953}"/>
              </a:ext>
            </a:extLst>
          </p:cNvPr>
          <p:cNvSpPr/>
          <p:nvPr/>
        </p:nvSpPr>
        <p:spPr>
          <a:xfrm>
            <a:off x="6479284" y="1572965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 Drive 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CC76EE-4311-85F7-9B9D-8618405A76C6}"/>
              </a:ext>
            </a:extLst>
          </p:cNvPr>
          <p:cNvSpPr/>
          <p:nvPr/>
        </p:nvSpPr>
        <p:spPr>
          <a:xfrm>
            <a:off x="9268935" y="1570079"/>
            <a:ext cx="2007825" cy="412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Hexa Drive 6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F701F2F-F49B-148E-ADB7-6DA6E3A4DE83}"/>
              </a:ext>
            </a:extLst>
          </p:cNvPr>
          <p:cNvSpPr/>
          <p:nvPr/>
        </p:nvSpPr>
        <p:spPr>
          <a:xfrm>
            <a:off x="899980" y="1570080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feld 22">
            <a:extLst>
              <a:ext uri="{FF2B5EF4-FFF2-40B4-BE49-F238E27FC236}">
                <a16:creationId xmlns:a16="http://schemas.microsoft.com/office/drawing/2014/main" id="{D1A79277-88A3-C67A-432D-3D267A01098A}"/>
              </a:ext>
            </a:extLst>
          </p:cNvPr>
          <p:cNvSpPr txBox="1"/>
          <p:nvPr/>
        </p:nvSpPr>
        <p:spPr>
          <a:xfrm>
            <a:off x="1027106" y="5149418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Corticais 2.0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ACD25BE-12FA-98EE-6F91-77EFED17ED3B}"/>
              </a:ext>
            </a:extLst>
          </p:cNvPr>
          <p:cNvSpPr/>
          <p:nvPr/>
        </p:nvSpPr>
        <p:spPr>
          <a:xfrm>
            <a:off x="3689632" y="1570079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feld 22">
            <a:extLst>
              <a:ext uri="{FF2B5EF4-FFF2-40B4-BE49-F238E27FC236}">
                <a16:creationId xmlns:a16="http://schemas.microsoft.com/office/drawing/2014/main" id="{D6A18F07-38DD-13CA-7F29-5070E006E54E}"/>
              </a:ext>
            </a:extLst>
          </p:cNvPr>
          <p:cNvSpPr txBox="1"/>
          <p:nvPr/>
        </p:nvSpPr>
        <p:spPr>
          <a:xfrm>
            <a:off x="3816758" y="5149417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Corticais 2.3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E3A9638-C029-6BCE-F5E0-29D3CB36031D}"/>
              </a:ext>
            </a:extLst>
          </p:cNvPr>
          <p:cNvSpPr/>
          <p:nvPr/>
        </p:nvSpPr>
        <p:spPr>
          <a:xfrm>
            <a:off x="6479284" y="1570078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feld 22">
            <a:extLst>
              <a:ext uri="{FF2B5EF4-FFF2-40B4-BE49-F238E27FC236}">
                <a16:creationId xmlns:a16="http://schemas.microsoft.com/office/drawing/2014/main" id="{DC748AA3-E06A-7CEA-9B72-9BD5748E9F98}"/>
              </a:ext>
            </a:extLst>
          </p:cNvPr>
          <p:cNvSpPr txBox="1"/>
          <p:nvPr/>
        </p:nvSpPr>
        <p:spPr>
          <a:xfrm>
            <a:off x="6606410" y="5149416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SpeedTip 2.0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755466B-FA66-75F4-0A8F-E9D55CFDFEFB}"/>
              </a:ext>
            </a:extLst>
          </p:cNvPr>
          <p:cNvSpPr/>
          <p:nvPr/>
        </p:nvSpPr>
        <p:spPr>
          <a:xfrm>
            <a:off x="9268936" y="1570077"/>
            <a:ext cx="2007825" cy="42040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F39B424C-E04C-E365-8F61-E35EBBF9DF0A}"/>
              </a:ext>
            </a:extLst>
          </p:cNvPr>
          <p:cNvGrpSpPr/>
          <p:nvPr/>
        </p:nvGrpSpPr>
        <p:grpSpPr>
          <a:xfrm>
            <a:off x="1134842" y="5097926"/>
            <a:ext cx="1502751" cy="361403"/>
            <a:chOff x="1134842" y="5097926"/>
            <a:chExt cx="1502751" cy="361403"/>
          </a:xfrm>
        </p:grpSpPr>
        <p:cxnSp>
          <p:nvCxnSpPr>
            <p:cNvPr id="33" name="Straight Connector 305">
              <a:extLst>
                <a:ext uri="{FF2B5EF4-FFF2-40B4-BE49-F238E27FC236}">
                  <a16:creationId xmlns:a16="http://schemas.microsoft.com/office/drawing/2014/main" id="{35554BBA-4CBE-323A-A609-B199BB7D9A7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05">
              <a:extLst>
                <a:ext uri="{FF2B5EF4-FFF2-40B4-BE49-F238E27FC236}">
                  <a16:creationId xmlns:a16="http://schemas.microsoft.com/office/drawing/2014/main" id="{A85D5E9C-3A07-9AC5-996D-0C34DB473D65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C2A1F93-12DE-08A0-DBDD-8B7FC18245A6}"/>
              </a:ext>
            </a:extLst>
          </p:cNvPr>
          <p:cNvGrpSpPr/>
          <p:nvPr/>
        </p:nvGrpSpPr>
        <p:grpSpPr>
          <a:xfrm>
            <a:off x="3950875" y="5097926"/>
            <a:ext cx="1502751" cy="361403"/>
            <a:chOff x="1134842" y="5097926"/>
            <a:chExt cx="1502751" cy="361403"/>
          </a:xfrm>
        </p:grpSpPr>
        <p:cxnSp>
          <p:nvCxnSpPr>
            <p:cNvPr id="38" name="Straight Connector 305">
              <a:extLst>
                <a:ext uri="{FF2B5EF4-FFF2-40B4-BE49-F238E27FC236}">
                  <a16:creationId xmlns:a16="http://schemas.microsoft.com/office/drawing/2014/main" id="{548C944D-5B96-AF2A-FF4F-562BB9333B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05">
              <a:extLst>
                <a:ext uri="{FF2B5EF4-FFF2-40B4-BE49-F238E27FC236}">
                  <a16:creationId xmlns:a16="http://schemas.microsoft.com/office/drawing/2014/main" id="{AE8992B3-3373-64C3-F685-02B9B8328F5E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65B95AC3-C347-CC72-2162-C8F31EE6CF7B}"/>
              </a:ext>
            </a:extLst>
          </p:cNvPr>
          <p:cNvGrpSpPr/>
          <p:nvPr/>
        </p:nvGrpSpPr>
        <p:grpSpPr>
          <a:xfrm>
            <a:off x="6766908" y="5097926"/>
            <a:ext cx="1502751" cy="361403"/>
            <a:chOff x="1134842" y="5097926"/>
            <a:chExt cx="1502751" cy="361403"/>
          </a:xfrm>
        </p:grpSpPr>
        <p:cxnSp>
          <p:nvCxnSpPr>
            <p:cNvPr id="41" name="Straight Connector 305">
              <a:extLst>
                <a:ext uri="{FF2B5EF4-FFF2-40B4-BE49-F238E27FC236}">
                  <a16:creationId xmlns:a16="http://schemas.microsoft.com/office/drawing/2014/main" id="{AC7CF2E9-0737-DBB8-3DCD-B1EEF6668C5B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305">
              <a:extLst>
                <a:ext uri="{FF2B5EF4-FFF2-40B4-BE49-F238E27FC236}">
                  <a16:creationId xmlns:a16="http://schemas.microsoft.com/office/drawing/2014/main" id="{A4496D0F-63C4-9E21-44C9-5E6066C9A599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feld 22">
            <a:extLst>
              <a:ext uri="{FF2B5EF4-FFF2-40B4-BE49-F238E27FC236}">
                <a16:creationId xmlns:a16="http://schemas.microsoft.com/office/drawing/2014/main" id="{65DD9426-4BBA-81A5-BAC5-5DC7F6C7C502}"/>
              </a:ext>
            </a:extLst>
          </p:cNvPr>
          <p:cNvSpPr txBox="1"/>
          <p:nvPr/>
        </p:nvSpPr>
        <p:spPr>
          <a:xfrm>
            <a:off x="9395315" y="5149415"/>
            <a:ext cx="1753569" cy="2739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250" dirty="0">
                <a:latin typeface="Roboto Light"/>
                <a:cs typeface="Roboto Light"/>
              </a:rPr>
              <a:t>Parafusos TriLock 2.0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8E0393B2-D6D8-D96B-ADFB-F1EDCC6E228A}"/>
              </a:ext>
            </a:extLst>
          </p:cNvPr>
          <p:cNvGrpSpPr/>
          <p:nvPr/>
        </p:nvGrpSpPr>
        <p:grpSpPr>
          <a:xfrm>
            <a:off x="9555813" y="5097925"/>
            <a:ext cx="1502751" cy="361403"/>
            <a:chOff x="1134842" y="5097926"/>
            <a:chExt cx="1502751" cy="361403"/>
          </a:xfrm>
        </p:grpSpPr>
        <p:cxnSp>
          <p:nvCxnSpPr>
            <p:cNvPr id="47" name="Straight Connector 305">
              <a:extLst>
                <a:ext uri="{FF2B5EF4-FFF2-40B4-BE49-F238E27FC236}">
                  <a16:creationId xmlns:a16="http://schemas.microsoft.com/office/drawing/2014/main" id="{1FE40D5D-D945-29C1-5BC8-77569B51EFCD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42" y="5097926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305">
              <a:extLst>
                <a:ext uri="{FF2B5EF4-FFF2-40B4-BE49-F238E27FC236}">
                  <a16:creationId xmlns:a16="http://schemas.microsoft.com/office/drawing/2014/main" id="{92FE9107-1189-1DC2-83DA-1D56FA2FB16C}"/>
                </a:ext>
              </a:extLst>
            </p:cNvPr>
            <p:cNvCxnSpPr>
              <a:cxnSpLocks/>
            </p:cNvCxnSpPr>
            <p:nvPr/>
          </p:nvCxnSpPr>
          <p:spPr>
            <a:xfrm>
              <a:off x="1147902" y="5459329"/>
              <a:ext cx="1489691" cy="0"/>
            </a:xfrm>
            <a:prstGeom prst="line">
              <a:avLst/>
            </a:prstGeom>
            <a:ln w="6350">
              <a:solidFill>
                <a:srgbClr val="DEBE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09F97719-E7A2-58D2-03F4-FE1B5A00D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9860" y="2421053"/>
            <a:ext cx="809895" cy="25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02DF9A4-18C7-1CA6-A602-B60D6E1BB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8597" y="2421053"/>
            <a:ext cx="809895" cy="224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9E2E112C-97D0-3555-9897-9614A2F59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08770" y="2421053"/>
            <a:ext cx="809895" cy="188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5" descr="Ein Bild, das grün, Straße, sitzend, Bus enthält.&#10;&#10;Mit sehr hoher Zuverlässigkeit generierte Beschreibung">
            <a:extLst>
              <a:ext uri="{FF2B5EF4-FFF2-40B4-BE49-F238E27FC236}">
                <a16:creationId xmlns:a16="http://schemas.microsoft.com/office/drawing/2014/main" id="{00644738-412E-409B-7752-543CD75631D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3935" y="2434147"/>
            <a:ext cx="809895" cy="178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2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C804C5A-F47B-80B2-5DC4-1C1003FA14F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44263C23-BF7F-F8EF-A204-BAD1EF45552F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10091479" cy="45070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Inovação em Parafusos Corticais: Eixo cônico do parafuso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8" name="Conector Reto 3">
            <a:extLst>
              <a:ext uri="{FF2B5EF4-FFF2-40B4-BE49-F238E27FC236}">
                <a16:creationId xmlns:a16="http://schemas.microsoft.com/office/drawing/2014/main" id="{B196AFE0-BA8A-4FAD-3E1C-10C0B6AD5C09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1219693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9">
            <a:extLst>
              <a:ext uri="{FF2B5EF4-FFF2-40B4-BE49-F238E27FC236}">
                <a16:creationId xmlns:a16="http://schemas.microsoft.com/office/drawing/2014/main" id="{228A12F0-B41F-83C6-DDD1-0A37BDFAF6B7}"/>
              </a:ext>
            </a:extLst>
          </p:cNvPr>
          <p:cNvSpPr txBox="1">
            <a:spLocks/>
          </p:cNvSpPr>
          <p:nvPr/>
        </p:nvSpPr>
        <p:spPr>
          <a:xfrm>
            <a:off x="254000" y="1797469"/>
            <a:ext cx="4241082" cy="152358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dirty="0">
                <a:latin typeface="Roboto Light (Corpo)"/>
              </a:rPr>
              <a:t>O eixo afilado do parafuso reduz o torque de inserção na crosta homogênea, permitindo que a broca de diâmetro seja usada para todos os comprimentos do parafuso.</a:t>
            </a:r>
          </a:p>
        </p:txBody>
      </p:sp>
      <p:pic>
        <p:nvPicPr>
          <p:cNvPr id="10" name="Grafik 13">
            <a:extLst>
              <a:ext uri="{FF2B5EF4-FFF2-40B4-BE49-F238E27FC236}">
                <a16:creationId xmlns:a16="http://schemas.microsoft.com/office/drawing/2014/main" id="{65CD4A0C-8544-3FB3-BD51-3BDB8F1337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6821" y="2458315"/>
            <a:ext cx="4241082" cy="3130603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7D7B3BF-1A65-DD0E-C3F5-D63ADDC1A4EE}"/>
              </a:ext>
            </a:extLst>
          </p:cNvPr>
          <p:cNvGrpSpPr/>
          <p:nvPr/>
        </p:nvGrpSpPr>
        <p:grpSpPr>
          <a:xfrm>
            <a:off x="337560" y="3668537"/>
            <a:ext cx="5303391" cy="1640770"/>
            <a:chOff x="337560" y="3668537"/>
            <a:chExt cx="5303391" cy="1640770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96508BF-1338-22FE-FF70-FD9DE7504E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60" y="3668537"/>
              <a:ext cx="5303391" cy="1640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feld 9">
              <a:extLst>
                <a:ext uri="{FF2B5EF4-FFF2-40B4-BE49-F238E27FC236}">
                  <a16:creationId xmlns:a16="http://schemas.microsoft.com/office/drawing/2014/main" id="{FEA2F042-7896-A2CB-A89F-50B7621019DF}"/>
                </a:ext>
              </a:extLst>
            </p:cNvPr>
            <p:cNvSpPr txBox="1"/>
            <p:nvPr/>
          </p:nvSpPr>
          <p:spPr>
            <a:xfrm>
              <a:off x="2524808" y="4459640"/>
              <a:ext cx="1151047" cy="1861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endParaRPr lang="pt-BR" sz="1000" dirty="0"/>
            </a:p>
          </p:txBody>
        </p: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9B248A95-88DB-2737-A579-990EC5688C18}"/>
              </a:ext>
            </a:extLst>
          </p:cNvPr>
          <p:cNvSpPr/>
          <p:nvPr/>
        </p:nvSpPr>
        <p:spPr>
          <a:xfrm>
            <a:off x="2230246" y="5120431"/>
            <a:ext cx="1294003" cy="3777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Eixo cônico</a:t>
            </a:r>
          </a:p>
        </p:txBody>
      </p:sp>
    </p:spTree>
    <p:extLst>
      <p:ext uri="{BB962C8B-B14F-4D97-AF65-F5344CB8AC3E}">
        <p14:creationId xmlns:p14="http://schemas.microsoft.com/office/powerpoint/2010/main" val="251820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4E6B-0897-92C4-AA37-41BE62FE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>
            <a:extLst>
              <a:ext uri="{FF2B5EF4-FFF2-40B4-BE49-F238E27FC236}">
                <a16:creationId xmlns:a16="http://schemas.microsoft.com/office/drawing/2014/main" id="{F0E6DE66-5B66-D6E5-4C90-D85CE9D5D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9648" y="3461827"/>
            <a:ext cx="5389333" cy="260774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25DDA7D-530D-D418-2BDA-3D89767F874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DDA3707B-A23E-D838-A367-F48218E3ABDA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10091479" cy="45070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Inovação em Parafusos Corticais: Extensão rosqueada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8" name="Conector Reto 3">
            <a:extLst>
              <a:ext uri="{FF2B5EF4-FFF2-40B4-BE49-F238E27FC236}">
                <a16:creationId xmlns:a16="http://schemas.microsoft.com/office/drawing/2014/main" id="{317D1359-088A-95D0-9470-3B5245D0AC82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10747964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9">
            <a:extLst>
              <a:ext uri="{FF2B5EF4-FFF2-40B4-BE49-F238E27FC236}">
                <a16:creationId xmlns:a16="http://schemas.microsoft.com/office/drawing/2014/main" id="{CC73200F-CD7D-BF9B-BB88-9F73069EC007}"/>
              </a:ext>
            </a:extLst>
          </p:cNvPr>
          <p:cNvSpPr txBox="1">
            <a:spLocks/>
          </p:cNvSpPr>
          <p:nvPr/>
        </p:nvSpPr>
        <p:spPr>
          <a:xfrm>
            <a:off x="253999" y="1797469"/>
            <a:ext cx="5303391" cy="152358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>
                <a:latin typeface="Roboto Light (Corpo)"/>
              </a:rPr>
              <a:t>A extensão roscada sob a qual a cabeça do parafuso está localizada permite um torque de aperto maior e, assim, reduz o risco de aperto excessivo no osso fino.</a:t>
            </a:r>
            <a:endParaRPr lang="es-ES" sz="1600" dirty="0">
              <a:latin typeface="Roboto Light (Corpo)"/>
            </a:endParaRPr>
          </a:p>
        </p:txBody>
      </p:sp>
      <p:grpSp>
        <p:nvGrpSpPr>
          <p:cNvPr id="2" name="Gruppieren 11">
            <a:extLst>
              <a:ext uri="{FF2B5EF4-FFF2-40B4-BE49-F238E27FC236}">
                <a16:creationId xmlns:a16="http://schemas.microsoft.com/office/drawing/2014/main" id="{45535F55-DBFE-8820-3398-9A32DED4D9B7}"/>
              </a:ext>
            </a:extLst>
          </p:cNvPr>
          <p:cNvGrpSpPr/>
          <p:nvPr/>
        </p:nvGrpSpPr>
        <p:grpSpPr>
          <a:xfrm>
            <a:off x="6645586" y="1335132"/>
            <a:ext cx="4727716" cy="2513122"/>
            <a:chOff x="13477831" y="3848316"/>
            <a:chExt cx="8203727" cy="4308636"/>
          </a:xfrm>
        </p:grpSpPr>
        <p:pic>
          <p:nvPicPr>
            <p:cNvPr id="5" name="Grafik 9">
              <a:extLst>
                <a:ext uri="{FF2B5EF4-FFF2-40B4-BE49-F238E27FC236}">
                  <a16:creationId xmlns:a16="http://schemas.microsoft.com/office/drawing/2014/main" id="{66E96CB2-29FF-2EB4-7CB9-F27C2EFAC7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477831" y="3848316"/>
              <a:ext cx="8203727" cy="3885230"/>
            </a:xfrm>
            <a:prstGeom prst="rect">
              <a:avLst/>
            </a:prstGeom>
          </p:spPr>
        </p:pic>
        <p:grpSp>
          <p:nvGrpSpPr>
            <p:cNvPr id="14" name="Gruppieren 17">
              <a:extLst>
                <a:ext uri="{FF2B5EF4-FFF2-40B4-BE49-F238E27FC236}">
                  <a16:creationId xmlns:a16="http://schemas.microsoft.com/office/drawing/2014/main" id="{E8B9861F-7760-0F9E-402B-51355A7F89E3}"/>
                </a:ext>
              </a:extLst>
            </p:cNvPr>
            <p:cNvGrpSpPr/>
            <p:nvPr/>
          </p:nvGrpSpPr>
          <p:grpSpPr>
            <a:xfrm>
              <a:off x="15146389" y="4398759"/>
              <a:ext cx="5704952" cy="3758193"/>
              <a:chOff x="10481992" y="7276362"/>
              <a:chExt cx="3678168" cy="2423029"/>
            </a:xfrm>
          </p:grpSpPr>
          <p:sp>
            <p:nvSpPr>
              <p:cNvPr id="17" name="Textfeld 19">
                <a:extLst>
                  <a:ext uri="{FF2B5EF4-FFF2-40B4-BE49-F238E27FC236}">
                    <a16:creationId xmlns:a16="http://schemas.microsoft.com/office/drawing/2014/main" id="{4604841F-E638-0E81-E010-99C77841A224}"/>
                  </a:ext>
                </a:extLst>
              </p:cNvPr>
              <p:cNvSpPr txBox="1"/>
              <p:nvPr/>
            </p:nvSpPr>
            <p:spPr>
              <a:xfrm>
                <a:off x="10481992" y="8941665"/>
                <a:ext cx="707858" cy="7577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pt-BR" sz="10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Osso</a:t>
                </a:r>
                <a:endParaRPr lang="pt-BR" sz="800" dirty="0">
                  <a:latin typeface="Roboto Light" panose="02000000000000000000" pitchFamily="2" charset="0"/>
                  <a:ea typeface="Roboto Light" panose="02000000000000000000" pitchFamily="2" charset="0"/>
                </a:endParaRPr>
              </a:p>
            </p:txBody>
          </p:sp>
          <p:sp>
            <p:nvSpPr>
              <p:cNvPr id="18" name="Textfeld 20">
                <a:extLst>
                  <a:ext uri="{FF2B5EF4-FFF2-40B4-BE49-F238E27FC236}">
                    <a16:creationId xmlns:a16="http://schemas.microsoft.com/office/drawing/2014/main" id="{91305F7A-5460-4287-0A8D-BDE44086AE07}"/>
                  </a:ext>
                </a:extLst>
              </p:cNvPr>
              <p:cNvSpPr txBox="1"/>
              <p:nvPr/>
            </p:nvSpPr>
            <p:spPr>
              <a:xfrm>
                <a:off x="10620216" y="7276362"/>
                <a:ext cx="569635" cy="2678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r>
                  <a:rPr lang="pt-BR" sz="10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Placa</a:t>
                </a:r>
                <a:endParaRPr lang="pt-BR" sz="900" dirty="0">
                  <a:latin typeface="Roboto Light" panose="02000000000000000000" pitchFamily="2" charset="0"/>
                  <a:ea typeface="Roboto Light" panose="02000000000000000000" pitchFamily="2" charset="0"/>
                </a:endParaRPr>
              </a:p>
            </p:txBody>
          </p:sp>
          <p:sp>
            <p:nvSpPr>
              <p:cNvPr id="19" name="Textfeld 21">
                <a:extLst>
                  <a:ext uri="{FF2B5EF4-FFF2-40B4-BE49-F238E27FC236}">
                    <a16:creationId xmlns:a16="http://schemas.microsoft.com/office/drawing/2014/main" id="{0E188E90-B8E5-CD26-AA6B-752ED5C12A81}"/>
                  </a:ext>
                </a:extLst>
              </p:cNvPr>
              <p:cNvSpPr txBox="1"/>
              <p:nvPr/>
            </p:nvSpPr>
            <p:spPr>
              <a:xfrm>
                <a:off x="12436074" y="8250693"/>
                <a:ext cx="1724086" cy="163394"/>
              </a:xfrm>
              <a:prstGeom prst="rect">
                <a:avLst/>
              </a:prstGeom>
              <a:solidFill>
                <a:srgbClr val="E3E3E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endParaRPr lang="pt-BR" sz="800" dirty="0">
                  <a:latin typeface="Roboto Light" panose="02000000000000000000" pitchFamily="2" charset="0"/>
                  <a:ea typeface="Roboto Light" panose="02000000000000000000" pitchFamily="2" charset="0"/>
                </a:endParaRPr>
              </a:p>
            </p:txBody>
          </p:sp>
        </p:grp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E2B3D07-344E-DF72-9622-0CF9C70418EB}"/>
              </a:ext>
            </a:extLst>
          </p:cNvPr>
          <p:cNvSpPr txBox="1"/>
          <p:nvPr/>
        </p:nvSpPr>
        <p:spPr>
          <a:xfrm>
            <a:off x="9223665" y="2777185"/>
            <a:ext cx="1618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Rosca na cabeça do parafuso</a:t>
            </a:r>
          </a:p>
        </p:txBody>
      </p:sp>
      <p:graphicFrame>
        <p:nvGraphicFramePr>
          <p:cNvPr id="28" name="Table 13">
            <a:extLst>
              <a:ext uri="{FF2B5EF4-FFF2-40B4-BE49-F238E27FC236}">
                <a16:creationId xmlns:a16="http://schemas.microsoft.com/office/drawing/2014/main" id="{07E04699-2351-F63D-6238-266F6C943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19838"/>
              </p:ext>
            </p:extLst>
          </p:nvPr>
        </p:nvGraphicFramePr>
        <p:xfrm>
          <a:off x="241642" y="4026765"/>
          <a:ext cx="3426361" cy="4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6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Parafusar aproximadamente </a:t>
                      </a:r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1,2 +80% (0,06 </a:t>
                      </a:r>
                      <a:r>
                        <a:rPr lang="pt-BR" sz="1000" b="0" i="0" dirty="0" err="1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Nm</a:t>
                      </a:r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29" name="Table 13">
            <a:extLst>
              <a:ext uri="{FF2B5EF4-FFF2-40B4-BE49-F238E27FC236}">
                <a16:creationId xmlns:a16="http://schemas.microsoft.com/office/drawing/2014/main" id="{57F0334A-AA29-1FAE-A7E7-AE19A251A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36932"/>
              </p:ext>
            </p:extLst>
          </p:nvPr>
        </p:nvGraphicFramePr>
        <p:xfrm>
          <a:off x="241642" y="4493503"/>
          <a:ext cx="3426361" cy="4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6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Parafusar aproximadamente </a:t>
                      </a:r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1,5 + 60% (0,08 </a:t>
                      </a:r>
                      <a:r>
                        <a:rPr lang="pt-BR" sz="1000" b="0" i="0" dirty="0" err="1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Nm</a:t>
                      </a:r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30" name="Table 13">
            <a:extLst>
              <a:ext uri="{FF2B5EF4-FFF2-40B4-BE49-F238E27FC236}">
                <a16:creationId xmlns:a16="http://schemas.microsoft.com/office/drawing/2014/main" id="{EE8242CE-446F-F0BD-24F9-468E9B359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087121"/>
              </p:ext>
            </p:extLst>
          </p:nvPr>
        </p:nvGraphicFramePr>
        <p:xfrm>
          <a:off x="241642" y="4960241"/>
          <a:ext cx="3426361" cy="4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6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Parafusar aproximadamente </a:t>
                      </a:r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1,8 +15 vezes (0,11 </a:t>
                      </a:r>
                      <a:r>
                        <a:rPr lang="pt-BR" sz="1000" b="0" i="0" dirty="0" err="1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Nm</a:t>
                      </a:r>
                      <a:r>
                        <a:rPr lang="pt-BR" sz="10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31" name="Retângulo 30">
            <a:extLst>
              <a:ext uri="{FF2B5EF4-FFF2-40B4-BE49-F238E27FC236}">
                <a16:creationId xmlns:a16="http://schemas.microsoft.com/office/drawing/2014/main" id="{EE3C0621-F970-240A-0236-A35D9EE5C4B2}"/>
              </a:ext>
            </a:extLst>
          </p:cNvPr>
          <p:cNvSpPr/>
          <p:nvPr/>
        </p:nvSpPr>
        <p:spPr>
          <a:xfrm>
            <a:off x="253999" y="3727485"/>
            <a:ext cx="3394487" cy="3129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Maior torque</a:t>
            </a:r>
          </a:p>
        </p:txBody>
      </p:sp>
    </p:spTree>
    <p:extLst>
      <p:ext uri="{BB962C8B-B14F-4D97-AF65-F5344CB8AC3E}">
        <p14:creationId xmlns:p14="http://schemas.microsoft.com/office/powerpoint/2010/main" val="264210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FF68F-CD23-4A8E-56F6-7BB7B445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1F381F13-8667-1643-C793-E479B13EBDE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1148" y="506893"/>
            <a:ext cx="5048734" cy="756487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90325B7-2AB0-96E0-72C7-B15B7F481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636" y="2690014"/>
            <a:ext cx="5060682" cy="814477"/>
          </a:xfrm>
        </p:spPr>
        <p:txBody>
          <a:bodyPr vert="horz" anchor="ctr">
            <a:normAutofit fontScale="90000"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Old Standard TT" panose="00000500000000000000" pitchFamily="2" charset="0"/>
              </a:rPr>
              <a:t>Sistemas </a:t>
            </a:r>
            <a:r>
              <a:rPr lang="en-GB" dirty="0" err="1">
                <a:solidFill>
                  <a:schemeClr val="bg1"/>
                </a:solidFill>
                <a:latin typeface="Old Standard TT" panose="00000500000000000000" pitchFamily="2" charset="0"/>
              </a:rPr>
              <a:t>complementares</a:t>
            </a:r>
            <a:endParaRPr lang="en-GB" dirty="0">
              <a:solidFill>
                <a:schemeClr val="bg1"/>
              </a:solidFill>
              <a:latin typeface="Old Standard TT" panose="00000500000000000000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AD9DDC7-2EAF-1639-EC13-74784D500D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2275" y="260350"/>
            <a:ext cx="1346200" cy="246543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FCB17B1-B8F1-CFFD-3E17-3C614DB399C7}"/>
              </a:ext>
            </a:extLst>
          </p:cNvPr>
          <p:cNvGrpSpPr/>
          <p:nvPr/>
        </p:nvGrpSpPr>
        <p:grpSpPr>
          <a:xfrm>
            <a:off x="4418141" y="547572"/>
            <a:ext cx="2733008" cy="2733008"/>
            <a:chOff x="4729496" y="1387485"/>
            <a:chExt cx="2733008" cy="2733008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05A57E6D-384B-3C13-06BE-D94781DA7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167662" y="1387485"/>
              <a:ext cx="1856675" cy="2486853"/>
            </a:xfrm>
            <a:custGeom>
              <a:avLst/>
              <a:gdLst>
                <a:gd name="csX0" fmla="*/ 50531 w 1814472"/>
                <a:gd name="csY0" fmla="*/ 0 h 2430326"/>
                <a:gd name="csX1" fmla="*/ 1763941 w 1814472"/>
                <a:gd name="csY1" fmla="*/ 0 h 2430326"/>
                <a:gd name="csX2" fmla="*/ 1776459 w 1814472"/>
                <a:gd name="csY2" fmla="*/ 9361 h 2430326"/>
                <a:gd name="csX3" fmla="*/ 1814472 w 1814472"/>
                <a:gd name="csY3" fmla="*/ 43910 h 2430326"/>
                <a:gd name="csX4" fmla="*/ 1814472 w 1814472"/>
                <a:gd name="csY4" fmla="*/ 2083735 h 2430326"/>
                <a:gd name="csX5" fmla="*/ 1776459 w 1814472"/>
                <a:gd name="csY5" fmla="*/ 2118283 h 2430326"/>
                <a:gd name="csX6" fmla="*/ 907236 w 1814472"/>
                <a:gd name="csY6" fmla="*/ 2430326 h 2430326"/>
                <a:gd name="csX7" fmla="*/ 38013 w 1814472"/>
                <a:gd name="csY7" fmla="*/ 2118283 h 2430326"/>
                <a:gd name="csX8" fmla="*/ 0 w 1814472"/>
                <a:gd name="csY8" fmla="*/ 2083735 h 2430326"/>
                <a:gd name="csX9" fmla="*/ 0 w 1814472"/>
                <a:gd name="csY9" fmla="*/ 43910 h 2430326"/>
                <a:gd name="csX10" fmla="*/ 38013 w 1814472"/>
                <a:gd name="csY10" fmla="*/ 9361 h 243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14472" h="2430326">
                  <a:moveTo>
                    <a:pt x="50531" y="0"/>
                  </a:moveTo>
                  <a:lnTo>
                    <a:pt x="1763941" y="0"/>
                  </a:lnTo>
                  <a:lnTo>
                    <a:pt x="1776459" y="9361"/>
                  </a:lnTo>
                  <a:lnTo>
                    <a:pt x="1814472" y="43910"/>
                  </a:lnTo>
                  <a:lnTo>
                    <a:pt x="1814472" y="2083735"/>
                  </a:lnTo>
                  <a:lnTo>
                    <a:pt x="1776459" y="2118283"/>
                  </a:lnTo>
                  <a:cubicBezTo>
                    <a:pt x="1540247" y="2313223"/>
                    <a:pt x="1237417" y="2430326"/>
                    <a:pt x="907236" y="2430326"/>
                  </a:cubicBezTo>
                  <a:cubicBezTo>
                    <a:pt x="577055" y="2430326"/>
                    <a:pt x="274225" y="2313223"/>
                    <a:pt x="38013" y="2118283"/>
                  </a:cubicBezTo>
                  <a:lnTo>
                    <a:pt x="0" y="2083735"/>
                  </a:lnTo>
                  <a:lnTo>
                    <a:pt x="0" y="43910"/>
                  </a:lnTo>
                  <a:lnTo>
                    <a:pt x="38013" y="9361"/>
                  </a:lnTo>
                  <a:close/>
                </a:path>
              </a:pathLst>
            </a:custGeom>
          </p:spPr>
        </p:pic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6359DF5-5039-1CBB-1463-DAE6FB810BD9}"/>
                </a:ext>
              </a:extLst>
            </p:cNvPr>
            <p:cNvSpPr/>
            <p:nvPr/>
          </p:nvSpPr>
          <p:spPr>
            <a:xfrm>
              <a:off x="4729496" y="1387485"/>
              <a:ext cx="2733008" cy="2733008"/>
            </a:xfrm>
            <a:prstGeom prst="ellipse">
              <a:avLst/>
            </a:prstGeom>
            <a:noFill/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>
                <a:solidFill>
                  <a:srgbClr val="000000"/>
                </a:solidFill>
              </a:endParaRP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3A54CBD8-DC1C-43FE-2546-E51E9218403B}"/>
              </a:ext>
            </a:extLst>
          </p:cNvPr>
          <p:cNvSpPr txBox="1">
            <a:spLocks/>
          </p:cNvSpPr>
          <p:nvPr/>
        </p:nvSpPr>
        <p:spPr>
          <a:xfrm>
            <a:off x="540636" y="3993690"/>
            <a:ext cx="4500217" cy="814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dirty="0">
                <a:solidFill>
                  <a:schemeClr val="bg1"/>
                </a:solidFill>
                <a:latin typeface="Old Standard TT" panose="00000500000000000000" pitchFamily="2" charset="0"/>
              </a:rPr>
              <a:t>Chave 90°e Conjunto transbucal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85100B2-2B15-AEF0-C779-967B8560EF70}"/>
              </a:ext>
            </a:extLst>
          </p:cNvPr>
          <p:cNvGrpSpPr/>
          <p:nvPr/>
        </p:nvGrpSpPr>
        <p:grpSpPr>
          <a:xfrm>
            <a:off x="4914381" y="3618099"/>
            <a:ext cx="2733008" cy="2733008"/>
            <a:chOff x="4167451" y="3504491"/>
            <a:chExt cx="2733008" cy="273300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BAC5105-D14B-FA01-F4A6-6DC567C8B4E1}"/>
                </a:ext>
              </a:extLst>
            </p:cNvPr>
            <p:cNvSpPr/>
            <p:nvPr/>
          </p:nvSpPr>
          <p:spPr>
            <a:xfrm>
              <a:off x="4167451" y="3504491"/>
              <a:ext cx="2733008" cy="2733008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DEB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>
                <a:solidFill>
                  <a:srgbClr val="000000"/>
                </a:solidFill>
              </a:endParaRPr>
            </a:p>
          </p:txBody>
        </p:sp>
        <p:pic>
          <p:nvPicPr>
            <p:cNvPr id="13" name="Imagem 12" descr="Ein Bild, das drinnen, schwarz, Hand, Tisch enthält.&#10;&#10;Automatisch generierte Beschreibung">
              <a:extLst>
                <a:ext uri="{FF2B5EF4-FFF2-40B4-BE49-F238E27FC236}">
                  <a16:creationId xmlns:a16="http://schemas.microsoft.com/office/drawing/2014/main" id="{39BFBEFC-993D-F4A7-B77C-27C01ABE5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40343" y="3913796"/>
              <a:ext cx="1482432" cy="1942846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423442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1C6B3-0E2C-3E4E-21AD-68F73167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3" descr="Ein Bild, das Messer enthält.&#10;&#10;Mit sehr hoher Zuverlässigkeit generierte Beschreibung">
            <a:extLst>
              <a:ext uri="{FF2B5EF4-FFF2-40B4-BE49-F238E27FC236}">
                <a16:creationId xmlns:a16="http://schemas.microsoft.com/office/drawing/2014/main" id="{FCF4F18C-DC61-2094-FB25-1656F01B6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06881" y="1551376"/>
            <a:ext cx="6010404" cy="30094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2774A64-7CD7-AD4F-609E-7E138033909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A549039F-0D56-736C-0FCB-B0660548DD68}"/>
              </a:ext>
            </a:extLst>
          </p:cNvPr>
          <p:cNvSpPr txBox="1">
            <a:spLocks/>
          </p:cNvSpPr>
          <p:nvPr/>
        </p:nvSpPr>
        <p:spPr>
          <a:xfrm>
            <a:off x="254000" y="601919"/>
            <a:ext cx="10091479" cy="45070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Principais Usos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8" name="Conector Reto 3">
            <a:extLst>
              <a:ext uri="{FF2B5EF4-FFF2-40B4-BE49-F238E27FC236}">
                <a16:creationId xmlns:a16="http://schemas.microsoft.com/office/drawing/2014/main" id="{306805EA-A085-59C4-384B-44A9D3E1F0F5}"/>
              </a:ext>
            </a:extLst>
          </p:cNvPr>
          <p:cNvCxnSpPr>
            <a:cxnSpLocks/>
          </p:cNvCxnSpPr>
          <p:nvPr/>
        </p:nvCxnSpPr>
        <p:spPr>
          <a:xfrm flipH="1">
            <a:off x="-675496" y="1083891"/>
            <a:ext cx="4304961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9">
            <a:extLst>
              <a:ext uri="{FF2B5EF4-FFF2-40B4-BE49-F238E27FC236}">
                <a16:creationId xmlns:a16="http://schemas.microsoft.com/office/drawing/2014/main" id="{6E956EA6-B4E3-72C7-F222-5F1DF39D7D86}"/>
              </a:ext>
            </a:extLst>
          </p:cNvPr>
          <p:cNvSpPr txBox="1">
            <a:spLocks/>
          </p:cNvSpPr>
          <p:nvPr/>
        </p:nvSpPr>
        <p:spPr>
          <a:xfrm>
            <a:off x="1449319" y="1582645"/>
            <a:ext cx="4399032" cy="75311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dirty="0">
                <a:latin typeface="Roboto Light (Corpo)"/>
              </a:rPr>
              <a:t>A chave de fenda de 90° é usada principalmente em combinação com os seguintes sistemas:</a:t>
            </a:r>
            <a:endParaRPr lang="es-ES" sz="1600" dirty="0">
              <a:latin typeface="Roboto Light (Corpo)"/>
            </a:endParaRPr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4D1F575C-5019-8475-9E5A-E7E417DC78F1}"/>
              </a:ext>
            </a:extLst>
          </p:cNvPr>
          <p:cNvGrpSpPr/>
          <p:nvPr/>
        </p:nvGrpSpPr>
        <p:grpSpPr>
          <a:xfrm>
            <a:off x="1328064" y="6039147"/>
            <a:ext cx="10529870" cy="298455"/>
            <a:chOff x="899439" y="6039147"/>
            <a:chExt cx="10529870" cy="298455"/>
          </a:xfrm>
        </p:grpSpPr>
        <p:sp>
          <p:nvSpPr>
            <p:cNvPr id="11" name="Rechteck 12">
              <a:extLst>
                <a:ext uri="{FF2B5EF4-FFF2-40B4-BE49-F238E27FC236}">
                  <a16:creationId xmlns:a16="http://schemas.microsoft.com/office/drawing/2014/main" id="{C25AAC3B-8A20-AC7D-B7F7-6420932057C4}"/>
                </a:ext>
              </a:extLst>
            </p:cNvPr>
            <p:cNvSpPr/>
            <p:nvPr/>
          </p:nvSpPr>
          <p:spPr bwMode="auto">
            <a:xfrm>
              <a:off x="6003272" y="6135169"/>
              <a:ext cx="817779" cy="115951"/>
            </a:xfrm>
            <a:prstGeom prst="rect">
              <a:avLst/>
            </a:prstGeom>
            <a:solidFill>
              <a:srgbClr val="146CBA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>
                <a:latin typeface="Arial" pitchFamily="34" charset="0"/>
              </a:endParaRPr>
            </a:p>
          </p:txBody>
        </p:sp>
        <p:sp>
          <p:nvSpPr>
            <p:cNvPr id="12" name="Rechteck 13">
              <a:extLst>
                <a:ext uri="{FF2B5EF4-FFF2-40B4-BE49-F238E27FC236}">
                  <a16:creationId xmlns:a16="http://schemas.microsoft.com/office/drawing/2014/main" id="{4CEE8C1E-35E0-7FB4-BE59-D1FEA13CA310}"/>
                </a:ext>
              </a:extLst>
            </p:cNvPr>
            <p:cNvSpPr/>
            <p:nvPr/>
          </p:nvSpPr>
          <p:spPr bwMode="auto">
            <a:xfrm>
              <a:off x="7700828" y="6123203"/>
              <a:ext cx="817779" cy="115951"/>
            </a:xfrm>
            <a:prstGeom prst="rect">
              <a:avLst/>
            </a:prstGeom>
            <a:solidFill>
              <a:srgbClr val="A9722D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 dirty="0">
                <a:latin typeface="Arial" pitchFamily="34" charset="0"/>
              </a:endParaRPr>
            </a:p>
          </p:txBody>
        </p:sp>
        <p:sp>
          <p:nvSpPr>
            <p:cNvPr id="13" name="Rechteck 15">
              <a:extLst>
                <a:ext uri="{FF2B5EF4-FFF2-40B4-BE49-F238E27FC236}">
                  <a16:creationId xmlns:a16="http://schemas.microsoft.com/office/drawing/2014/main" id="{4CA4B55E-E9B9-2D77-F211-E669FA1C23CE}"/>
                </a:ext>
              </a:extLst>
            </p:cNvPr>
            <p:cNvSpPr/>
            <p:nvPr/>
          </p:nvSpPr>
          <p:spPr bwMode="auto">
            <a:xfrm>
              <a:off x="9398385" y="6123203"/>
              <a:ext cx="817777" cy="115951"/>
            </a:xfrm>
            <a:prstGeom prst="rect">
              <a:avLst/>
            </a:prstGeom>
            <a:solidFill>
              <a:srgbClr val="7A2B80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>
                <a:latin typeface="Arial" pitchFamily="34" charset="0"/>
              </a:endParaRPr>
            </a:p>
          </p:txBody>
        </p:sp>
        <p:sp>
          <p:nvSpPr>
            <p:cNvPr id="22" name="Rechteck 19">
              <a:extLst>
                <a:ext uri="{FF2B5EF4-FFF2-40B4-BE49-F238E27FC236}">
                  <a16:creationId xmlns:a16="http://schemas.microsoft.com/office/drawing/2014/main" id="{32BC520B-1127-767B-F304-915D173E2AB6}"/>
                </a:ext>
              </a:extLst>
            </p:cNvPr>
            <p:cNvSpPr/>
            <p:nvPr/>
          </p:nvSpPr>
          <p:spPr bwMode="auto">
            <a:xfrm>
              <a:off x="899439" y="6123203"/>
              <a:ext cx="817782" cy="115951"/>
            </a:xfrm>
            <a:prstGeom prst="rect">
              <a:avLst/>
            </a:prstGeom>
            <a:solidFill>
              <a:srgbClr val="D3003C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>
                <a:latin typeface="Arial" pitchFamily="34" charset="0"/>
              </a:endParaRPr>
            </a:p>
          </p:txBody>
        </p:sp>
        <p:sp>
          <p:nvSpPr>
            <p:cNvPr id="23" name="Rechteck 20">
              <a:extLst>
                <a:ext uri="{FF2B5EF4-FFF2-40B4-BE49-F238E27FC236}">
                  <a16:creationId xmlns:a16="http://schemas.microsoft.com/office/drawing/2014/main" id="{61FF3665-30C1-F64A-367D-065D5640EB8E}"/>
                </a:ext>
              </a:extLst>
            </p:cNvPr>
            <p:cNvSpPr/>
            <p:nvPr/>
          </p:nvSpPr>
          <p:spPr bwMode="auto">
            <a:xfrm>
              <a:off x="2596998" y="6125162"/>
              <a:ext cx="817784" cy="115951"/>
            </a:xfrm>
            <a:prstGeom prst="rect">
              <a:avLst/>
            </a:prstGeom>
            <a:solidFill>
              <a:srgbClr val="3FA132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>
                <a:latin typeface="Arial" pitchFamily="34" charset="0"/>
              </a:endParaRPr>
            </a:p>
          </p:txBody>
        </p:sp>
        <p:sp>
          <p:nvSpPr>
            <p:cNvPr id="25" name="Rechteck 21">
              <a:extLst>
                <a:ext uri="{FF2B5EF4-FFF2-40B4-BE49-F238E27FC236}">
                  <a16:creationId xmlns:a16="http://schemas.microsoft.com/office/drawing/2014/main" id="{1EE40695-5BA7-F811-3D86-CC0D256BB78F}"/>
                </a:ext>
              </a:extLst>
            </p:cNvPr>
            <p:cNvSpPr/>
            <p:nvPr/>
          </p:nvSpPr>
          <p:spPr bwMode="auto">
            <a:xfrm>
              <a:off x="4294559" y="6125162"/>
              <a:ext cx="828936" cy="115951"/>
            </a:xfrm>
            <a:prstGeom prst="rect">
              <a:avLst/>
            </a:prstGeom>
            <a:solidFill>
              <a:srgbClr val="FFEF00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>
                <a:latin typeface="Arial" pitchFamily="34" charset="0"/>
              </a:endParaRPr>
            </a:p>
          </p:txBody>
        </p:sp>
        <p:sp>
          <p:nvSpPr>
            <p:cNvPr id="35" name="Textfeld 38">
              <a:extLst>
                <a:ext uri="{FF2B5EF4-FFF2-40B4-BE49-F238E27FC236}">
                  <a16:creationId xmlns:a16="http://schemas.microsoft.com/office/drawing/2014/main" id="{739642DF-7C26-0107-5A1D-8BD22EFE04E9}"/>
                </a:ext>
              </a:extLst>
            </p:cNvPr>
            <p:cNvSpPr txBox="1"/>
            <p:nvPr/>
          </p:nvSpPr>
          <p:spPr>
            <a:xfrm>
              <a:off x="1710124" y="6041520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1,2</a:t>
              </a:r>
            </a:p>
          </p:txBody>
        </p:sp>
        <p:sp>
          <p:nvSpPr>
            <p:cNvPr id="36" name="Textfeld 38">
              <a:extLst>
                <a:ext uri="{FF2B5EF4-FFF2-40B4-BE49-F238E27FC236}">
                  <a16:creationId xmlns:a16="http://schemas.microsoft.com/office/drawing/2014/main" id="{FA195A84-9D34-3A11-201E-139B438C9853}"/>
                </a:ext>
              </a:extLst>
            </p:cNvPr>
            <p:cNvSpPr txBox="1"/>
            <p:nvPr/>
          </p:nvSpPr>
          <p:spPr>
            <a:xfrm>
              <a:off x="3428053" y="6039148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1,5</a:t>
              </a:r>
            </a:p>
          </p:txBody>
        </p:sp>
        <p:sp>
          <p:nvSpPr>
            <p:cNvPr id="37" name="Textfeld 38">
              <a:extLst>
                <a:ext uri="{FF2B5EF4-FFF2-40B4-BE49-F238E27FC236}">
                  <a16:creationId xmlns:a16="http://schemas.microsoft.com/office/drawing/2014/main" id="{68FD2486-D16D-53BD-470A-B51C1E0B8F59}"/>
                </a:ext>
              </a:extLst>
            </p:cNvPr>
            <p:cNvSpPr txBox="1"/>
            <p:nvPr/>
          </p:nvSpPr>
          <p:spPr>
            <a:xfrm>
              <a:off x="5144686" y="6060603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1,8</a:t>
              </a:r>
            </a:p>
          </p:txBody>
        </p:sp>
        <p:sp>
          <p:nvSpPr>
            <p:cNvPr id="38" name="Textfeld 38">
              <a:extLst>
                <a:ext uri="{FF2B5EF4-FFF2-40B4-BE49-F238E27FC236}">
                  <a16:creationId xmlns:a16="http://schemas.microsoft.com/office/drawing/2014/main" id="{165A6FD6-2198-0D35-BE48-037DAC990B5E}"/>
                </a:ext>
              </a:extLst>
            </p:cNvPr>
            <p:cNvSpPr txBox="1"/>
            <p:nvPr/>
          </p:nvSpPr>
          <p:spPr>
            <a:xfrm>
              <a:off x="8522546" y="6039147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2,3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C307CC71-5FB0-4F13-386B-76F4B1AC03D5}"/>
                </a:ext>
              </a:extLst>
            </p:cNvPr>
            <p:cNvSpPr txBox="1"/>
            <p:nvPr/>
          </p:nvSpPr>
          <p:spPr>
            <a:xfrm>
              <a:off x="6821966" y="6048672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2,0</a:t>
              </a:r>
            </a:p>
          </p:txBody>
        </p:sp>
        <p:sp>
          <p:nvSpPr>
            <p:cNvPr id="40" name="Textfeld 38">
              <a:extLst>
                <a:ext uri="{FF2B5EF4-FFF2-40B4-BE49-F238E27FC236}">
                  <a16:creationId xmlns:a16="http://schemas.microsoft.com/office/drawing/2014/main" id="{B036D6FA-8A86-850F-DF51-837C9E325139}"/>
                </a:ext>
              </a:extLst>
            </p:cNvPr>
            <p:cNvSpPr txBox="1"/>
            <p:nvPr/>
          </p:nvSpPr>
          <p:spPr>
            <a:xfrm>
              <a:off x="10220781" y="6042171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2,5</a:t>
              </a:r>
            </a:p>
          </p:txBody>
        </p:sp>
      </p:grpSp>
      <p:sp>
        <p:nvSpPr>
          <p:cNvPr id="42" name="Retângulo 41">
            <a:extLst>
              <a:ext uri="{FF2B5EF4-FFF2-40B4-BE49-F238E27FC236}">
                <a16:creationId xmlns:a16="http://schemas.microsoft.com/office/drawing/2014/main" id="{A0FC29FE-8E14-0687-E070-9A73695F7430}"/>
              </a:ext>
            </a:extLst>
          </p:cNvPr>
          <p:cNvSpPr/>
          <p:nvPr/>
        </p:nvSpPr>
        <p:spPr>
          <a:xfrm>
            <a:off x="1258577" y="4974549"/>
            <a:ext cx="9674846" cy="3129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Compatibilidade</a:t>
            </a:r>
          </a:p>
        </p:txBody>
      </p:sp>
      <p:graphicFrame>
        <p:nvGraphicFramePr>
          <p:cNvPr id="44" name="Table 13">
            <a:extLst>
              <a:ext uri="{FF2B5EF4-FFF2-40B4-BE49-F238E27FC236}">
                <a16:creationId xmlns:a16="http://schemas.microsoft.com/office/drawing/2014/main" id="{A8A5A9B8-80C8-73BC-1216-28FFF7F9E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101889"/>
              </p:ext>
            </p:extLst>
          </p:nvPr>
        </p:nvGraphicFramePr>
        <p:xfrm>
          <a:off x="1449319" y="2394773"/>
          <a:ext cx="2836931" cy="4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93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MODUS 2 Mandíbula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45" name="Table 13">
            <a:extLst>
              <a:ext uri="{FF2B5EF4-FFF2-40B4-BE49-F238E27FC236}">
                <a16:creationId xmlns:a16="http://schemas.microsoft.com/office/drawing/2014/main" id="{23A1EB86-D45E-59BB-452F-E081B25D7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303140"/>
              </p:ext>
            </p:extLst>
          </p:nvPr>
        </p:nvGraphicFramePr>
        <p:xfrm>
          <a:off x="1449319" y="2890587"/>
          <a:ext cx="2836931" cy="4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93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MODUS 2 Ortognático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46" name="Title 9">
            <a:extLst>
              <a:ext uri="{FF2B5EF4-FFF2-40B4-BE49-F238E27FC236}">
                <a16:creationId xmlns:a16="http://schemas.microsoft.com/office/drawing/2014/main" id="{03857957-047D-E221-72C4-6012D4276413}"/>
              </a:ext>
            </a:extLst>
          </p:cNvPr>
          <p:cNvSpPr txBox="1">
            <a:spLocks/>
          </p:cNvSpPr>
          <p:nvPr/>
        </p:nvSpPr>
        <p:spPr>
          <a:xfrm>
            <a:off x="1294992" y="5382021"/>
            <a:ext cx="9602017" cy="37645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sz="1600" dirty="0">
                <a:latin typeface="Roboto Light (Corpo)"/>
              </a:rPr>
              <a:t>A chave de fenda inclinada é compatível com os seguintes tamanhos de parafuso:</a:t>
            </a:r>
            <a:endParaRPr lang="es-ES" sz="1600" dirty="0">
              <a:latin typeface="Roboto Light (Corpo)"/>
            </a:endParaRPr>
          </a:p>
        </p:txBody>
      </p:sp>
    </p:spTree>
    <p:extLst>
      <p:ext uri="{BB962C8B-B14F-4D97-AF65-F5344CB8AC3E}">
        <p14:creationId xmlns:p14="http://schemas.microsoft.com/office/powerpoint/2010/main" val="280904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C83F1412-3557-846A-CEAF-547DBDCC7BE7}"/>
              </a:ext>
            </a:extLst>
          </p:cNvPr>
          <p:cNvSpPr txBox="1">
            <a:spLocks/>
          </p:cNvSpPr>
          <p:nvPr/>
        </p:nvSpPr>
        <p:spPr>
          <a:xfrm>
            <a:off x="254001" y="601918"/>
            <a:ext cx="8299450" cy="13983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Módulo de armazenamento removível para brocas e pontas de chaves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8" name="Conector Reto 3">
            <a:extLst>
              <a:ext uri="{FF2B5EF4-FFF2-40B4-BE49-F238E27FC236}">
                <a16:creationId xmlns:a16="http://schemas.microsoft.com/office/drawing/2014/main" id="{BAB5DC13-1001-67F2-2946-D2B52D61F58F}"/>
              </a:ext>
            </a:extLst>
          </p:cNvPr>
          <p:cNvCxnSpPr>
            <a:cxnSpLocks/>
          </p:cNvCxnSpPr>
          <p:nvPr/>
        </p:nvCxnSpPr>
        <p:spPr>
          <a:xfrm flipH="1">
            <a:off x="-304800" y="1560141"/>
            <a:ext cx="8258175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6AB65C63-48ED-B64D-2FC3-E2DBFD568F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pic>
        <p:nvPicPr>
          <p:cNvPr id="11" name="Grafik 7">
            <a:extLst>
              <a:ext uri="{FF2B5EF4-FFF2-40B4-BE49-F238E27FC236}">
                <a16:creationId xmlns:a16="http://schemas.microsoft.com/office/drawing/2014/main" id="{EA10173E-D8C6-30F7-3ECF-0899E72F14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307988" y="2167977"/>
            <a:ext cx="4582624" cy="3033624"/>
          </a:xfrm>
          <a:prstGeom prst="rect">
            <a:avLst/>
          </a:prstGeom>
        </p:spPr>
      </p:pic>
      <p:pic>
        <p:nvPicPr>
          <p:cNvPr id="12" name="Grafik 8">
            <a:extLst>
              <a:ext uri="{FF2B5EF4-FFF2-40B4-BE49-F238E27FC236}">
                <a16:creationId xmlns:a16="http://schemas.microsoft.com/office/drawing/2014/main" id="{A747279A-5387-541A-C71B-6FECAB8F5C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820" y="1719917"/>
            <a:ext cx="5017192" cy="3967869"/>
          </a:xfrm>
          <a:prstGeom prst="rect">
            <a:avLst/>
          </a:prstGeom>
        </p:spPr>
      </p:pic>
      <p:cxnSp>
        <p:nvCxnSpPr>
          <p:cNvPr id="14" name="Straight Connector 305">
            <a:extLst>
              <a:ext uri="{FF2B5EF4-FFF2-40B4-BE49-F238E27FC236}">
                <a16:creationId xmlns:a16="http://schemas.microsoft.com/office/drawing/2014/main" id="{60346EC2-710D-F5D6-65B9-05F6687250A4}"/>
              </a:ext>
            </a:extLst>
          </p:cNvPr>
          <p:cNvCxnSpPr>
            <a:cxnSpLocks/>
          </p:cNvCxnSpPr>
          <p:nvPr/>
        </p:nvCxnSpPr>
        <p:spPr>
          <a:xfrm>
            <a:off x="6096000" y="2185365"/>
            <a:ext cx="0" cy="3587948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12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4739-118F-1AAC-1FE7-230B2A85E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86F9A410-E225-C678-BDF2-6DD131CBA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22558"/>
              </p:ext>
            </p:extLst>
          </p:nvPr>
        </p:nvGraphicFramePr>
        <p:xfrm>
          <a:off x="227013" y="3078414"/>
          <a:ext cx="11460162" cy="1547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547419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Multifuncional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Pode ser usado para furar e inserir parafusos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1" name="Table 13">
            <a:extLst>
              <a:ext uri="{FF2B5EF4-FFF2-40B4-BE49-F238E27FC236}">
                <a16:creationId xmlns:a16="http://schemas.microsoft.com/office/drawing/2014/main" id="{78852CBA-3D92-EF6F-4920-A5BFF37EC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187288"/>
              </p:ext>
            </p:extLst>
          </p:nvPr>
        </p:nvGraphicFramePr>
        <p:xfrm>
          <a:off x="227013" y="4760595"/>
          <a:ext cx="11460162" cy="1547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547419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Garfo de suporte de parafuso removível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Segura a placa e os parafusos na posição </a:t>
                      </a:r>
                      <a:b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</a:br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durante a inserção do parafuso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4" name="Title 9">
            <a:extLst>
              <a:ext uri="{FF2B5EF4-FFF2-40B4-BE49-F238E27FC236}">
                <a16:creationId xmlns:a16="http://schemas.microsoft.com/office/drawing/2014/main" id="{5F6B4339-A4E6-9CA4-2D9A-DE579BDFBC93}"/>
              </a:ext>
            </a:extLst>
          </p:cNvPr>
          <p:cNvSpPr txBox="1">
            <a:spLocks/>
          </p:cNvSpPr>
          <p:nvPr/>
        </p:nvSpPr>
        <p:spPr>
          <a:xfrm>
            <a:off x="254001" y="623517"/>
            <a:ext cx="10718800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>
                <a:latin typeface="Roboto Light (Corpo)"/>
              </a:rPr>
              <a:t>Características e benefícios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719BA437-295D-70C1-9F8E-6B655B20C7B0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5616476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C4601F0A-0A9F-701A-F2A0-21E2CADAF2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BF6930F3-CC75-C64D-1E57-A505D9043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949677"/>
              </p:ext>
            </p:extLst>
          </p:nvPr>
        </p:nvGraphicFramePr>
        <p:xfrm>
          <a:off x="227013" y="1556500"/>
          <a:ext cx="11460162" cy="1382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382057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Ángulo de 90°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Para inserção por parafuso na mandíbula posterior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35" name="Title 9">
            <a:extLst>
              <a:ext uri="{FF2B5EF4-FFF2-40B4-BE49-F238E27FC236}">
                <a16:creationId xmlns:a16="http://schemas.microsoft.com/office/drawing/2014/main" id="{D5360788-D930-069F-2630-B2B5C32347EE}"/>
              </a:ext>
            </a:extLst>
          </p:cNvPr>
          <p:cNvSpPr txBox="1">
            <a:spLocks/>
          </p:cNvSpPr>
          <p:nvPr/>
        </p:nvSpPr>
        <p:spPr>
          <a:xfrm>
            <a:off x="362284" y="2201554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</a:t>
            </a:r>
          </a:p>
        </p:txBody>
      </p:sp>
      <p:sp>
        <p:nvSpPr>
          <p:cNvPr id="36" name="Title 9">
            <a:extLst>
              <a:ext uri="{FF2B5EF4-FFF2-40B4-BE49-F238E27FC236}">
                <a16:creationId xmlns:a16="http://schemas.microsoft.com/office/drawing/2014/main" id="{FD8158EA-5FCF-861D-AE56-4FB08B7545C5}"/>
              </a:ext>
            </a:extLst>
          </p:cNvPr>
          <p:cNvSpPr txBox="1">
            <a:spLocks/>
          </p:cNvSpPr>
          <p:nvPr/>
        </p:nvSpPr>
        <p:spPr>
          <a:xfrm>
            <a:off x="362284" y="3717453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</a:t>
            </a:r>
          </a:p>
        </p:txBody>
      </p:sp>
      <p:sp>
        <p:nvSpPr>
          <p:cNvPr id="37" name="Title 9">
            <a:extLst>
              <a:ext uri="{FF2B5EF4-FFF2-40B4-BE49-F238E27FC236}">
                <a16:creationId xmlns:a16="http://schemas.microsoft.com/office/drawing/2014/main" id="{16E2CA6E-8B8D-542A-A08C-A211E6122F64}"/>
              </a:ext>
            </a:extLst>
          </p:cNvPr>
          <p:cNvSpPr txBox="1">
            <a:spLocks/>
          </p:cNvSpPr>
          <p:nvPr/>
        </p:nvSpPr>
        <p:spPr>
          <a:xfrm>
            <a:off x="362284" y="5359931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8D3A476-E9C5-26CD-27CE-89762B5CC116}"/>
              </a:ext>
            </a:extLst>
          </p:cNvPr>
          <p:cNvSpPr/>
          <p:nvPr/>
        </p:nvSpPr>
        <p:spPr>
          <a:xfrm>
            <a:off x="4914818" y="1409057"/>
            <a:ext cx="2162175" cy="3462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Características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CFECC8-3216-72AB-B59F-7ED5BD6BDCA7}"/>
              </a:ext>
            </a:extLst>
          </p:cNvPr>
          <p:cNvSpPr/>
          <p:nvPr/>
        </p:nvSpPr>
        <p:spPr>
          <a:xfrm>
            <a:off x="9410700" y="1409057"/>
            <a:ext cx="2162175" cy="3462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Benefícios</a:t>
            </a:r>
          </a:p>
        </p:txBody>
      </p:sp>
      <p:pic>
        <p:nvPicPr>
          <p:cNvPr id="8" name="Grafik 3">
            <a:extLst>
              <a:ext uri="{FF2B5EF4-FFF2-40B4-BE49-F238E27FC236}">
                <a16:creationId xmlns:a16="http://schemas.microsoft.com/office/drawing/2014/main" id="{B00876D1-82AF-C947-8333-B4DF8285B5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985915">
            <a:off x="1197015" y="1401349"/>
            <a:ext cx="1015755" cy="143611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5CF1999-51FC-3452-66C8-9DF0BEE8459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349" y="3485634"/>
            <a:ext cx="1723159" cy="84859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F774176-7A3F-8865-2C3D-902EB70DBFB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4450" y="3505233"/>
            <a:ext cx="1690214" cy="631697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2DC08088-61AC-D8C0-9E2D-622532F8CEDC}"/>
              </a:ext>
            </a:extLst>
          </p:cNvPr>
          <p:cNvSpPr txBox="1"/>
          <p:nvPr/>
        </p:nvSpPr>
        <p:spPr>
          <a:xfrm>
            <a:off x="3005178" y="4036123"/>
            <a:ext cx="909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0" i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Drill</a:t>
            </a:r>
            <a:endParaRPr lang="pt-BR" sz="1800" b="0" i="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6F50241-E39C-EFFD-B467-DD62BE082DE3}"/>
              </a:ext>
            </a:extLst>
          </p:cNvPr>
          <p:cNvSpPr txBox="1"/>
          <p:nvPr/>
        </p:nvSpPr>
        <p:spPr>
          <a:xfrm>
            <a:off x="718502" y="4011153"/>
            <a:ext cx="2333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0" i="0" dirty="0" err="1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Destornillador</a:t>
            </a:r>
            <a:endParaRPr lang="pt-BR" sz="1400" b="0" i="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5FDEC3E-20A7-52DF-DE01-1CD32018803D}"/>
              </a:ext>
            </a:extLst>
          </p:cNvPr>
          <p:cNvSpPr/>
          <p:nvPr/>
        </p:nvSpPr>
        <p:spPr>
          <a:xfrm>
            <a:off x="976077" y="3909929"/>
            <a:ext cx="295275" cy="421701"/>
          </a:xfrm>
          <a:prstGeom prst="rect">
            <a:avLst/>
          </a:prstGeom>
          <a:noFill/>
          <a:ln>
            <a:solidFill>
              <a:srgbClr val="DEB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465AC420-43B0-E716-7E0D-E1E48C346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61" y="4993562"/>
            <a:ext cx="1809750" cy="971550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122D0D68-F667-0AFA-6F97-6FFC191237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219252" y="4906112"/>
            <a:ext cx="12573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1BA2-1F55-4261-BC26-BA5AEA7D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F7598B9C-0BC0-A9EF-C6A4-1611F5AA5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873110"/>
              </p:ext>
            </p:extLst>
          </p:nvPr>
        </p:nvGraphicFramePr>
        <p:xfrm>
          <a:off x="227013" y="2678146"/>
          <a:ext cx="11460162" cy="141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419650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Pode ser desmontado em três componentes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Limpeza e esterilização fáceis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1" name="Table 13">
            <a:extLst>
              <a:ext uri="{FF2B5EF4-FFF2-40B4-BE49-F238E27FC236}">
                <a16:creationId xmlns:a16="http://schemas.microsoft.com/office/drawing/2014/main" id="{C3FD8315-4E66-62BD-8D54-78B146678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781963"/>
              </p:ext>
            </p:extLst>
          </p:nvPr>
        </p:nvGraphicFramePr>
        <p:xfrm>
          <a:off x="227013" y="4203232"/>
          <a:ext cx="11460162" cy="124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249810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Solução de armazenamento transparente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Uso rápido e flexível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4" name="Title 9">
            <a:extLst>
              <a:ext uri="{FF2B5EF4-FFF2-40B4-BE49-F238E27FC236}">
                <a16:creationId xmlns:a16="http://schemas.microsoft.com/office/drawing/2014/main" id="{C5A4A415-3E23-6223-BB01-9733E0B603F3}"/>
              </a:ext>
            </a:extLst>
          </p:cNvPr>
          <p:cNvSpPr txBox="1">
            <a:spLocks/>
          </p:cNvSpPr>
          <p:nvPr/>
        </p:nvSpPr>
        <p:spPr>
          <a:xfrm>
            <a:off x="254001" y="623517"/>
            <a:ext cx="10718800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Características e benefícios 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07BCEB8F-DB2C-ABDC-52DE-4016F76A3409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11195049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2546FD70-3F76-D00D-0F67-E00F0E34DC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611" y="262822"/>
            <a:ext cx="1346199" cy="246543"/>
          </a:xfrm>
          <a:prstGeom prst="rect">
            <a:avLst/>
          </a:prstGeom>
        </p:spPr>
      </p:pic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2F240E89-0552-20E2-F350-53B3CC6AF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377251"/>
              </p:ext>
            </p:extLst>
          </p:nvPr>
        </p:nvGraphicFramePr>
        <p:xfrm>
          <a:off x="227013" y="1394483"/>
          <a:ext cx="11460162" cy="1178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178227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Altura do perfil reduzida em comparação com</a:t>
                      </a:r>
                      <a:b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</a:br>
                      <a:r>
                        <a:rPr lang="pt-BR" sz="1400" b="0" i="0" dirty="0" err="1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com</a:t>
                      </a:r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 a velha chave de fenda de 90°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Maior liberdade de circulação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sp>
        <p:nvSpPr>
          <p:cNvPr id="35" name="Title 9">
            <a:extLst>
              <a:ext uri="{FF2B5EF4-FFF2-40B4-BE49-F238E27FC236}">
                <a16:creationId xmlns:a16="http://schemas.microsoft.com/office/drawing/2014/main" id="{79820CE1-6A74-5EAA-4183-7A72BD71172A}"/>
              </a:ext>
            </a:extLst>
          </p:cNvPr>
          <p:cNvSpPr txBox="1">
            <a:spLocks/>
          </p:cNvSpPr>
          <p:nvPr/>
        </p:nvSpPr>
        <p:spPr>
          <a:xfrm>
            <a:off x="362284" y="1803242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4</a:t>
            </a:r>
          </a:p>
        </p:txBody>
      </p:sp>
      <p:sp>
        <p:nvSpPr>
          <p:cNvPr id="36" name="Title 9">
            <a:extLst>
              <a:ext uri="{FF2B5EF4-FFF2-40B4-BE49-F238E27FC236}">
                <a16:creationId xmlns:a16="http://schemas.microsoft.com/office/drawing/2014/main" id="{C1161A68-8B59-2E5B-1535-39415EBEFDAC}"/>
              </a:ext>
            </a:extLst>
          </p:cNvPr>
          <p:cNvSpPr txBox="1">
            <a:spLocks/>
          </p:cNvSpPr>
          <p:nvPr/>
        </p:nvSpPr>
        <p:spPr>
          <a:xfrm>
            <a:off x="362284" y="3226216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5</a:t>
            </a:r>
          </a:p>
        </p:txBody>
      </p:sp>
      <p:sp>
        <p:nvSpPr>
          <p:cNvPr id="37" name="Title 9">
            <a:extLst>
              <a:ext uri="{FF2B5EF4-FFF2-40B4-BE49-F238E27FC236}">
                <a16:creationId xmlns:a16="http://schemas.microsoft.com/office/drawing/2014/main" id="{DC37C52B-BA9A-572D-DCF6-3ADE6B8AA33B}"/>
              </a:ext>
            </a:extLst>
          </p:cNvPr>
          <p:cNvSpPr txBox="1">
            <a:spLocks/>
          </p:cNvSpPr>
          <p:nvPr/>
        </p:nvSpPr>
        <p:spPr>
          <a:xfrm>
            <a:off x="362284" y="4666508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6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055FC44-3570-44AC-AD51-5561072F39F4}"/>
              </a:ext>
            </a:extLst>
          </p:cNvPr>
          <p:cNvSpPr/>
          <p:nvPr/>
        </p:nvSpPr>
        <p:spPr>
          <a:xfrm>
            <a:off x="4914818" y="1185205"/>
            <a:ext cx="2162175" cy="31474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Características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8C37709-C31A-C8F0-29B0-5E3A8E37FC3A}"/>
              </a:ext>
            </a:extLst>
          </p:cNvPr>
          <p:cNvSpPr/>
          <p:nvPr/>
        </p:nvSpPr>
        <p:spPr>
          <a:xfrm>
            <a:off x="9410700" y="1185205"/>
            <a:ext cx="2162175" cy="31474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Benefícios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9FAF3E2-3178-0154-E426-B282512B32B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4801" y="1507688"/>
            <a:ext cx="1645227" cy="883227"/>
          </a:xfrm>
          <a:prstGeom prst="rect">
            <a:avLst/>
          </a:prstGeom>
        </p:spPr>
      </p:pic>
      <p:pic>
        <p:nvPicPr>
          <p:cNvPr id="13" name="Grafik 3">
            <a:extLst>
              <a:ext uri="{FF2B5EF4-FFF2-40B4-BE49-F238E27FC236}">
                <a16:creationId xmlns:a16="http://schemas.microsoft.com/office/drawing/2014/main" id="{0ABFAC96-1A40-65B2-5AE1-67177F9DCFA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3008183" y="3333620"/>
            <a:ext cx="253364" cy="889424"/>
          </a:xfrm>
          <a:prstGeom prst="rect">
            <a:avLst/>
          </a:prstGeom>
        </p:spPr>
      </p:pic>
      <p:pic>
        <p:nvPicPr>
          <p:cNvPr id="15" name="Grafik 7">
            <a:extLst>
              <a:ext uri="{FF2B5EF4-FFF2-40B4-BE49-F238E27FC236}">
                <a16:creationId xmlns:a16="http://schemas.microsoft.com/office/drawing/2014/main" id="{402D9A95-96C9-2D93-127B-918C562E93B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 flipH="1">
            <a:off x="2009182" y="3205158"/>
            <a:ext cx="199538" cy="1162403"/>
          </a:xfrm>
          <a:prstGeom prst="rect">
            <a:avLst/>
          </a:prstGeom>
        </p:spPr>
      </p:pic>
      <p:pic>
        <p:nvPicPr>
          <p:cNvPr id="16" name="Grafik 9">
            <a:extLst>
              <a:ext uri="{FF2B5EF4-FFF2-40B4-BE49-F238E27FC236}">
                <a16:creationId xmlns:a16="http://schemas.microsoft.com/office/drawing/2014/main" id="{3BDEDDA4-444C-28BA-5EDF-F64D6B29AF5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2556435" y="2212336"/>
            <a:ext cx="196648" cy="233062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A1D856C6-D323-384B-07B3-7A0DFF4F30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532435" y="1807697"/>
            <a:ext cx="200025" cy="22860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D06B3F1A-3667-AEC9-4AC8-B2CD79443C6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7255" y="4268094"/>
            <a:ext cx="1245192" cy="1087754"/>
          </a:xfrm>
          <a:prstGeom prst="rect">
            <a:avLst/>
          </a:prstGeom>
        </p:spPr>
      </p:pic>
      <p:graphicFrame>
        <p:nvGraphicFramePr>
          <p:cNvPr id="25" name="Table 13">
            <a:extLst>
              <a:ext uri="{FF2B5EF4-FFF2-40B4-BE49-F238E27FC236}">
                <a16:creationId xmlns:a16="http://schemas.microsoft.com/office/drawing/2014/main" id="{AAE43603-7849-4C28-C37D-8752E6317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768928"/>
              </p:ext>
            </p:extLst>
          </p:nvPr>
        </p:nvGraphicFramePr>
        <p:xfrm>
          <a:off x="254000" y="5558477"/>
          <a:ext cx="11460162" cy="1036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487">
                  <a:extLst>
                    <a:ext uri="{9D8B030D-6E8A-4147-A177-3AD203B41FA5}">
                      <a16:colId xmlns:a16="http://schemas.microsoft.com/office/drawing/2014/main" val="3769424901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4151227594"/>
                    </a:ext>
                  </a:extLst>
                </a:gridCol>
              </a:tblGrid>
              <a:tr h="1036701">
                <a:tc>
                  <a:txBody>
                    <a:bodyPr/>
                    <a:lstStyle/>
                    <a:p>
                      <a:endParaRPr lang="pt-BR" sz="1000" b="0" i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Nó limitador de torque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Protege o interruptor de sobrecarga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pic>
        <p:nvPicPr>
          <p:cNvPr id="29" name="Imagem 28">
            <a:extLst>
              <a:ext uri="{FF2B5EF4-FFF2-40B4-BE49-F238E27FC236}">
                <a16:creationId xmlns:a16="http://schemas.microsoft.com/office/drawing/2014/main" id="{C5E7C304-2E7A-324E-92A5-5AD061B80D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9813" y="5893163"/>
            <a:ext cx="1438275" cy="342900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56733B98-EF6F-AFBE-A7EF-4D0D8955DC58}"/>
              </a:ext>
            </a:extLst>
          </p:cNvPr>
          <p:cNvSpPr txBox="1">
            <a:spLocks/>
          </p:cNvSpPr>
          <p:nvPr/>
        </p:nvSpPr>
        <p:spPr>
          <a:xfrm>
            <a:off x="364205" y="5916318"/>
            <a:ext cx="554037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8254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>
            <a:extLst>
              <a:ext uri="{FF2B5EF4-FFF2-40B4-BE49-F238E27FC236}">
                <a16:creationId xmlns:a16="http://schemas.microsoft.com/office/drawing/2014/main" id="{37E027A1-9352-2CC5-5DA6-49AF646AAD6D}"/>
              </a:ext>
            </a:extLst>
          </p:cNvPr>
          <p:cNvSpPr txBox="1">
            <a:spLocks/>
          </p:cNvSpPr>
          <p:nvPr/>
        </p:nvSpPr>
        <p:spPr>
          <a:xfrm>
            <a:off x="254001" y="623517"/>
            <a:ext cx="10718800" cy="4603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>
                <a:latin typeface="Roboto Light (Corpo)"/>
              </a:rPr>
              <a:t>Principais usos</a:t>
            </a:r>
            <a:endParaRPr lang="pt-BR" sz="3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6" name="Conector Reto 3">
            <a:extLst>
              <a:ext uri="{FF2B5EF4-FFF2-40B4-BE49-F238E27FC236}">
                <a16:creationId xmlns:a16="http://schemas.microsoft.com/office/drawing/2014/main" id="{4D4B991F-7E5D-3A82-E353-ADF67591094F}"/>
              </a:ext>
            </a:extLst>
          </p:cNvPr>
          <p:cNvCxnSpPr>
            <a:cxnSpLocks/>
          </p:cNvCxnSpPr>
          <p:nvPr/>
        </p:nvCxnSpPr>
        <p:spPr>
          <a:xfrm flipH="1">
            <a:off x="-327024" y="1083891"/>
            <a:ext cx="11195049" cy="0"/>
          </a:xfrm>
          <a:prstGeom prst="line">
            <a:avLst/>
          </a:prstGeom>
          <a:ln w="38100">
            <a:gradFill>
              <a:gsLst>
                <a:gs pos="0">
                  <a:schemeClr val="bg1"/>
                </a:gs>
                <a:gs pos="50000">
                  <a:srgbClr val="FFD96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6CB9F8E-A1D5-0A97-C0E5-7A36FD155BF5}"/>
              </a:ext>
            </a:extLst>
          </p:cNvPr>
          <p:cNvGrpSpPr/>
          <p:nvPr/>
        </p:nvGrpSpPr>
        <p:grpSpPr>
          <a:xfrm>
            <a:off x="227013" y="2042588"/>
            <a:ext cx="5426037" cy="286524"/>
            <a:chOff x="227013" y="1257741"/>
            <a:chExt cx="5426037" cy="286524"/>
          </a:xfrm>
        </p:grpSpPr>
        <p:sp>
          <p:nvSpPr>
            <p:cNvPr id="9" name="Rechteck 12">
              <a:extLst>
                <a:ext uri="{FF2B5EF4-FFF2-40B4-BE49-F238E27FC236}">
                  <a16:creationId xmlns:a16="http://schemas.microsoft.com/office/drawing/2014/main" id="{0A5691D4-C202-3B52-0130-C8D7B213813B}"/>
                </a:ext>
              </a:extLst>
            </p:cNvPr>
            <p:cNvSpPr/>
            <p:nvPr/>
          </p:nvSpPr>
          <p:spPr bwMode="auto">
            <a:xfrm>
              <a:off x="227013" y="1353763"/>
              <a:ext cx="817779" cy="115951"/>
            </a:xfrm>
            <a:prstGeom prst="rect">
              <a:avLst/>
            </a:prstGeom>
            <a:solidFill>
              <a:srgbClr val="146CBA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>
                <a:latin typeface="Arial" pitchFamily="34" charset="0"/>
              </a:endParaRPr>
            </a:p>
          </p:txBody>
        </p:sp>
        <p:sp>
          <p:nvSpPr>
            <p:cNvPr id="10" name="Rechteck 13">
              <a:extLst>
                <a:ext uri="{FF2B5EF4-FFF2-40B4-BE49-F238E27FC236}">
                  <a16:creationId xmlns:a16="http://schemas.microsoft.com/office/drawing/2014/main" id="{7BBB5198-1792-A5F6-7A76-B0A0A3DFE7F1}"/>
                </a:ext>
              </a:extLst>
            </p:cNvPr>
            <p:cNvSpPr/>
            <p:nvPr/>
          </p:nvSpPr>
          <p:spPr bwMode="auto">
            <a:xfrm>
              <a:off x="1924569" y="1341797"/>
              <a:ext cx="817779" cy="115951"/>
            </a:xfrm>
            <a:prstGeom prst="rect">
              <a:avLst/>
            </a:prstGeom>
            <a:solidFill>
              <a:srgbClr val="A9722D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 dirty="0">
                <a:latin typeface="Arial" pitchFamily="34" charset="0"/>
              </a:endParaRPr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9DCDB2A0-81BB-3E0A-601D-7CECC22BF38F}"/>
                </a:ext>
              </a:extLst>
            </p:cNvPr>
            <p:cNvSpPr/>
            <p:nvPr/>
          </p:nvSpPr>
          <p:spPr bwMode="auto">
            <a:xfrm>
              <a:off x="3622126" y="1341797"/>
              <a:ext cx="817777" cy="115951"/>
            </a:xfrm>
            <a:prstGeom prst="rect">
              <a:avLst/>
            </a:prstGeom>
            <a:solidFill>
              <a:srgbClr val="7A2B80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08" tIns="22855" rIns="45708" bIns="22855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48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94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74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991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239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485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733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982" algn="l" defTabSz="182849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075" fontAlgn="base">
                <a:spcBef>
                  <a:spcPct val="0"/>
                </a:spcBef>
                <a:spcAft>
                  <a:spcPct val="0"/>
                </a:spcAft>
              </a:pPr>
              <a:endParaRPr lang="de-CH" sz="900">
                <a:latin typeface="Arial" pitchFamily="34" charset="0"/>
              </a:endParaRPr>
            </a:p>
          </p:txBody>
        </p:sp>
        <p:sp>
          <p:nvSpPr>
            <p:cNvPr id="12" name="Textfeld 38">
              <a:extLst>
                <a:ext uri="{FF2B5EF4-FFF2-40B4-BE49-F238E27FC236}">
                  <a16:creationId xmlns:a16="http://schemas.microsoft.com/office/drawing/2014/main" id="{71D2FEED-4F10-A395-89F9-78264FFDE2B8}"/>
                </a:ext>
              </a:extLst>
            </p:cNvPr>
            <p:cNvSpPr txBox="1"/>
            <p:nvPr/>
          </p:nvSpPr>
          <p:spPr>
            <a:xfrm>
              <a:off x="2746287" y="1257741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2,3</a:t>
              </a:r>
            </a:p>
          </p:txBody>
        </p:sp>
        <p:sp>
          <p:nvSpPr>
            <p:cNvPr id="13" name="Textfeld 38">
              <a:extLst>
                <a:ext uri="{FF2B5EF4-FFF2-40B4-BE49-F238E27FC236}">
                  <a16:creationId xmlns:a16="http://schemas.microsoft.com/office/drawing/2014/main" id="{F98449F1-6C8C-D703-1302-075F0AC16A74}"/>
                </a:ext>
              </a:extLst>
            </p:cNvPr>
            <p:cNvSpPr txBox="1"/>
            <p:nvPr/>
          </p:nvSpPr>
          <p:spPr>
            <a:xfrm>
              <a:off x="1045707" y="1267266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2,0</a:t>
              </a:r>
            </a:p>
          </p:txBody>
        </p:sp>
        <p:sp>
          <p:nvSpPr>
            <p:cNvPr id="14" name="Textfeld 38">
              <a:extLst>
                <a:ext uri="{FF2B5EF4-FFF2-40B4-BE49-F238E27FC236}">
                  <a16:creationId xmlns:a16="http://schemas.microsoft.com/office/drawing/2014/main" id="{C9F1F52E-9A3D-034D-E697-F8DB91676520}"/>
                </a:ext>
              </a:extLst>
            </p:cNvPr>
            <p:cNvSpPr txBox="1"/>
            <p:nvPr/>
          </p:nvSpPr>
          <p:spPr>
            <a:xfrm>
              <a:off x="4444522" y="1260765"/>
              <a:ext cx="1208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2,5</a:t>
              </a:r>
            </a:p>
          </p:txBody>
        </p:sp>
      </p:grpSp>
      <p:sp>
        <p:nvSpPr>
          <p:cNvPr id="16" name="Title 9">
            <a:extLst>
              <a:ext uri="{FF2B5EF4-FFF2-40B4-BE49-F238E27FC236}">
                <a16:creationId xmlns:a16="http://schemas.microsoft.com/office/drawing/2014/main" id="{DB87703D-3D12-1984-58D9-16A76AAD244C}"/>
              </a:ext>
            </a:extLst>
          </p:cNvPr>
          <p:cNvSpPr txBox="1">
            <a:spLocks/>
          </p:cNvSpPr>
          <p:nvPr/>
        </p:nvSpPr>
        <p:spPr>
          <a:xfrm>
            <a:off x="227013" y="2830968"/>
            <a:ext cx="4097337" cy="75311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dirty="0">
                <a:latin typeface="Roboto Light (Corpo)"/>
              </a:rPr>
              <a:t>Ele é usado principalmente em combinação com os seguintes sistemas:</a:t>
            </a:r>
            <a:endParaRPr lang="es-ES" sz="1600" dirty="0">
              <a:latin typeface="Roboto Light (Corpo)"/>
            </a:endParaRPr>
          </a:p>
        </p:txBody>
      </p:sp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FF2640D0-E40F-2CFE-E0A1-F9BCD98BF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380464"/>
              </p:ext>
            </p:extLst>
          </p:nvPr>
        </p:nvGraphicFramePr>
        <p:xfrm>
          <a:off x="227013" y="3643096"/>
          <a:ext cx="2836931" cy="4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93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MODUS 2 Mandíbula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graphicFrame>
        <p:nvGraphicFramePr>
          <p:cNvPr id="18" name="Table 13">
            <a:extLst>
              <a:ext uri="{FF2B5EF4-FFF2-40B4-BE49-F238E27FC236}">
                <a16:creationId xmlns:a16="http://schemas.microsoft.com/office/drawing/2014/main" id="{FB435CBA-6B80-F767-E494-4CEAC270F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31353"/>
              </p:ext>
            </p:extLst>
          </p:nvPr>
        </p:nvGraphicFramePr>
        <p:xfrm>
          <a:off x="227013" y="4138910"/>
          <a:ext cx="2836931" cy="4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931">
                  <a:extLst>
                    <a:ext uri="{9D8B030D-6E8A-4147-A177-3AD203B41FA5}">
                      <a16:colId xmlns:a16="http://schemas.microsoft.com/office/drawing/2014/main" val="966106074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r>
                        <a:rPr lang="pt-BR" sz="1400" b="0" i="0" dirty="0">
                          <a:solidFill>
                            <a:srgbClr val="000000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Light" panose="02000000000000000000" pitchFamily="2" charset="0"/>
                        </a:rPr>
                        <a:t>MODUS 2 Ortognático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3395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76400859-F61D-1D4C-686D-3202C8DB8F0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5102" y="1716371"/>
            <a:ext cx="4258277" cy="4258277"/>
          </a:xfrm>
          <a:prstGeom prst="roundRect">
            <a:avLst>
              <a:gd name="adj" fmla="val 10221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DEBE5C"/>
            </a:solidFill>
          </a:ln>
          <a:effectLst/>
        </p:spPr>
      </p:pic>
      <p:sp>
        <p:nvSpPr>
          <p:cNvPr id="21" name="Title 9">
            <a:extLst>
              <a:ext uri="{FF2B5EF4-FFF2-40B4-BE49-F238E27FC236}">
                <a16:creationId xmlns:a16="http://schemas.microsoft.com/office/drawing/2014/main" id="{8CDE1023-C86C-ADEA-5699-1BE94A602401}"/>
              </a:ext>
            </a:extLst>
          </p:cNvPr>
          <p:cNvSpPr txBox="1">
            <a:spLocks/>
          </p:cNvSpPr>
          <p:nvPr/>
        </p:nvSpPr>
        <p:spPr>
          <a:xfrm>
            <a:off x="254000" y="5565556"/>
            <a:ext cx="4394200" cy="27501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Roboto Light (Corpo)"/>
              </a:rPr>
              <a:t>Acesso </a:t>
            </a:r>
            <a:r>
              <a:rPr lang="pt-BR" sz="1600" dirty="0" err="1">
                <a:latin typeface="Roboto Light (Corpo)"/>
              </a:rPr>
              <a:t>transoral</a:t>
            </a:r>
            <a:r>
              <a:rPr lang="pt-BR" sz="1600" dirty="0">
                <a:latin typeface="Roboto Light (Corpo)"/>
              </a:rPr>
              <a:t> para osteossíntese no ângulo da mandíbula, ramo ascendente e côndilo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Roboto Light (Corpo)"/>
            </a:endParaRPr>
          </a:p>
          <a:p>
            <a:pPr>
              <a:lnSpc>
                <a:spcPct val="100000"/>
              </a:lnSpc>
            </a:pPr>
            <a:r>
              <a:rPr lang="pt-BR" sz="1600" dirty="0">
                <a:latin typeface="Roboto Light (Corpo)"/>
              </a:rPr>
              <a:t>Remoção </a:t>
            </a:r>
            <a:r>
              <a:rPr lang="pt-BR" sz="1600" dirty="0" err="1">
                <a:latin typeface="Roboto Light (Corpo)"/>
              </a:rPr>
              <a:t>transoral</a:t>
            </a:r>
            <a:r>
              <a:rPr lang="pt-BR" sz="1600" dirty="0">
                <a:latin typeface="Roboto Light (Corpo)"/>
              </a:rPr>
              <a:t> de parafusos</a:t>
            </a:r>
          </a:p>
        </p:txBody>
      </p:sp>
      <p:cxnSp>
        <p:nvCxnSpPr>
          <p:cNvPr id="22" name="Straight Connector 305">
            <a:extLst>
              <a:ext uri="{FF2B5EF4-FFF2-40B4-BE49-F238E27FC236}">
                <a16:creationId xmlns:a16="http://schemas.microsoft.com/office/drawing/2014/main" id="{8B16B072-7351-94BD-2D8A-9453FCCD1F74}"/>
              </a:ext>
            </a:extLst>
          </p:cNvPr>
          <p:cNvCxnSpPr>
            <a:cxnSpLocks/>
          </p:cNvCxnSpPr>
          <p:nvPr/>
        </p:nvCxnSpPr>
        <p:spPr>
          <a:xfrm flipV="1">
            <a:off x="245462" y="6076937"/>
            <a:ext cx="4210725" cy="31319"/>
          </a:xfrm>
          <a:prstGeom prst="line">
            <a:avLst/>
          </a:prstGeom>
          <a:ln w="6350">
            <a:solidFill>
              <a:srgbClr val="DE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itle 9">
            <a:extLst>
              <a:ext uri="{FF2B5EF4-FFF2-40B4-BE49-F238E27FC236}">
                <a16:creationId xmlns:a16="http://schemas.microsoft.com/office/drawing/2014/main" id="{F7832C0B-DCDF-8E6D-8376-FDAFBE1EB379}"/>
              </a:ext>
            </a:extLst>
          </p:cNvPr>
          <p:cNvSpPr txBox="1">
            <a:spLocks/>
          </p:cNvSpPr>
          <p:nvPr/>
        </p:nvSpPr>
        <p:spPr>
          <a:xfrm>
            <a:off x="227012" y="1455946"/>
            <a:ext cx="4428938" cy="75311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O conjunto MODUS 2 Transbucal é compatível com os seguintes tamanhos de parafuso: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078BC4E-C291-6875-1DAD-58590A571F2F}"/>
              </a:ext>
            </a:extLst>
          </p:cNvPr>
          <p:cNvSpPr/>
          <p:nvPr/>
        </p:nvSpPr>
        <p:spPr>
          <a:xfrm>
            <a:off x="227013" y="5091646"/>
            <a:ext cx="4258277" cy="38888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rgbClr val="DEBE5C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Áreas de uso:</a:t>
            </a:r>
          </a:p>
        </p:txBody>
      </p:sp>
    </p:spTree>
    <p:extLst>
      <p:ext uri="{BB962C8B-B14F-4D97-AF65-F5344CB8AC3E}">
        <p14:creationId xmlns:p14="http://schemas.microsoft.com/office/powerpoint/2010/main" val="162825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4B3E522-A256-1325-F0C1-F59F68BD1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5" descr="medartis_w_rgb_by">
            <a:extLst>
              <a:ext uri="{FF2B5EF4-FFF2-40B4-BE49-F238E27FC236}">
                <a16:creationId xmlns:a16="http://schemas.microsoft.com/office/drawing/2014/main" id="{C35A0D30-A270-15C4-B350-516C89131B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6939" y="3018810"/>
            <a:ext cx="3657242" cy="987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E27E4E2-2319-8662-7FFC-765691E484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38039" y="1147382"/>
            <a:ext cx="6411036" cy="437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196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2198</Words>
  <Application>Microsoft Office PowerPoint</Application>
  <PresentationFormat>Widescreen</PresentationFormat>
  <Paragraphs>511</Paragraphs>
  <Slides>62</Slides>
  <Notes>12</Notes>
  <HiddenSlides>4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62</vt:i4>
      </vt:variant>
    </vt:vector>
  </HeadingPairs>
  <TitlesOfParts>
    <vt:vector size="71" baseType="lpstr">
      <vt:lpstr>Aptos</vt:lpstr>
      <vt:lpstr>Aptos Display</vt:lpstr>
      <vt:lpstr>Arial</vt:lpstr>
      <vt:lpstr>Old Standard TT</vt:lpstr>
      <vt:lpstr>Roboto</vt:lpstr>
      <vt:lpstr>Roboto Light</vt:lpstr>
      <vt:lpstr>Roboto Light (Corpo)</vt:lpstr>
      <vt:lpstr>Roboto Medium</vt:lpstr>
      <vt:lpstr>Tema do Office</vt:lpstr>
      <vt:lpstr>MODUS 2</vt:lpstr>
      <vt:lpstr>Apresentação do PowerPoint</vt:lpstr>
      <vt:lpstr>Apresentação do PowerPoint</vt:lpstr>
      <vt:lpstr>O que mudou?</vt:lpstr>
      <vt:lpstr>Apresentação do PowerPoint</vt:lpstr>
      <vt:lpstr>Apresentação do PowerPoint</vt:lpstr>
      <vt:lpstr>Midface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Mandible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Ortognática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Sistemas complementares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Creative Hut</dc:creator>
  <cp:lastModifiedBy>Everton Maica Bedusco</cp:lastModifiedBy>
  <cp:revision>55</cp:revision>
  <dcterms:created xsi:type="dcterms:W3CDTF">2026-03-10T18:58:29Z</dcterms:created>
  <dcterms:modified xsi:type="dcterms:W3CDTF">2026-07-31T13:53:28Z</dcterms:modified>
</cp:coreProperties>
</file>